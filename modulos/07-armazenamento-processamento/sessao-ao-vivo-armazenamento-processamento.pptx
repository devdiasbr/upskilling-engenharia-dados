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017a340bd34fbc" /><Relationship Type="http://schemas.openxmlformats.org/officeDocument/2006/relationships/extended-properties" Target="/docProps/app.xml" Id="R3904e3b00e8e4761" /><Relationship Type="http://schemas.openxmlformats.org/officeDocument/2006/relationships/officeDocument" Target="/ppt/presentation.xml" Id="R476c8a238dfd48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4298b2fa694f9a"/>
  </p:sldMasterIdLst>
  <p:notesMasterIdLst>
    <p:notesMasterId xmlns:r="http://schemas.openxmlformats.org/officeDocument/2006/relationships" r:id="R44aa0ecf01b64d4a"/>
  </p:notesMasterIdLst>
  <p:sldIdLst>
    <p:sldId xmlns:r="http://schemas.openxmlformats.org/officeDocument/2006/relationships" id="256" r:id="Rdf7233be47494e81"/>
    <p:sldId xmlns:r="http://schemas.openxmlformats.org/officeDocument/2006/relationships" id="257" r:id="Rc0f11ad2c7b74953"/>
    <p:sldId xmlns:r="http://schemas.openxmlformats.org/officeDocument/2006/relationships" id="258" r:id="Rc3fc0b8615b0423d"/>
    <p:sldId xmlns:r="http://schemas.openxmlformats.org/officeDocument/2006/relationships" id="259" r:id="R372988feb0324021"/>
    <p:sldId xmlns:r="http://schemas.openxmlformats.org/officeDocument/2006/relationships" id="260" r:id="Reea65c4d0e6e4c49"/>
    <p:sldId xmlns:r="http://schemas.openxmlformats.org/officeDocument/2006/relationships" id="261" r:id="Reaaa9c6a3a65463d"/>
    <p:sldId xmlns:r="http://schemas.openxmlformats.org/officeDocument/2006/relationships" id="262" r:id="Rc26cc4680d234d37"/>
    <p:sldId xmlns:r="http://schemas.openxmlformats.org/officeDocument/2006/relationships" id="263" r:id="R32e3999b2fac44c9"/>
    <p:sldId xmlns:r="http://schemas.openxmlformats.org/officeDocument/2006/relationships" id="264" r:id="R9208733f17f64e69"/>
    <p:sldId xmlns:r="http://schemas.openxmlformats.org/officeDocument/2006/relationships" id="265" r:id="Ra9a75a3a12be49fc"/>
    <p:sldId xmlns:r="http://schemas.openxmlformats.org/officeDocument/2006/relationships" id="266" r:id="Rff9b71c86e534be4"/>
    <p:sldId xmlns:r="http://schemas.openxmlformats.org/officeDocument/2006/relationships" id="267" r:id="Rd3bae00304b646b0"/>
    <p:sldId xmlns:r="http://schemas.openxmlformats.org/officeDocument/2006/relationships" id="268" r:id="Rcddf82247042470c"/>
    <p:sldId xmlns:r="http://schemas.openxmlformats.org/officeDocument/2006/relationships" id="269" r:id="R789737f423a248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4298b2fa694f9a" /><Relationship Type="http://schemas.openxmlformats.org/officeDocument/2006/relationships/theme" Target="/ppt/theme/theme1.xml" Id="Re923415cc4d341df" /><Relationship Type="http://schemas.openxmlformats.org/officeDocument/2006/relationships/notesMaster" Target="/ppt/notesMasters/notesMaster1.xml" Id="R44aa0ecf01b64d4a" /><Relationship Type="http://schemas.openxmlformats.org/officeDocument/2006/relationships/presProps" Target="/ppt/presProps.xml" Id="Re05e385e1d92403b" /><Relationship Type="http://schemas.openxmlformats.org/officeDocument/2006/relationships/viewProps" Target="/ppt/viewProps.xml" Id="Rf9c9277557204496" /><Relationship Type="http://schemas.openxmlformats.org/officeDocument/2006/relationships/tableStyles" Target="/ppt/tableStyles.xml" Id="R80ce1bd6e89a46ee" /><Relationship Type="http://schemas.openxmlformats.org/officeDocument/2006/relationships/slide" Target="/ppt/slides/slide1.xml" Id="Rdf7233be47494e81" /><Relationship Type="http://schemas.openxmlformats.org/officeDocument/2006/relationships/slide" Target="/ppt/slides/slide2.xml" Id="Rc0f11ad2c7b74953" /><Relationship Type="http://schemas.openxmlformats.org/officeDocument/2006/relationships/slide" Target="/ppt/slides/slide3.xml" Id="Rc3fc0b8615b0423d" /><Relationship Type="http://schemas.openxmlformats.org/officeDocument/2006/relationships/slide" Target="/ppt/slides/slide4.xml" Id="R372988feb0324021" /><Relationship Type="http://schemas.openxmlformats.org/officeDocument/2006/relationships/slide" Target="/ppt/slides/slide5.xml" Id="Reea65c4d0e6e4c49" /><Relationship Type="http://schemas.openxmlformats.org/officeDocument/2006/relationships/slide" Target="/ppt/slides/slide6.xml" Id="Reaaa9c6a3a65463d" /><Relationship Type="http://schemas.openxmlformats.org/officeDocument/2006/relationships/slide" Target="/ppt/slides/slide7.xml" Id="Rc26cc4680d234d37" /><Relationship Type="http://schemas.openxmlformats.org/officeDocument/2006/relationships/slide" Target="/ppt/slides/slide8.xml" Id="R32e3999b2fac44c9" /><Relationship Type="http://schemas.openxmlformats.org/officeDocument/2006/relationships/slide" Target="/ppt/slides/slide9.xml" Id="R9208733f17f64e69" /><Relationship Type="http://schemas.openxmlformats.org/officeDocument/2006/relationships/slide" Target="/ppt/slides/slide10.xml" Id="Ra9a75a3a12be49fc" /><Relationship Type="http://schemas.openxmlformats.org/officeDocument/2006/relationships/slide" Target="/ppt/slides/slide11.xml" Id="Rff9b71c86e534be4" /><Relationship Type="http://schemas.openxmlformats.org/officeDocument/2006/relationships/slide" Target="/ppt/slides/slide12.xml" Id="Rd3bae00304b646b0" /><Relationship Type="http://schemas.openxmlformats.org/officeDocument/2006/relationships/slide" Target="/ppt/slides/slide13.xml" Id="Rcddf82247042470c" /><Relationship Type="http://schemas.openxmlformats.org/officeDocument/2006/relationships/slide" Target="/ppt/slides/slide14.xml" Id="R789737f423a248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1545b3d181f4f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2061a6a90d4fc3" /><Relationship Type="http://schemas.openxmlformats.org/officeDocument/2006/relationships/notesMaster" Target="/ppt/notesMasters/notesMaster1.xml" Id="Rd6a6fcc2b9304b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e30255e55a435e" /><Relationship Type="http://schemas.openxmlformats.org/officeDocument/2006/relationships/notesMaster" Target="/ppt/notesMasters/notesMaster1.xml" Id="R9c34d988b64141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3549157e354608" /><Relationship Type="http://schemas.openxmlformats.org/officeDocument/2006/relationships/notesMaster" Target="/ppt/notesMasters/notesMaster1.xml" Id="R295e94b6864d4e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bc6ae53fb04df7" /><Relationship Type="http://schemas.openxmlformats.org/officeDocument/2006/relationships/notesMaster" Target="/ppt/notesMasters/notesMaster1.xml" Id="Ra6665c68795449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baaa10407e4fcb" /><Relationship Type="http://schemas.openxmlformats.org/officeDocument/2006/relationships/notesMaster" Target="/ppt/notesMasters/notesMaster1.xml" Id="R1f0e57277be247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ed855e6c2b43d3" /><Relationship Type="http://schemas.openxmlformats.org/officeDocument/2006/relationships/notesMaster" Target="/ppt/notesMasters/notesMaster1.xml" Id="Rc078a5c084e74c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cf80cba7334bd6" /><Relationship Type="http://schemas.openxmlformats.org/officeDocument/2006/relationships/notesMaster" Target="/ppt/notesMasters/notesMaster1.xml" Id="Ra2a5cc2edb8a41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053f6465074db4" /><Relationship Type="http://schemas.openxmlformats.org/officeDocument/2006/relationships/notesMaster" Target="/ppt/notesMasters/notesMaster1.xml" Id="R78fcde6c452147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c85968de0040dd" /><Relationship Type="http://schemas.openxmlformats.org/officeDocument/2006/relationships/notesMaster" Target="/ppt/notesMasters/notesMaster1.xml" Id="R81ac496b43e44d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7d572e54364f3f" /><Relationship Type="http://schemas.openxmlformats.org/officeDocument/2006/relationships/notesMaster" Target="/ppt/notesMasters/notesMaster1.xml" Id="R4e9b8133ed9448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8e17d7b4d342aa" /><Relationship Type="http://schemas.openxmlformats.org/officeDocument/2006/relationships/notesMaster" Target="/ppt/notesMasters/notesMaster1.xml" Id="R1d66ed5b6a0342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bea0902467480c" /><Relationship Type="http://schemas.openxmlformats.org/officeDocument/2006/relationships/notesMaster" Target="/ppt/notesMasters/notesMaster1.xml" Id="Rb1eb5422524b45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7e722fe6bbe47c4" /><Relationship Type="http://schemas.openxmlformats.org/officeDocument/2006/relationships/notesMaster" Target="/ppt/notesMasters/notesMaster1.xml" Id="Rd2099bc24f274e0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0db7dec6b094f1c" /><Relationship Type="http://schemas.openxmlformats.org/officeDocument/2006/relationships/notesMaster" Target="/ppt/notesMasters/notesMaster1.xml" Id="R6f7ba30d6a9a47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845b265824c4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30fb3a528aa4dcc" /><Relationship Type="http://schemas.openxmlformats.org/officeDocument/2006/relationships/slideLayout" Target="/ppt/slideLayouts/slideLayout2.xml" Id="Rbeb3754d48f447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b3754d48f447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5d4e07a3464cdf" /><Relationship Type="http://schemas.openxmlformats.org/officeDocument/2006/relationships/image" Target="/ppt/media/image.png" Id="Re8df55ae783a4efe" /><Relationship Type="http://schemas.openxmlformats.org/officeDocument/2006/relationships/image" Target="/ppt/media/image2.png" Id="Rd38d168a2d5e47cd" /><Relationship Type="http://schemas.openxmlformats.org/officeDocument/2006/relationships/notesSlide" Target="/ppt/notesSlides/notesSlide1.xml" Id="R9095765c4df84d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d239b7344d48e0" /><Relationship Type="http://schemas.openxmlformats.org/officeDocument/2006/relationships/image" Target="/ppt/media/image3.png" Id="R61bf76ea82a14db7" /><Relationship Type="http://schemas.openxmlformats.org/officeDocument/2006/relationships/notesSlide" Target="/ppt/notesSlides/notesSlide2.xml" Id="R11d4368591104c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3cf7adcfc64ad8" /><Relationship Type="http://schemas.openxmlformats.org/officeDocument/2006/relationships/image" Target="/ppt/media/image4.png" Id="R04dc1b3294b749c3" /><Relationship Type="http://schemas.openxmlformats.org/officeDocument/2006/relationships/image" Target="/ppt/media/image5.png" Id="R6c0794c1711c416a" /><Relationship Type="http://schemas.openxmlformats.org/officeDocument/2006/relationships/notesSlide" Target="/ppt/notesSlides/notesSlide3.xml" Id="R36f51dcd90e244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a83abefa3a466d" /><Relationship Type="http://schemas.openxmlformats.org/officeDocument/2006/relationships/image" Target="/ppt/media/image6.png" Id="R6b1152f524f74812" /><Relationship Type="http://schemas.openxmlformats.org/officeDocument/2006/relationships/notesSlide" Target="/ppt/notesSlides/notesSlide4.xml" Id="Re984a5014b5449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635d3975fc4149" /><Relationship Type="http://schemas.openxmlformats.org/officeDocument/2006/relationships/image" Target="/ppt/media/image7.png" Id="R26b0b2489bca4aa7" /><Relationship Type="http://schemas.openxmlformats.org/officeDocument/2006/relationships/notesSlide" Target="/ppt/notesSlides/notesSlide5.xml" Id="Rcf35c7c2959e41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146338371a4fc8" /><Relationship Type="http://schemas.openxmlformats.org/officeDocument/2006/relationships/image" Target="/ppt/media/image8.png" Id="R27222c934efb4d7b" /><Relationship Type="http://schemas.openxmlformats.org/officeDocument/2006/relationships/image" Target="/ppt/media/image9.png" Id="Ra9d1bcc1b7a8475b" /><Relationship Type="http://schemas.openxmlformats.org/officeDocument/2006/relationships/notesSlide" Target="/ppt/notesSlides/notesSlide6.xml" Id="Rf9930e7db8e34e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e5c99c72f84111" /><Relationship Type="http://schemas.openxmlformats.org/officeDocument/2006/relationships/image" Target="/ppt/media/image10.png" Id="Rff2790c130d34682" /><Relationship Type="http://schemas.openxmlformats.org/officeDocument/2006/relationships/notesSlide" Target="/ppt/notesSlides/notesSlide7.xml" Id="R9007ac714f2f4e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9d9e907c9f4417" /><Relationship Type="http://schemas.openxmlformats.org/officeDocument/2006/relationships/image" Target="/ppt/media/image11.png" Id="R9d1890981dbe46e9" /><Relationship Type="http://schemas.openxmlformats.org/officeDocument/2006/relationships/notesSlide" Target="/ppt/notesSlides/notesSlide8.xml" Id="Racd97ac544b444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827ed771db4174" /><Relationship Type="http://schemas.openxmlformats.org/officeDocument/2006/relationships/image" Target="/ppt/media/image12.png" Id="Ra46179ddc6064c59" /><Relationship Type="http://schemas.openxmlformats.org/officeDocument/2006/relationships/notesSlide" Target="/ppt/notesSlides/notesSlide9.xml" Id="Rb486190529db42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e231b4ccb34b66" /><Relationship Type="http://schemas.openxmlformats.org/officeDocument/2006/relationships/image" Target="/ppt/media/image13.png" Id="R4b9713a2257a4122" /><Relationship Type="http://schemas.openxmlformats.org/officeDocument/2006/relationships/image" Target="/ppt/media/image14.png" Id="R879dbccc38824412" /><Relationship Type="http://schemas.openxmlformats.org/officeDocument/2006/relationships/notesSlide" Target="/ppt/notesSlides/notesSlide10.xml" Id="R6b1350427e5c40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39163869674a8b" /><Relationship Type="http://schemas.openxmlformats.org/officeDocument/2006/relationships/image" Target="/ppt/media/image15.png" Id="R627d125fa3024eef" /><Relationship Type="http://schemas.openxmlformats.org/officeDocument/2006/relationships/notesSlide" Target="/ppt/notesSlides/notesSlide11.xml" Id="R75206103345b466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7d97c0e2134856" /><Relationship Type="http://schemas.openxmlformats.org/officeDocument/2006/relationships/image" Target="/ppt/media/image16.png" Id="R4fff8033055e42ee" /><Relationship Type="http://schemas.openxmlformats.org/officeDocument/2006/relationships/notesSlide" Target="/ppt/notesSlides/notesSlide12.xml" Id="R61ca6d4817df44a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a47a5803104792" /><Relationship Type="http://schemas.openxmlformats.org/officeDocument/2006/relationships/image" Target="/ppt/media/image17.png" Id="Re7441c1d2d744ec9" /><Relationship Type="http://schemas.openxmlformats.org/officeDocument/2006/relationships/notesSlide" Target="/ppt/notesSlides/notesSlide13.xml" Id="R9632bc89dd0a42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37bbd5c5b542a8" /><Relationship Type="http://schemas.openxmlformats.org/officeDocument/2006/relationships/image" Target="/ppt/media/image18.png" Id="R84b90a3307c545f8" /><Relationship Type="http://schemas.openxmlformats.org/officeDocument/2006/relationships/image" Target="/ppt/media/image19.png" Id="Rf5a914766d0743ab" /><Relationship Type="http://schemas.openxmlformats.org/officeDocument/2006/relationships/notesSlide" Target="/ppt/notesSlides/notesSlide14.xml" Id="R37346d2697a248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D2467B-FB09-4CEF-AA93-D33ABB7B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f55ae783a4efe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A4FCE-5E38-4C0E-BF64-60E77631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AC212-6AE3-4F5E-86A8-16C03F94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DD06C-BE47-4D7F-AA82-22F242C4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d168a2d5e47cd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B10058-C0EC-483F-9C17-1016AFAC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8CDEA8-FBE4-4532-A1A3-A8A5119B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Armazenamento e Processamento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002A5-B85F-4099-B7BC-95E2AF2B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7  •  Sessão ao Vivo  •  2 horas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9D799-7169-4EC8-8CE3-79C81712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AA9FA-4AFC-423E-9326-2573C615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Código funciona com 3.000 linhas. E com 3 bilhões?</a:t>
            </a:r>
          </a:p>
        </p:txBody>
      </p:sp>
    </p:spTree>
    <p:extLst>
      <p:ext uri="{BB962C8B-B14F-4D97-AF65-F5344CB8AC3E}">
        <p14:creationId xmlns:p14="http://schemas.microsoft.com/office/powerpoint/2010/main" val="12519685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B19BBB-8454-4C62-A614-3685A995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f76ea82a14db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AB2D3-32BC-4C93-9F70-72ADBE2B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20B9FE-385F-49E6-AEBE-4AFFA6F9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0047B-38BB-4A63-A132-F4DCB785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9E6D3D-150E-4485-A059-A8E2AB1E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6519F-8661-4A33-B41C-D5DB92ED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EA7ED-74EB-45EE-A4FA-4631B09D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Onde os dados vivem — e o que muda quando crescem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DB265-A586-4B86-8047-D631091E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Diagrama no whiteboard + Ex 7.2 (Data Lake) + Ex 7.4 (leitura PySpark) + escala.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62C64-100E-443B-8397-61969971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4E0FA-C662-428F-AD22-83D4D076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6F1C49-A853-439F-8A8C-93083E61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Whiteboard — 20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ECD801-32BA-4A82-AE3E-24510003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Diagrama DW vs Data Lake vs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Lakehouse construído com 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turma.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8588A3-87A9-4338-98A6-54D1F074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D6516F-A156-4BCF-9871-3525CEBA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B5CD73-A094-4548-9BC4-16FB2AC8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Exercício — 70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711F21-BBF5-490E-BA55-713DE770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 7.2: zonas do Data Lake. Ex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7.4: ler e traduzir PySpark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para pandas.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3ED74-890D-42C4-BFF4-E95D5B34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9E01B-5E3F-41EE-B212-6A10B411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97E7B6-EA6A-47A0-A943-3E195721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Escala — 20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4A2D93-4A97-41A9-9479-57B6A85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 se tivéssemos 10 bilhões 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linhas? O que muda na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arquitetura?</a:t>
            </a:r>
          </a:p>
        </p:txBody>
      </p:sp>
    </p:spTree>
    <p:extLst>
      <p:ext uri="{BB962C8B-B14F-4D97-AF65-F5344CB8AC3E}">
        <p14:creationId xmlns:p14="http://schemas.microsoft.com/office/powerpoint/2010/main" val="14145648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577FD1-5720-4D06-AD5A-32133CF1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c1b3294b749c3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4A8F6C-DE33-42C0-A55C-41143364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5375B-A4A2-4045-B474-673784A3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26C488-4AE3-4F3C-AC68-65EF093E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DE267-1492-4778-B987-38F404E8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794c1711c416a"/>
          <a:stretch xmlns:a="http://schemas.openxmlformats.org/drawingml/2006/main"/>
        </p:blipFill>
        <p:spPr>
          <a:xfrm xmlns:a="http://schemas.openxmlformats.org/drawingml/2006/main">
            <a:off x="0" y="1746250"/>
            <a:ext cx="2667000" cy="355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58647-2B73-466B-9C60-73FB792A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98C7F-CA87-4DF1-8F23-363E66F3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Três Arquiteturas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984A11-AC0E-4FD2-9100-0C858119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DW, Data Lake, Lakehouse — construir o diagrama com a turma, não mostrar pronto.</a:t>
            </a:r>
          </a:p>
        </p:txBody>
      </p:sp>
    </p:spTree>
    <p:extLst>
      <p:ext uri="{BB962C8B-B14F-4D97-AF65-F5344CB8AC3E}">
        <p14:creationId xmlns:p14="http://schemas.microsoft.com/office/powerpoint/2010/main" val="13996589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9FE62-8D1D-4057-A738-35221EFA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152f524f7481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5A3F33-F556-4AB1-BBC6-85418EE5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82C30-6458-45C7-A1D2-F2B0F13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EC60A0-6B5C-460A-8ECC-7B5B2026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A5245-3344-453C-BAB8-71C2F3C2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28F407-E986-4A05-8E1C-DE2B7D46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QUANDO USAR CADA UMA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E1A3D-B343-44F7-944D-61192B17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Conectando ao pipeline que vocês construíram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8B5FA1-ED50-4A0A-A2B9-6A2259C2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O dados.db é fonte transacional. Não é DW nem Lake — é de onde os dados saem.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999C76-6210-48D3-B97E-5BF3F039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2DF7F-F5E0-48FD-9AA4-B5845048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2D38E-0FCB-4227-94AC-2ADAD468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Data Warehouse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148120-EE5D-4CEE-9F28-B3747485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schema-on-write, dados limpos, SQL analítico.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Snowflake/BQ/Redshift. SLA de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EA6F0A-77A8-4D85-A0DF-DD662AEC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237C11-B52E-42CB-A5E7-634751C4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7E7E2F-FD26-457B-B992-29FCE3F9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Data Lake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F30BBC-F2A8-4B13-89F5-30196958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schema-on-read, dados brutos, formato livre. S3/ADLS/GCS.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Volume e custo baixo.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993DA-62DB-44DA-8CA2-F538F12D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108289-8F29-4026-A5D4-B2CCDF65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AB1D52-675C-4DD0-B2B0-9D654C72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Lakehouse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C8E64C-F3C1-4588-B9FA-D3F927BD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Delta/Iceberg sobre Data Lake. ACID + time travel +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barato. Convergência das duas.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29A309-AE50-42D4-AB95-251E1039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28AC2-0CB9-4C99-8B7C-D58444B6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E85506-54E1-4DC4-B991-AF220ACA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Quando escolher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856161-6978-43CE-AB0A-5925D0BC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DW: relatório com SLA. Lake: tudo bruto. Lakehouse: barato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+ garantias do DW.</a:t>
            </a:r>
          </a:p>
        </p:txBody>
      </p:sp>
    </p:spTree>
    <p:extLst>
      <p:ext uri="{BB962C8B-B14F-4D97-AF65-F5344CB8AC3E}">
        <p14:creationId xmlns:p14="http://schemas.microsoft.com/office/powerpoint/2010/main" val="19847577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CCCE17-C646-45B5-8BDE-8AC421AF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0b2489bca4aa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5FCE3-A6B7-428F-9673-48D14AD8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CB4F5-210C-451E-A017-7AF4D83D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71A6C-D551-4D08-B11E-2B5C6E9B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8CD4C4-A2A9-4A6E-8234-F3BAA14F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5D23D-5EBE-40F8-A4F5-B90F3A3B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PERGUNTAS DE ENGAJAMENTO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A2467-AA55-49D8-B8A6-BA76BAE4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Conecte cada conceito com a operação do dia-a-dia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3EE30-E802-42C8-825D-A7A10570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Faça uma pergunta de cada vez. Deixe a turma responder antes de completar.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5E8D8-6770-472A-9961-2DABAD5F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6E7118-9BB7-475E-9D93-28039A1B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36F928-13F2-435C-9D0A-05BE5CA9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Pipeline falhou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5DEF0D-9808-4431-AADB-BEEB4144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Em qual zona você olharia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primeiro para investigar? →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raw/, que guarda o original.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98E06-45CA-4504-85A0-E45AB7B2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4BD88-BD18-464F-BB1D-1B233A17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3DBB8-5AB7-43C5-BC63-C77AAFAF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Dashboard com SLA 2s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770EA0-3CA6-4980-AAB8-BFBB3306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 onde ler? → DW ou refined/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bem particionado. raw/ não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cabe.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D9452-4543-4837-9559-6735C0D0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CA8AD9-6126-4D9A-970D-E7F6835A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569303-D95F-4236-8C80-433ECFEF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Lei dos 7 anos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96179D-508E-42E1-A5DE-62744C60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Qual zona garante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imutabilidade? → raw/. Por isso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ela nunca é modificada.</a:t>
            </a:r>
          </a:p>
        </p:txBody>
      </p:sp>
    </p:spTree>
    <p:extLst>
      <p:ext uri="{BB962C8B-B14F-4D97-AF65-F5344CB8AC3E}">
        <p14:creationId xmlns:p14="http://schemas.microsoft.com/office/powerpoint/2010/main" val="7309074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275612-A9E1-478D-9FCC-31EB0401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22c934efb4d7b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F71E39-E199-4CE3-A539-545DA99D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B6EA0-8B97-47F9-9A24-6CB29F2A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A1E5FE-EC0B-476D-A147-92157494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37E58-1796-4947-9B94-F61F05A5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d1bcc1b7a8475b"/>
          <a:stretch xmlns:a="http://schemas.openxmlformats.org/drawingml/2006/main"/>
        </p:blipFill>
        <p:spPr>
          <a:xfrm xmlns:a="http://schemas.openxmlformats.org/drawingml/2006/main">
            <a:off x="0" y="1746250"/>
            <a:ext cx="2667000" cy="355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D487E9-0E61-42B9-A37D-019C14F1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BE98B2-0546-46B4-9B6E-DD73456A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Exercício em Grupo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CB241-BC0A-4E88-BE09-0CDD77C6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Ex 7.2 (zonas do Data Lake) e Ex 7.4 (PySpark → pandas) — colaborativo.</a:t>
            </a:r>
          </a:p>
        </p:txBody>
      </p:sp>
    </p:spTree>
    <p:extLst>
      <p:ext uri="{BB962C8B-B14F-4D97-AF65-F5344CB8AC3E}">
        <p14:creationId xmlns:p14="http://schemas.microsoft.com/office/powerpoint/2010/main" val="18854761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232E9F-1740-4E81-B875-B2643283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790c130d3468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1476EF-F201-4CC6-9EA2-BA444007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ECF56-7288-4589-B6C6-6325E04C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8A78E-C649-44E1-82E9-EC4B6574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310D3-0F37-436D-8D8B-46B2A1F2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640F22-D3C4-4C96-83DF-3045A616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7.2 — ZONAS DO DATA LAKE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BA8123-BC0C-40D2-8684-1163DDB1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Cada um propõe, depois discutimos coletivamente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6A79F-59FE-40D3-BCD6-6C2A617E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Sem ver gabarito. O ponto é o critério de decisão, não a resposta exata.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E1AE68-8006-4415-A6B1-8D985D7B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85597D-CA08-4100-8FE6-7C541DD4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2AC77B-233C-46FD-AF35-B0D50D57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36FBC6-FA5C-4AAB-B5CB-7547F6F5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0F26"/>
                </a:solidFill>
              </a:defRPr>
            </a:pPr>
            <a:r>
              <a:rPr sz="1050" b="1">
                <a:solidFill>
                  <a:srgbClr val="070F26"/>
                </a:solidFill>
              </a:rPr>
              <a:t>Individual — 10 min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CFA20-BFC6-4D87-BD8F-A370596C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Desenhar a árvore de diretórios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raw/trusted/refined com nomes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realistas.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AE6C3-A550-4EA3-B797-5C9BF66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4B2C47-D64E-4F9F-A97E-2EB26C61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79FA65-7F8B-491A-A5A9-71AF9DD8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99097B-8EFB-4A84-B87A-A6A6C9EF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0F26"/>
                </a:solidFill>
              </a:defRPr>
            </a:pPr>
            <a:r>
              <a:rPr sz="1050" b="1">
                <a:solidFill>
                  <a:srgbClr val="070F26"/>
                </a:solidFill>
              </a:rPr>
              <a:t>Discussão — 20 min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26A8D3-550F-4BD1-A901-7544F278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0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2-3 voluntários compartilham.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Discutir divergências.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F57E98-B06F-4DCC-908E-28EF533B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7A807B-7AA2-427B-A340-F71B4027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350" y="2857500"/>
            <a:ext cx="332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8A1016-9B87-476D-AA25-EB05A69F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243BA8-F406-4D10-A997-7FAF6C6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3714750"/>
            <a:ext cx="2946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0F26"/>
                </a:solidFill>
              </a:defRPr>
            </a:pPr>
            <a:r>
              <a:rPr sz="1050" b="1">
                <a:solidFill>
                  <a:srgbClr val="070F26"/>
                </a:solidFill>
              </a:rPr>
              <a:t>Gabarito — 5 min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4E9301-6D3A-4DE9-A45B-0752BF67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850" y="4095750"/>
            <a:ext cx="294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Mostrar o gabarito e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contrastar. Explicar o que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justifica promoção raw →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trusted.</a:t>
            </a:r>
          </a:p>
        </p:txBody>
      </p:sp>
    </p:spTree>
    <p:extLst>
      <p:ext uri="{BB962C8B-B14F-4D97-AF65-F5344CB8AC3E}">
        <p14:creationId xmlns:p14="http://schemas.microsoft.com/office/powerpoint/2010/main" val="16819244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F7C97B-7C07-4150-8760-F7BB3C32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890981dbe46e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B39A4-C3D3-49A1-A5B7-07B90226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4AEAD-ECB2-4E28-B463-A6B18C4A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BB5CB-125A-4D35-8AED-32D85FE1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DEF97-26AD-4E99-B12E-6D8EB622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5A049-E27C-4506-BB19-27D251B3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PONTO DE ATENÇÃO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FC733-70C6-4399-A494-ADC57588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Os dados "limpos" do banco não vão direto para trusted/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C7F4E-9A15-4F12-B1D5-FD7422EF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Discussão recorrente em equipes começando com Data Lake. Vale registrar o critério.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0FDE5-F5D3-485A-A832-FE67AC22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E6380D-41CB-460B-8C89-091DF0AE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B8C0D6-1ADC-47D8-AD4B-A284A558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Limpos por quem?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78892-4BA6-4E2C-97EB-E963564D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"Já estão limpos" significa 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quê? Limpos pela origem ou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validados pelo engenheiro?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7A5488-01D1-4937-8C62-A686F2CE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CC6EF2-DA60-479A-BC8D-6D6A0360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73D132-FE1E-46EE-AC9B-675B59FF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raw/ é sagrado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115DB3-82D9-4BEC-AF48-40C063D7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raw/ é para o que veio da fonte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sem você tocar. Auditoria,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reprocessamento, rastreio.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F7FE21-55EF-403E-AAE5-C5FFFFD1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666A5-62C2-4889-9001-4EF14811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AEE71F-2303-4C8B-98AD-BEA2D12B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trusted/ exige ação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BA6F7B-08AE-46E9-B704-0B5A7D17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Promoção exige passagem por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validações, padronização 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checks documentados.</a:t>
            </a:r>
          </a:p>
        </p:txBody>
      </p:sp>
    </p:spTree>
    <p:extLst>
      <p:ext uri="{BB962C8B-B14F-4D97-AF65-F5344CB8AC3E}">
        <p14:creationId xmlns:p14="http://schemas.microsoft.com/office/powerpoint/2010/main" val="14939618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80E796-60FE-467D-BE57-46280260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6179ddc6064c5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9E2E6-7A15-4E3D-A2F7-B1E46C50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22CA1-A135-436A-8522-6612C4CB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98CA8F-0F26-4803-871D-C77B14EB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CE2B2-7042-4813-B205-9C030BDF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B0BAE1-A005-44E6-9705-7C30E187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7.4 — PYSPARK → PANDAS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C34EC-27D3-46F5-AB46-CDD9CC64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Ler PySpark sem precisar instalar Spark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D8330-969A-483B-9871-9421A455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Desenvolver fluência. A lógica de negócio é a mesma — muda só o motor.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7B3BD-DD2D-45A8-AF53-C7BE54B3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9837D-7128-47DB-B182-6F5782C4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143B1-7E95-483D-A23F-B7E52B8F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PYSPARK (DISTRIBUÍDO)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F92387-DBC5-4827-99AB-EEAFA936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df.filter(F.col('valor_total') &gt; 0)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.groupBy('estado', 'categoria')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.agg(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F.sum('valor_total').alias('receita')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.withColumn('rank',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F.row_number().over(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Window.partitionBy('estado')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.orderBy(F.desc('receita'))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.filter(F.col('rank') &lt;= 3)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FAA3A7-CCA3-4ED9-A758-59BB3464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7940-9490-483E-BC1E-BB59FC8F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E5A24-CF05-481D-9471-3888B8E2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PANDAS (LOCAL)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D1C43-5FF8-44FC-A192-42F2EDB1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df = df[df['valor_total'] &gt; 0]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agg = (df.groupby(['estado','categoria'])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     ['valor_total'].sum()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     .reset_index(name='receita'))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agg['rank'] = (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agg.groupby('estado')['receita']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   .rank(method='first', ascending=False)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   .astype(int)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top3 = agg[agg['rank'] &lt;= 3]</a:t>
            </a:r>
          </a:p>
        </p:txBody>
      </p:sp>
    </p:spTree>
    <p:extLst>
      <p:ext uri="{BB962C8B-B14F-4D97-AF65-F5344CB8AC3E}">
        <p14:creationId xmlns:p14="http://schemas.microsoft.com/office/powerpoint/2010/main" val="11931033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69D029-4080-4501-BB6A-5A37195C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9713a2257a412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7C78E9-8879-4498-B7F7-F6B5AD95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710AF-6C11-4FA0-BA3A-A1392599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33D7B-49A1-42A3-A685-05B5F670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0A6D8-3939-4282-BEB0-3FD2A6C3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dbccc38824412"/>
          <a:stretch xmlns:a="http://schemas.openxmlformats.org/drawingml/2006/main"/>
        </p:blipFill>
        <p:spPr>
          <a:xfrm xmlns:a="http://schemas.openxmlformats.org/drawingml/2006/main">
            <a:off x="0" y="1746250"/>
            <a:ext cx="2667000" cy="355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A3E3B4-135D-495F-998E-1ABE7FFA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B6676-4214-4206-A99A-98BAEE7C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E se fossem 10 bilhões?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3A72D3-0C4D-4C05-9CE7-F4F32FA2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Quatro perguntas em sequência. Deixe o grupo responder antes de complementar.</a:t>
            </a:r>
          </a:p>
        </p:txBody>
      </p:sp>
    </p:spTree>
    <p:extLst>
      <p:ext uri="{BB962C8B-B14F-4D97-AF65-F5344CB8AC3E}">
        <p14:creationId xmlns:p14="http://schemas.microsoft.com/office/powerpoint/2010/main" val="5819408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EE1D64-53D0-4D7E-A256-2D85F2C0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d125fa3024eef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6290F-6A4A-4032-9632-4893E5B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5E920-E8AA-4AD4-907E-FC587958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8A440D-EE2D-4079-BA36-B39088C4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F52EC-716D-437C-919A-A74EF59C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FDFA80-FDFE-476E-9DF3-1E384F39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PERGUNTAS DE ESCALA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BA3B7-8CDE-4451-BB77-95BECB9B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O que muda quando o volume cresce 3 milhões de vezes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250E6-595B-4FD6-841C-92B97140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Lógica de negócio é a mesma. Infraestrutura de execução e armazenamento muda tudo.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BA1050-E495-4039-BC03-616461D9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F16E67-397F-4E8B-916A-99A61F57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781D0F-85DD-4DC0-9925-779DA2ED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pandas em 10B linhas?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C43D10-BAD1-4796-8D22-7385989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Trava — 6 colunas float = ~480 GB de RAM. Máquina comum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tem 16-32 GB.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25CC2E-1755-43C4-8D3A-A5BBA0C8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33671F-524E-4C86-A24C-BB6094F8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4D9237-6129-4720-96EC-A9BC4516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PySpark resolve?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480036-3B1A-42C0-8EEC-7CD59D1E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Sim, com cluster suficiente. Mesmo código, infraestrutura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diferente.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73619-1958-4208-B06F-A77DA1A1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506F24-4807-450E-AB15-97BACB8A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789E4F-86E3-44C0-845A-6D72D4AE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Particionamento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B66B05-864A-489E-8B7E-482A52F6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Top 3 de dez/2024 lê só ano=2024/mes=12/. Partition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pruning é a salvação.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02A8A0-20D7-47FB-BB34-29C9BA25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B3F00D-B910-444E-B3AE-EF779EBA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4464BC-8924-4DC5-BA4A-3D89D58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O que mais muda?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8040C5-B0A8-41FF-BF7F-35D1EEF3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Delta no lugar de Parquet. DW gerenciado para BI. Lógica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permanece.</a:t>
            </a:r>
          </a:p>
        </p:txBody>
      </p:sp>
    </p:spTree>
    <p:extLst>
      <p:ext uri="{BB962C8B-B14F-4D97-AF65-F5344CB8AC3E}">
        <p14:creationId xmlns:p14="http://schemas.microsoft.com/office/powerpoint/2010/main" val="203985208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10516B-A21A-439E-A3AE-877CCDBA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f8033055e42ee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404A5-F8AF-46C6-9478-29AC2A1F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6A71B-85CA-4BB5-A020-E2C9FE44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95405-AA65-4CF3-B25C-5A31A905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EECD50-2577-40AD-A0E6-3D5CCF17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088A3-9663-4014-A1E7-5460CFCA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OBJETIVOS DO MÓDULO 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64173E-7A89-403E-B13E-D221B56E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Recap dos 3 pontos do módulo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D0DBF-1031-4DDF-A8E1-923DB8F6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Não memorize ferramentas. Internalize o raciocínio sobre onde os dados vivem e por quê.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C50A5-FBD2-4FCB-908B-37A86A98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7A1495-4163-4A64-8D83-5734A49F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5D56B4-437F-4F16-B22C-6CB5B740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3 arquiteturas, 3 propósitos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D1B535-1721-4298-8F91-BDD30DE8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DW para BI com SLA. Lake para tudo bruto. Lakehouse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converge os dois.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29FAF9-20F3-4CC2-B6C2-37EAA820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D11A86-0458-4ABD-9E9F-C10B2BBF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9551C8-C03D-4766-91E1-711BBF9A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Zonas do Data Lake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353C8-81A1-4A70-ABF4-AD44CC95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Raw, trusted, refined — não é burocracia, é o que torna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pipeline auditável.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CD257-DE11-4D87-9D1B-AB6EA239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43392-62A3-468C-90EF-1CC24901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FB8A9C-33CF-496D-9F9C-8ED58549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Processamento distribuído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DD1693-E436-4DE7-ABA6-E33CD5E4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Existe porque dados crescem além de uma máquina. Spark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abstrai a distribuição.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DD297B-5360-450B-B85F-291C0040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7DE87-5B62-4398-B832-BDD9ABF1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F19C1-3379-4512-A59E-8C725632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Particionamento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F79EE4-687C-4757-B9E8-01B970E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Coluna escolhida muda o tempo de query de horas para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segundos.</a:t>
            </a:r>
          </a:p>
        </p:txBody>
      </p:sp>
    </p:spTree>
    <p:extLst>
      <p:ext uri="{BB962C8B-B14F-4D97-AF65-F5344CB8AC3E}">
        <p14:creationId xmlns:p14="http://schemas.microsoft.com/office/powerpoint/2010/main" val="912792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395469-6CBC-4F42-8A41-F13C3CEA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41c1d2d744ec9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59F46-8951-4621-B2E4-79B68641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70F26"/>
                </a:solidFill>
              </a:defRPr>
            </a:pPr>
            <a:r>
              <a:rPr sz="82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3715C-0C54-43AE-B0EE-35B0FF03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89F46-0FBE-46D2-8731-6E565319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F847B-CF94-4031-A4CF-B419ECA3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70F26"/>
                </a:solidFill>
              </a:defRPr>
            </a:pPr>
            <a:r>
              <a:rPr sz="675" b="1">
                <a:solidFill>
                  <a:srgbClr val="070F26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7521BB-9051-42F8-A775-D4289AC9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9861D-2A21-4F7F-9CBA-3FD7748F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70F26"/>
                </a:solidFill>
              </a:defRPr>
            </a:pPr>
            <a:r>
              <a:rPr sz="2400" b="0">
                <a:solidFill>
                  <a:srgbClr val="070F26"/>
                </a:solidFill>
              </a:rPr>
              <a:t>Módulo 8 — Qualidade e 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DDC6F-AC55-4378-A1C7-8813842C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Último módulo da trilha. Como garantir que o dado que entra no pipeline está correto.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E49F9-7163-48AC-975A-59728456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94B01-4454-4AFA-963E-45452446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DC241A-B356-41C9-A2DD-62C50E26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5 dimensões de qualidade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A70730-21F5-4067-8A18-9062E580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Completude, consistência,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acurácia, timeliness, unicidade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— vocabulário.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4BDD5-55E8-4CB3-A411-184F67F5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C10A01-04A6-4D74-B575-56F2C854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5484F4-FAF2-4095-BD38-D032D3FE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Validações no código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1D5D96-608C-4046-8072-3D309E0A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Funções validar_* que falham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rápido quando algo está fora 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esperado.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53C2A4-D607-439A-9875-E4AB4944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8D5F30-5DC8-4472-B6D5-347E7204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7C4DD1-CFEA-43CC-8688-E1E1D73C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TDD para pipelines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29171F-7101-483C-B262-D8A6F779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pytest. Ciclo vermelho-verde.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Testes que protegem contra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regressões.</a:t>
            </a:r>
          </a:p>
        </p:txBody>
      </p:sp>
    </p:spTree>
    <p:extLst>
      <p:ext uri="{BB962C8B-B14F-4D97-AF65-F5344CB8AC3E}">
        <p14:creationId xmlns:p14="http://schemas.microsoft.com/office/powerpoint/2010/main" val="3485058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0F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B5199A-7101-4FF9-BAF9-555FEBC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F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b90a3307c545f8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8293AD-AF78-49D0-B172-081F7BAB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3F901-9CB3-4271-9DA0-0115638A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2E5CE-C1FC-404D-9CA3-E28E71BA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14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914766d0743ab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49227F-9540-4B60-895C-3F108F1F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6CF07-6DD7-44B7-B363-8138CFC1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7: Armazenamento e Processamento</a:t>
            </a:r>
          </a:p>
        </p:txBody>
      </p:sp>
    </p:spTree>
    <p:extLst>
      <p:ext uri="{BB962C8B-B14F-4D97-AF65-F5344CB8AC3E}">
        <p14:creationId xmlns:p14="http://schemas.microsoft.com/office/powerpoint/2010/main" val="17022461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2026-05-12T16:43:43.0060000Z</dcterms:created>
  <dcterms:modified xsi:type="dcterms:W3CDTF">2026-05-12T16:43:43.0060000Z</dcterms:modified>
</coreProperties>
</file>