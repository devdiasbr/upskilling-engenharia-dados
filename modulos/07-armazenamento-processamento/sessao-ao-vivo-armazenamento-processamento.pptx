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11868db3bb4632" /><Relationship Type="http://schemas.openxmlformats.org/officeDocument/2006/relationships/extended-properties" Target="/docProps/app.xml" Id="Rb3274af31d95496e" /><Relationship Type="http://schemas.openxmlformats.org/officeDocument/2006/relationships/officeDocument" Target="/ppt/presentation.xml" Id="R96859ba372674c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126d83562e41ef"/>
  </p:sldMasterIdLst>
  <p:notesMasterIdLst>
    <p:notesMasterId xmlns:r="http://schemas.openxmlformats.org/officeDocument/2006/relationships" r:id="R9ecfea0c425847af"/>
  </p:notesMasterIdLst>
  <p:sldIdLst>
    <p:sldId xmlns:r="http://schemas.openxmlformats.org/officeDocument/2006/relationships" id="256" r:id="R67a6c9fa7baa4971"/>
    <p:sldId xmlns:r="http://schemas.openxmlformats.org/officeDocument/2006/relationships" id="257" r:id="R465f357154da4fec"/>
    <p:sldId xmlns:r="http://schemas.openxmlformats.org/officeDocument/2006/relationships" id="258" r:id="Rcdb5552ff2324c60"/>
    <p:sldId xmlns:r="http://schemas.openxmlformats.org/officeDocument/2006/relationships" id="259" r:id="Re2c20902eee44ac1"/>
    <p:sldId xmlns:r="http://schemas.openxmlformats.org/officeDocument/2006/relationships" id="260" r:id="R2faa8579678c4f12"/>
    <p:sldId xmlns:r="http://schemas.openxmlformats.org/officeDocument/2006/relationships" id="261" r:id="R9666f5fc301f4915"/>
    <p:sldId xmlns:r="http://schemas.openxmlformats.org/officeDocument/2006/relationships" id="262" r:id="R656a296546cf4d7b"/>
    <p:sldId xmlns:r="http://schemas.openxmlformats.org/officeDocument/2006/relationships" id="263" r:id="Re537804e06254be5"/>
    <p:sldId xmlns:r="http://schemas.openxmlformats.org/officeDocument/2006/relationships" id="264" r:id="R8a3490384f2a4ca0"/>
    <p:sldId xmlns:r="http://schemas.openxmlformats.org/officeDocument/2006/relationships" id="265" r:id="R4b68bdbdebd1462c"/>
    <p:sldId xmlns:r="http://schemas.openxmlformats.org/officeDocument/2006/relationships" id="266" r:id="R3043ba213370409d"/>
    <p:sldId xmlns:r="http://schemas.openxmlformats.org/officeDocument/2006/relationships" id="267" r:id="Rff291092fdc04fe5"/>
    <p:sldId xmlns:r="http://schemas.openxmlformats.org/officeDocument/2006/relationships" id="268" r:id="R50cfa7edbad4427b"/>
    <p:sldId xmlns:r="http://schemas.openxmlformats.org/officeDocument/2006/relationships" id="269" r:id="R8a90b6f2806f44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26d83562e41ef" /><Relationship Type="http://schemas.openxmlformats.org/officeDocument/2006/relationships/theme" Target="/ppt/theme/theme1.xml" Id="Rf1b9382d2ecd44a5" /><Relationship Type="http://schemas.openxmlformats.org/officeDocument/2006/relationships/notesMaster" Target="/ppt/notesMasters/notesMaster1.xml" Id="R9ecfea0c425847af" /><Relationship Type="http://schemas.openxmlformats.org/officeDocument/2006/relationships/presProps" Target="/ppt/presProps.xml" Id="Rc4a85cd70de3479f" /><Relationship Type="http://schemas.openxmlformats.org/officeDocument/2006/relationships/viewProps" Target="/ppt/viewProps.xml" Id="R0fa4b303d7e84308" /><Relationship Type="http://schemas.openxmlformats.org/officeDocument/2006/relationships/tableStyles" Target="/ppt/tableStyles.xml" Id="R211b89710f944c6f" /><Relationship Type="http://schemas.openxmlformats.org/officeDocument/2006/relationships/slide" Target="/ppt/slides/slide1.xml" Id="R67a6c9fa7baa4971" /><Relationship Type="http://schemas.openxmlformats.org/officeDocument/2006/relationships/slide" Target="/ppt/slides/slide2.xml" Id="R465f357154da4fec" /><Relationship Type="http://schemas.openxmlformats.org/officeDocument/2006/relationships/slide" Target="/ppt/slides/slide3.xml" Id="Rcdb5552ff2324c60" /><Relationship Type="http://schemas.openxmlformats.org/officeDocument/2006/relationships/slide" Target="/ppt/slides/slide4.xml" Id="Re2c20902eee44ac1" /><Relationship Type="http://schemas.openxmlformats.org/officeDocument/2006/relationships/slide" Target="/ppt/slides/slide5.xml" Id="R2faa8579678c4f12" /><Relationship Type="http://schemas.openxmlformats.org/officeDocument/2006/relationships/slide" Target="/ppt/slides/slide6.xml" Id="R9666f5fc301f4915" /><Relationship Type="http://schemas.openxmlformats.org/officeDocument/2006/relationships/slide" Target="/ppt/slides/slide7.xml" Id="R656a296546cf4d7b" /><Relationship Type="http://schemas.openxmlformats.org/officeDocument/2006/relationships/slide" Target="/ppt/slides/slide8.xml" Id="Re537804e06254be5" /><Relationship Type="http://schemas.openxmlformats.org/officeDocument/2006/relationships/slide" Target="/ppt/slides/slide9.xml" Id="R8a3490384f2a4ca0" /><Relationship Type="http://schemas.openxmlformats.org/officeDocument/2006/relationships/slide" Target="/ppt/slides/slide10.xml" Id="R4b68bdbdebd1462c" /><Relationship Type="http://schemas.openxmlformats.org/officeDocument/2006/relationships/slide" Target="/ppt/slides/slide11.xml" Id="R3043ba213370409d" /><Relationship Type="http://schemas.openxmlformats.org/officeDocument/2006/relationships/slide" Target="/ppt/slides/slide12.xml" Id="Rff291092fdc04fe5" /><Relationship Type="http://schemas.openxmlformats.org/officeDocument/2006/relationships/slide" Target="/ppt/slides/slide13.xml" Id="R50cfa7edbad4427b" /><Relationship Type="http://schemas.openxmlformats.org/officeDocument/2006/relationships/slide" Target="/ppt/slides/slide14.xml" Id="R8a90b6f2806f44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6a18b19190647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f3976d9f694aeb" /><Relationship Type="http://schemas.openxmlformats.org/officeDocument/2006/relationships/notesMaster" Target="/ppt/notesMasters/notesMaster1.xml" Id="Rb83e94797da641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8a9e2e86ea4f08" /><Relationship Type="http://schemas.openxmlformats.org/officeDocument/2006/relationships/notesMaster" Target="/ppt/notesMasters/notesMaster1.xml" Id="R58164b02cc7840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e82f1db71a440d" /><Relationship Type="http://schemas.openxmlformats.org/officeDocument/2006/relationships/notesMaster" Target="/ppt/notesMasters/notesMaster1.xml" Id="R3b50bf10f74d4f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cbf735e5174a57" /><Relationship Type="http://schemas.openxmlformats.org/officeDocument/2006/relationships/notesMaster" Target="/ppt/notesMasters/notesMaster1.xml" Id="Rd849baac42b44e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c64a159ab6488a" /><Relationship Type="http://schemas.openxmlformats.org/officeDocument/2006/relationships/notesMaster" Target="/ppt/notesMasters/notesMaster1.xml" Id="R6e4153f233454c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ea2be0af64428a" /><Relationship Type="http://schemas.openxmlformats.org/officeDocument/2006/relationships/notesMaster" Target="/ppt/notesMasters/notesMaster1.xml" Id="Rd6a016a7ebc043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cc8c030eda4be2" /><Relationship Type="http://schemas.openxmlformats.org/officeDocument/2006/relationships/notesMaster" Target="/ppt/notesMasters/notesMaster1.xml" Id="R4aa7ee0168b240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dc165cff1d4c40" /><Relationship Type="http://schemas.openxmlformats.org/officeDocument/2006/relationships/notesMaster" Target="/ppt/notesMasters/notesMaster1.xml" Id="Rda798be2a5f049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6a49736efd4a2f" /><Relationship Type="http://schemas.openxmlformats.org/officeDocument/2006/relationships/notesMaster" Target="/ppt/notesMasters/notesMaster1.xml" Id="Rd47180de7ae947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ab565998d54a91" /><Relationship Type="http://schemas.openxmlformats.org/officeDocument/2006/relationships/notesMaster" Target="/ppt/notesMasters/notesMaster1.xml" Id="R3fc47d52638e42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23801347ef4555" /><Relationship Type="http://schemas.openxmlformats.org/officeDocument/2006/relationships/notesMaster" Target="/ppt/notesMasters/notesMaster1.xml" Id="R4d05a0e78e1f4d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f9bad4214d4cf3" /><Relationship Type="http://schemas.openxmlformats.org/officeDocument/2006/relationships/notesMaster" Target="/ppt/notesMasters/notesMaster1.xml" Id="Rf79530e799734d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f1a40281c6436c" /><Relationship Type="http://schemas.openxmlformats.org/officeDocument/2006/relationships/notesMaster" Target="/ppt/notesMasters/notesMaster1.xml" Id="R3f99fd27d4f546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ff9c2cd8124c49" /><Relationship Type="http://schemas.openxmlformats.org/officeDocument/2006/relationships/notesMaster" Target="/ppt/notesMasters/notesMaster1.xml" Id="R9cd5440abf5545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ec1877acbb4b2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b4e040e0426418a" /><Relationship Type="http://schemas.openxmlformats.org/officeDocument/2006/relationships/slideLayout" Target="/ppt/slideLayouts/slideLayout2.xml" Id="R6bf6a08fd83941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f6a08fd83941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a193a7692b422e" /><Relationship Type="http://schemas.openxmlformats.org/officeDocument/2006/relationships/image" Target="/ppt/media/image.png" Id="R531105c5026b4043" /><Relationship Type="http://schemas.openxmlformats.org/officeDocument/2006/relationships/image" Target="/ppt/media/image2.png" Id="R134239f289364a18" /><Relationship Type="http://schemas.openxmlformats.org/officeDocument/2006/relationships/notesSlide" Target="/ppt/notesSlides/notesSlide1.xml" Id="Rf3b7a29ad68d45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aa940654114bdc" /><Relationship Type="http://schemas.openxmlformats.org/officeDocument/2006/relationships/image" Target="/ppt/media/image3.png" Id="R17c27c0e79464463" /><Relationship Type="http://schemas.openxmlformats.org/officeDocument/2006/relationships/notesSlide" Target="/ppt/notesSlides/notesSlide2.xml" Id="R87d8b1d2188342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fdbd06e56a4d46" /><Relationship Type="http://schemas.openxmlformats.org/officeDocument/2006/relationships/image" Target="/ppt/media/image4.png" Id="Rca726faa3da14bd4" /><Relationship Type="http://schemas.openxmlformats.org/officeDocument/2006/relationships/image" Target="/ppt/media/image5.png" Id="Rae1f00ab64734588" /><Relationship Type="http://schemas.openxmlformats.org/officeDocument/2006/relationships/notesSlide" Target="/ppt/notesSlides/notesSlide3.xml" Id="Rc005534a12b947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f523c9089b43c9" /><Relationship Type="http://schemas.openxmlformats.org/officeDocument/2006/relationships/image" Target="/ppt/media/image6.png" Id="Rea066cb3103541b8" /><Relationship Type="http://schemas.openxmlformats.org/officeDocument/2006/relationships/notesSlide" Target="/ppt/notesSlides/notesSlide4.xml" Id="Rc9d3e74846964d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54b97ef1b541ec" /><Relationship Type="http://schemas.openxmlformats.org/officeDocument/2006/relationships/image" Target="/ppt/media/image7.png" Id="R52af823598d74c8b" /><Relationship Type="http://schemas.openxmlformats.org/officeDocument/2006/relationships/notesSlide" Target="/ppt/notesSlides/notesSlide5.xml" Id="R8434ee3be81d48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dd2833979147d1" /><Relationship Type="http://schemas.openxmlformats.org/officeDocument/2006/relationships/image" Target="/ppt/media/image8.png" Id="R74a66fa01bc64c7f" /><Relationship Type="http://schemas.openxmlformats.org/officeDocument/2006/relationships/image" Target="/ppt/media/image9.png" Id="Re56bc8f9585545c8" /><Relationship Type="http://schemas.openxmlformats.org/officeDocument/2006/relationships/notesSlide" Target="/ppt/notesSlides/notesSlide6.xml" Id="Ra90008b12b9046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1a968d02b741bb" /><Relationship Type="http://schemas.openxmlformats.org/officeDocument/2006/relationships/image" Target="/ppt/media/image10.png" Id="Ra7ba46be66f14878" /><Relationship Type="http://schemas.openxmlformats.org/officeDocument/2006/relationships/notesSlide" Target="/ppt/notesSlides/notesSlide7.xml" Id="Rf649d36b35664a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61508ac91a4821" /><Relationship Type="http://schemas.openxmlformats.org/officeDocument/2006/relationships/image" Target="/ppt/media/image11.png" Id="R2c32c0bf63b9429f" /><Relationship Type="http://schemas.openxmlformats.org/officeDocument/2006/relationships/notesSlide" Target="/ppt/notesSlides/notesSlide8.xml" Id="R6a89e3f49b044a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fd4e196f184e99" /><Relationship Type="http://schemas.openxmlformats.org/officeDocument/2006/relationships/image" Target="/ppt/media/image12.png" Id="R0500dcbc1d5a433a" /><Relationship Type="http://schemas.openxmlformats.org/officeDocument/2006/relationships/notesSlide" Target="/ppt/notesSlides/notesSlide9.xml" Id="R6ad2e012da4e41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b91248fa0d4eb2" /><Relationship Type="http://schemas.openxmlformats.org/officeDocument/2006/relationships/image" Target="/ppt/media/image13.png" Id="R8d4014d38ec84627" /><Relationship Type="http://schemas.openxmlformats.org/officeDocument/2006/relationships/image" Target="/ppt/media/image14.png" Id="Re34c0fbca0c64837" /><Relationship Type="http://schemas.openxmlformats.org/officeDocument/2006/relationships/notesSlide" Target="/ppt/notesSlides/notesSlide10.xml" Id="Rfd8e1293684040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50fb5d3cc04302" /><Relationship Type="http://schemas.openxmlformats.org/officeDocument/2006/relationships/image" Target="/ppt/media/image15.png" Id="Reef0d6b646024fe8" /><Relationship Type="http://schemas.openxmlformats.org/officeDocument/2006/relationships/notesSlide" Target="/ppt/notesSlides/notesSlide11.xml" Id="Ref44188d5fa642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9d1a5bf93c4c81" /><Relationship Type="http://schemas.openxmlformats.org/officeDocument/2006/relationships/image" Target="/ppt/media/image16.png" Id="R1ca7f30cafa5473f" /><Relationship Type="http://schemas.openxmlformats.org/officeDocument/2006/relationships/notesSlide" Target="/ppt/notesSlides/notesSlide12.xml" Id="Ra5cd58cd7b374e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ad6e12b4da41d0" /><Relationship Type="http://schemas.openxmlformats.org/officeDocument/2006/relationships/image" Target="/ppt/media/image17.png" Id="R7821dae302704e58" /><Relationship Type="http://schemas.openxmlformats.org/officeDocument/2006/relationships/notesSlide" Target="/ppt/notesSlides/notesSlide13.xml" Id="R8be126d6648344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6315cd33c141df" /><Relationship Type="http://schemas.openxmlformats.org/officeDocument/2006/relationships/image" Target="/ppt/media/image18.png" Id="R373db7ccaae344e9" /><Relationship Type="http://schemas.openxmlformats.org/officeDocument/2006/relationships/image" Target="/ppt/media/image19.png" Id="R912884c636b24ce8" /><Relationship Type="http://schemas.openxmlformats.org/officeDocument/2006/relationships/notesSlide" Target="/ppt/notesSlides/notesSlide14.xml" Id="R164f006b3a3b48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10D6FA-1AEB-4EDA-B2C4-D67AA094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105c5026b4043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F508A-D095-4AD8-8587-9F1F6037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A92FE-9F85-4860-9410-9946FCDE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A655A-8952-4D88-B6C7-E6874F96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239f289364a18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74933-9BE4-44A2-9E46-86F307B5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TRILHA DE ENGENHARIA DE 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E55F6-D12D-4380-8217-2904A30A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FFFFFF"/>
                </a:solidFill>
              </a:defRPr>
            </a:pPr>
            <a:r>
              <a:rPr sz="4500" b="0">
                <a:solidFill>
                  <a:srgbClr val="FFFFFF"/>
                </a:solidFill>
              </a:rPr>
              <a:t>Armazenamento e Processamento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027E1-776F-4921-BDC4-4D4C2D2C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666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Módulo 7  •  Sessão ao Vivo  •  2 horas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DF3D6-834C-4676-AA07-BC9E4A65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7C536-7AD2-4F30-ACDC-24BE4D24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571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Código funciona com 3.000 linhas. E com 3 bilhões?</a:t>
            </a:r>
          </a:p>
        </p:txBody>
      </p:sp>
    </p:spTree>
    <p:extLst>
      <p:ext uri="{BB962C8B-B14F-4D97-AF65-F5344CB8AC3E}">
        <p14:creationId xmlns:p14="http://schemas.microsoft.com/office/powerpoint/2010/main" val="9288071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D33644-4163-4103-AB5C-6101C674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27c0e79464463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D4387-F819-4B22-8443-EA60CB77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EC1BF-EF59-4542-B4A7-0B70B599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FEF94-A03C-4882-B54A-686E0C4E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00511-DBF9-46C9-9BFE-532F452E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77CAB-40CF-49E5-855E-E32B3AB1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34F01-9F57-44A3-A181-5A54A67B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Onde os dados vivem — e o que muda quando crescem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DBCEF-0F3C-467E-987C-3005E3C5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Diagrama no whiteboard + Ex 7.2 (Data Lake) + Ex 7.4 (leitura PySpark) + escala.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6413F-66E8-4F12-8FD1-16662374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4E3CA-0F13-43CB-9496-230E4A59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3F1CB-CAD0-4816-AE60-197FB601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Whiteboard — 20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C3FC5-A037-4783-82E8-A3F813BF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Diagrama DW vs Data Lake vs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Lakehouse construído com 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turma.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DFF1F-629F-459E-B4D2-BF0AEF3B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6438B-9217-4722-8D45-A2457D99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62F73-6588-46F3-A4F4-94FD3F98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Exercício — 70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470668-E8B0-4AD9-B991-B3AE6FD1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Ex 7.2: zonas do Data Lake. Ex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7.4: ler e traduzir PySpark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para pandas.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E915E-3E15-4525-9EBC-41A425F3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C7F3BF-547F-4B11-AC70-8C3412AA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1B68D3-67DE-414F-B31E-0CE226FB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Escala — 20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C9DD9C-B9F7-4C18-AEC9-14B1A68B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 se tivéssemos 10 bilhões 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linhas? O que muda na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arquitetura?</a:t>
            </a:r>
          </a:p>
        </p:txBody>
      </p:sp>
    </p:spTree>
    <p:extLst>
      <p:ext uri="{BB962C8B-B14F-4D97-AF65-F5344CB8AC3E}">
        <p14:creationId xmlns:p14="http://schemas.microsoft.com/office/powerpoint/2010/main" val="6935345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134C93-335B-48BD-B939-F2C98119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26faa3da14bd4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87C4B-C6F2-4D35-AE82-6C968448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CCD01-3FA3-428F-B53A-C3B17A29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217E4-D88F-4CFC-9089-117C4FD3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6EB9E-889A-41A1-B15A-166FCFF7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f00ab64734588"/>
          <a:stretch xmlns:a="http://schemas.openxmlformats.org/drawingml/2006/main"/>
        </p:blipFill>
        <p:spPr>
          <a:xfrm xmlns:a="http://schemas.openxmlformats.org/drawingml/2006/main">
            <a:off x="476250" y="1257300"/>
            <a:ext cx="2667000" cy="4533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967E9-A2E5-484A-8535-CEF39FEE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704FE-AA79-4952-954B-7120C568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Três Arquiteturas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95629-56DF-4E23-B45F-EA9E6690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DW, Data Lake, Lakehouse — construir o diagrama com a turma, não mostrar pronto.</a:t>
            </a:r>
          </a:p>
        </p:txBody>
      </p:sp>
    </p:spTree>
    <p:extLst>
      <p:ext uri="{BB962C8B-B14F-4D97-AF65-F5344CB8AC3E}">
        <p14:creationId xmlns:p14="http://schemas.microsoft.com/office/powerpoint/2010/main" val="1001575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1E5C09-CA02-415B-98B1-62EF78DF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66cb3103541b8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71770-4E3D-4EFB-947F-D413FAA7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C281E-1EBE-443A-8CC5-573B9097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5CDD8-B3C9-4513-91DA-AEA252F0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F9FD2-700F-4DA4-88B4-227F1E3C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A2CD1-4EA8-42A4-833B-8A1103C9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QUANDO USAR CADA UMA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E11F2-B081-49DC-A4E3-B11E697B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Conectando ao pipeline que vocês construíram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DFF18-796A-46AA-84F1-CC80DF7E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O dados.db é fonte transacional. Não é DW nem Lake — é de onde os dados saem.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79F2E-4F34-4F3A-824F-810AFDCF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0D24E-3CD2-40B8-86D7-63930ED8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FAEDE-9AA4-4B27-9017-46AE3A9A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Data Warehouse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949C0-1AE4-4850-AC2C-2118C951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schema-on-write, dados limpos, SQL analítico.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Snowflake/BQ/Redshift. SLA de BI.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DE44D-B641-4D12-912C-51EE639A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34529-837E-4614-8839-32C8C7CD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5A16CC-0919-40A5-BB62-449B72BD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Data Lake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AE994E-7F0A-44BB-9F87-DB737093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schema-on-read, dados brutos, formato livre. S3/ADLS/GCS.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Volume e custo baixo.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2D642-1674-40D2-881F-7BD53FBC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B2D26C-603E-4A93-82E1-B348D3E6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896A0D-6664-4586-82A9-3C5A826F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Lakehouse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12575-3093-42A5-8F4A-0259D93F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Delta/Iceberg sobre Data Lake. ACID + time travel +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barato. Convergência das duas.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44E4B2-1F76-4F56-9C02-DC6FF280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E2BA86-4096-4DDD-ADEC-083E147A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6BAA7-6623-47F8-AA91-537C9356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Quando escolher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92D7DD-1519-42DD-A81D-D691B06E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DW: relatório com SLA. Lake: tudo bruto. Lakehouse: barato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+ garantias do DW.</a:t>
            </a:r>
          </a:p>
        </p:txBody>
      </p:sp>
    </p:spTree>
    <p:extLst>
      <p:ext uri="{BB962C8B-B14F-4D97-AF65-F5344CB8AC3E}">
        <p14:creationId xmlns:p14="http://schemas.microsoft.com/office/powerpoint/2010/main" val="16941657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B89962-0354-4F12-A697-09DEF854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f823598d74c8b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735AF-B963-45ED-AC11-F4D78C57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C5CD3-0363-40E7-A34D-A8CC322A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D93D7-D1C9-4C4A-87C8-EDF07FAE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B6537-4A0A-41F0-99D7-E91200CB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73BFB-F94A-4C7C-A64A-0C2ED941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PERGUNTAS DE ENGAJAMENTO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75FD0-0515-43F9-A5F1-4CB5186E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Conecte cada conceito com a operação do dia-a-dia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21EE2-19C6-4C61-9ABE-7573A08A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Faça uma pergunta de cada vez. Deixe a turma responder antes de completar.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E365B-BB01-43F0-BB39-71693F01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EC53F-B99A-472D-A219-55C6130C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91CC5-A405-47D0-B637-1EF76EF5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Pipeline falhou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38150-BBDC-4950-AA62-6ED3EB57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Em qual zona você olharia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primeiro para investigar? →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raw/, que guarda o original.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1C677-7AF8-4DD1-A6AC-5BE3C3BE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0DCB3-2C5B-41D6-9554-92F4483E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C8DFD-7C89-4F12-95E8-AF8F9643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Dashboard com SLA 2s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C35A9-1253-4CC2-AC89-E938633E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 onde ler? → DW ou refined/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bem particionado. raw/ não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cabe.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35BDB-FE4E-4330-8AB4-AB3552E9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98D413-CDCB-4EE1-A491-A10DFAE9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EDDD44-6E9A-40D6-89D9-A78120AD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Lei dos 7 anos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21300C-64D8-4013-B873-21B91C79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Qual zona garante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imutabilidade? → raw/. Por isso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ela nunca é modificada.</a:t>
            </a:r>
          </a:p>
        </p:txBody>
      </p:sp>
    </p:spTree>
    <p:extLst>
      <p:ext uri="{BB962C8B-B14F-4D97-AF65-F5344CB8AC3E}">
        <p14:creationId xmlns:p14="http://schemas.microsoft.com/office/powerpoint/2010/main" val="3984162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4FF5D7-6430-42F5-AD56-1F29021B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66fa01bc64c7f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36DB6-6E08-4648-B1BE-48D3C11A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CC496-E559-43C7-91AF-7D1D4E59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A10F6-CA18-48F4-80BC-A162C36D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32AD9-FF48-4396-A43F-7DE17DB4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bc8f9585545c8"/>
          <a:stretch xmlns:a="http://schemas.openxmlformats.org/drawingml/2006/main"/>
        </p:blipFill>
        <p:spPr>
          <a:xfrm xmlns:a="http://schemas.openxmlformats.org/drawingml/2006/main">
            <a:off x="476250" y="1257300"/>
            <a:ext cx="2667000" cy="4533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BB320-F879-4728-8254-37908EC3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C833A-F8FC-416D-A3C8-42444AE9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Exercício em 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C74CC-E13A-4CF6-A283-09F167FD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Ex 7.2 (zonas do Data Lake) e Ex 7.4 (PySpark → pandas) — colaborativo.</a:t>
            </a:r>
          </a:p>
        </p:txBody>
      </p:sp>
    </p:spTree>
    <p:extLst>
      <p:ext uri="{BB962C8B-B14F-4D97-AF65-F5344CB8AC3E}">
        <p14:creationId xmlns:p14="http://schemas.microsoft.com/office/powerpoint/2010/main" val="13929162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C7B9EF-A11D-40FE-9DF8-C38E2056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a46be66f14878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2A6C0-8CD2-4CC3-BC4B-FE320B13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6EEA0-86C7-4AE8-ACED-5B29D9B2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1A9EE-46B7-46DF-A236-03931BD4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9D201-D1ED-489F-A2EA-4C0E70CD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70F58-D649-4208-8BE6-38D06AF6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EX 7.2 — ZONAS DO DATA LAKE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B71F8-0B45-431B-AA49-C184A4E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Cada um propõe, depois discutimos coletivamente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DDBDC-C62D-482A-94D7-0FD9F201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Sem ver gabarito. O ponto é o critério de decisão, não a resposta exata.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47119-C12F-44E8-90BD-39BA6F17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327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CC305-47D8-412C-AB1E-FE9469B6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327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F5732-56C4-4AF0-9273-7859F33B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6B71A-1EA7-45D6-B022-F0E41136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4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B3E"/>
                </a:solidFill>
              </a:defRPr>
            </a:pPr>
            <a:r>
              <a:rPr sz="1050" b="1">
                <a:solidFill>
                  <a:srgbClr val="0E1B3E"/>
                </a:solidFill>
              </a:rPr>
              <a:t>Individual — 10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1BEDF-65E7-48B3-82A3-00F9AA02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294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Desenhar a árvore de diretórios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raw/trusted/refined com nomes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realistas.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77244-1622-4CE6-AD83-8B41E440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857500"/>
            <a:ext cx="3327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FC32F-A3A3-4CFF-BB39-4C1A8196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857500"/>
            <a:ext cx="3327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CA4B1-31B1-47A0-AA59-E05E594E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C168E-7497-4D11-ACDF-41198B77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3714750"/>
            <a:ext cx="294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B3E"/>
                </a:solidFill>
              </a:defRPr>
            </a:pPr>
            <a:r>
              <a:rPr sz="1050" b="1">
                <a:solidFill>
                  <a:srgbClr val="0E1B3E"/>
                </a:solidFill>
              </a:rPr>
              <a:t>Discussão — 20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E583C-9572-462D-BE23-923918F4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4095750"/>
            <a:ext cx="294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2-3 voluntários compartilham.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Discutir divergências.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3606AD-6657-4A72-8233-7C2275DF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857500"/>
            <a:ext cx="3327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3FED8-9CCF-48AA-8DB7-9E304CCD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857500"/>
            <a:ext cx="3327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86FFC-CFA7-47F2-8680-5751B044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9087A-E87A-41F5-B831-D170E2E1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3714750"/>
            <a:ext cx="294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B3E"/>
                </a:solidFill>
              </a:defRPr>
            </a:pPr>
            <a:r>
              <a:rPr sz="1050" b="1">
                <a:solidFill>
                  <a:srgbClr val="0E1B3E"/>
                </a:solidFill>
              </a:rPr>
              <a:t>Gabarito — 5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8701D2-0747-4DFA-8F90-96138FE8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4095750"/>
            <a:ext cx="294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Mostrar o gabarito e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contrastar. Explicar o que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justifica promoção raw →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trusted.</a:t>
            </a:r>
          </a:p>
        </p:txBody>
      </p:sp>
    </p:spTree>
    <p:extLst>
      <p:ext uri="{BB962C8B-B14F-4D97-AF65-F5344CB8AC3E}">
        <p14:creationId xmlns:p14="http://schemas.microsoft.com/office/powerpoint/2010/main" val="14264888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EEB6EA-2061-4A06-9573-8336AA52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2c0bf63b9429f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B5D0E-5D03-4CBE-A8BE-6BE4CF78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47637-A6D6-4C13-BC41-DC9944BA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B1E9A-8EFB-4557-9392-F2EA9C4D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078AA-D4F9-4F34-AEA3-FF171BE6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E2680-D5AD-4CDA-9AA3-9E548A72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PONTO DE ATENÇÃO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547B9-7862-4F65-BC4A-DBE2994A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Os dados "limpos" do banco não vão direto para trusted/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44E9B-21ED-41BB-8540-07AC45D4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Discussão recorrente em equipes começando com Data Lake. Vale registrar o critério.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53164-9D81-474F-B121-3C5CC4DB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60E8A-387F-43E5-A2F2-D62C449C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9D167-B5C6-4745-A978-01F1E408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Limpos por quem?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4A021-B6A9-49A4-AE13-D18268BD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"Já estão limpos" significa 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quê? Limpos pela origem ou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validados pelo engenheiro?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501D9-7648-4EB9-8697-95808F0E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14864-7462-4B85-A488-6E34849A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F0458-10A4-413F-A83F-5C1CC44A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raw/ é sagrado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F39EE-BBD4-4D81-A0F3-289F12AA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raw/ é para o que veio da fonte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sem você tocar. Auditoria,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reprocessamento, rastreio.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BF2C79-C8F5-46A2-9B87-E67D8146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3469D-AD50-4892-BBFF-76B1E5E2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E46AB-B49E-4FEA-AD2C-6B9EB6E5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trusted/ exige 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F234F-6B78-420D-96EB-A6639C22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Promoção exige passagem por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validações, padronização 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checks documentados.</a:t>
            </a:r>
          </a:p>
        </p:txBody>
      </p:sp>
    </p:spTree>
    <p:extLst>
      <p:ext uri="{BB962C8B-B14F-4D97-AF65-F5344CB8AC3E}">
        <p14:creationId xmlns:p14="http://schemas.microsoft.com/office/powerpoint/2010/main" val="4829980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4714D3-B6CC-4F17-B2F0-93C0443E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0dcbc1d5a433a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9F07F-D87A-476C-A941-B0E5F06F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2729D-6E4A-4DE1-98C9-0F099E4E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CE124-2676-40CA-84CF-8915DF48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91ACC-06CF-4DE5-8BC2-830FF7AB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230BB-9B0E-4AFE-924A-A991BE11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EX 7.4 — PYSPARK → PANDAS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79EEF-F8CD-496D-86DD-E9427905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Ler PySpark sem precisar instalar Spark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16F79-CCB4-4264-A870-B607BB3A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Desenvolver fluência. A lógica de negócio é a mesma — muda só o motor.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CE2D3-8640-4A3C-9801-C8F15DD8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8A4DA-C798-4CA4-AFA4-9844822B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747F5-44FA-4152-96CE-AC803585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PYSPARK (DISTRIBUÍDO)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4A116-4F10-4C01-A9D4-3FF9D753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df.filter(F.col('valor_total') &gt; 0)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.groupBy('estado', 'categoria')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.agg(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F.sum('valor_total').alias('receita')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.withColumn('rank',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F.row_number().over(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Window.partitionBy('estado')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.orderBy(F.desc('receita'))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.filter(F.col('rank') &lt;= 3)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8821D-B4E2-42BC-B340-41C0B7F5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C7BB3-4BC0-4590-8C20-9CDE9556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B4034-5496-4889-B365-130CA03B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PANDAS (LOCAL)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03CF0-742E-4BB1-9BC1-25BAC7AE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df = df[df['valor_total'] &gt; 0]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agg = (df.groupby(['estado','categoria'])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     ['valor_total'].sum()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     .reset_index(name='receita'))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agg['rank'] = (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agg.groupby('estado')['receita']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   .rank(method='first', ascending=False)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   .astype(int)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top3 = agg[agg['rank'] &lt;= 3]</a:t>
            </a:r>
          </a:p>
        </p:txBody>
      </p:sp>
    </p:spTree>
    <p:extLst>
      <p:ext uri="{BB962C8B-B14F-4D97-AF65-F5344CB8AC3E}">
        <p14:creationId xmlns:p14="http://schemas.microsoft.com/office/powerpoint/2010/main" val="20823494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68F73F-904B-46CF-A436-447A399D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014d38ec84627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A2CC5-190B-44BA-8368-CD4BCF13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8C286-D6A8-4426-A1A6-2B81D577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90B2D-6746-412F-BDDD-CC27EF8D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E8373-D789-4643-A496-04796FAC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c0fbca0c64837"/>
          <a:stretch xmlns:a="http://schemas.openxmlformats.org/drawingml/2006/main"/>
        </p:blipFill>
        <p:spPr>
          <a:xfrm xmlns:a="http://schemas.openxmlformats.org/drawingml/2006/main">
            <a:off x="476250" y="1257300"/>
            <a:ext cx="2667000" cy="4533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6AE86-15F2-47BD-B420-37B9389D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52977-3B77-46E8-AAB7-5340E758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E se fossem 10 bilhões?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FF1E0-E0B4-4A99-B963-3A321FC7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Quatro perguntas em sequência. Deixe o grupo responder antes de complementar.</a:t>
            </a:r>
          </a:p>
        </p:txBody>
      </p:sp>
    </p:spTree>
    <p:extLst>
      <p:ext uri="{BB962C8B-B14F-4D97-AF65-F5344CB8AC3E}">
        <p14:creationId xmlns:p14="http://schemas.microsoft.com/office/powerpoint/2010/main" val="14220230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F08A24-4A04-4810-AEBE-84CF0E06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0d6b646024fe8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78096-DDA0-4654-B89D-75E754E6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4FBD2-5161-4346-8445-99D0F897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90E41-C442-4EB4-90AA-079F80C9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483EA-5AFC-4063-8C36-7CA1BA4F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88372-70D1-4B02-8206-F031974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PERGUNTAS DE ESCALA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F134D-7667-4A77-916F-2BFF7464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O que muda quando o volume cresce 3 milhões de vezes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5372D-4AF2-4E9B-9698-F371AB44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Lógica de negócio é a mesma. Infraestrutura de execução e armazenamento muda tudo.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529E7-045D-4303-91C7-EAB7EB68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77F81-662B-477A-9D23-D2EAB692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3F981-C2D7-45C9-9755-72E5C9E8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pandas em 10B linhas?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6B666-74B0-45D0-8D60-0B1E8D43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Trava — 6 colunas float = ~480 GB de RAM. Máquina comum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tem 16-32 GB.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8AAF7-CD25-4A4A-B6F9-E80EEBD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FAAD6-D396-4446-9EEB-03F469F3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D5906-251C-4EE1-9DA7-51B64EA8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PySpark resolve?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67140-3B39-4C47-84CF-DE73F920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Sim, com cluster suficiente. Mesmo código, infraestrutura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diferente.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B58F0-B2ED-4E26-8DD6-5F3EE559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B9C15-0286-4846-A014-E3155AA2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E01316-63AA-49A1-A1F9-F48A0D3E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Particionamento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361BB6-2D99-45AD-95CC-CE62090B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Top 3 de dez/2024 lê só ano=2024/mes=12/. Partition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pruning é a salvação.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FEF589-980D-413C-9094-E226EB44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07E8D-4411-48AA-A7C1-CC5599AE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3BEC0D-CA89-40F8-941D-E4588F25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O que mais muda?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4720B1-8F38-4CD6-8A5F-AC789432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Delta no lugar de Parquet. DW gerenciado para BI. Lógica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permanece.</a:t>
            </a:r>
          </a:p>
        </p:txBody>
      </p:sp>
    </p:spTree>
    <p:extLst>
      <p:ext uri="{BB962C8B-B14F-4D97-AF65-F5344CB8AC3E}">
        <p14:creationId xmlns:p14="http://schemas.microsoft.com/office/powerpoint/2010/main" val="20868328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F9BC8D-4722-4F00-AF23-A3EDD3F3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7f30cafa5473f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37B9A-B1BB-4D2B-ABB7-523482E9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2EAE0-5868-4947-A349-382E475C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22337-0679-4FFA-8723-7A8856B0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84BD1-0571-4C06-9B2A-4DDDD6A5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F6B92-9AB5-4E83-919E-887B440F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OBJETIVOS DO MÓDULO 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2392D-FF47-4C3F-A38D-D1C2E7EE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Recap dos 3 pontos do módulo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72350-07A0-450A-8B04-318F397B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Não memorize ferramentas. Internalize o raciocínio sobre onde os dados vivem e por quê.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712C7-FAD5-4F1F-9798-408D7237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AC84E-4830-4499-A92D-7AF13A24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E2A07-26D7-4101-95B5-0EF3D5A8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3 arquiteturas, 3 propósitos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6A8E1-CB35-412B-9173-185AB4FD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DW para BI com SLA. Lake para tudo bruto. Lakehouse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converge os dois.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E6361-FC71-4E68-9175-B1647C74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47273-A11C-40B2-A70D-B7667FC5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4D11E-E48F-4EAA-A301-FE489B5F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Zonas do Data Lake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023FD-98D7-409B-8815-C1D51AD6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Raw, trusted, refined — não é burocracia, é o que torna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pipeline auditável.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65D7E3-B700-4EC2-B565-65F823DC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4C2B1-347A-45D3-BB49-0A44F7B1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60748-372C-4091-99F4-89B6C469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Processamento distribuído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1260AB-948F-4636-A998-E63F20D5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Existe porque dados crescem além de uma máquina. Spark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abstrai a distribuição.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5C46AE-9B61-4D12-B250-58ADA517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22F5D7-8141-45CA-A0DE-DF817E7F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6078A-0310-4435-8393-9ED8BF43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Particionamento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9B0F70-5B29-4A07-AF87-08D87AE7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Coluna escolhida muda o tempo de query de horas para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segundos.</a:t>
            </a:r>
          </a:p>
        </p:txBody>
      </p:sp>
    </p:spTree>
    <p:extLst>
      <p:ext uri="{BB962C8B-B14F-4D97-AF65-F5344CB8AC3E}">
        <p14:creationId xmlns:p14="http://schemas.microsoft.com/office/powerpoint/2010/main" val="12261408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E81E0F-5CEC-4A87-8645-BE5E7DEE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1dae302704e58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7CEBC-42C4-42CC-B5A3-CE615EE9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213B5-8717-45FB-A714-BEDA7B4D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C67D4-1C0C-4705-AB9D-DB4EB541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4F7C8-14F9-4FF9-A582-CE5668E6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1EA1B-1D31-43CE-A467-80E53DBE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PRÓXIMO MÓDULO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84D0A-29AE-4E1F-92EB-9C01E5F6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Módulo 8 — Qualidade e Observabilidade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3023C-0FD0-422E-A43F-3C1DA40A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Último módulo da trilha. Como garantir que o dado que entra no pipeline está correto.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A7C7B-0BD9-4A8C-BC32-DFD256EE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A88E7-4A78-43BB-AF4A-8318CD44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82656-D5CF-4634-8F0E-31DA06CE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5 dimensões de qualidade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E7D34-9907-4A55-B94C-1786C2DE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Completude, consistência,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acurácia, timeliness, unicidade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— vocabulário.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4F30B-6FE3-4644-933C-1272ED1C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36377-A917-40B3-B5ED-7F328A70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BA60A-725A-4397-A608-FF3156B7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Validações no código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0A07D-2FF7-4B12-BE6F-B4EF4905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Funções validar_* que falham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rápido quando algo está fora do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esperado.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8EC35-0BF1-4429-BF27-30320F6E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3203C-9CC5-447A-B501-B078A93E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220176-A5A6-413A-9016-29C1D0A7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TDD para pipelines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DFD5A5-6B96-4ECB-AC27-85E40BB3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pytest. Ciclo vermelho-verde.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Testes que protegem contra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regressões.</a:t>
            </a:r>
          </a:p>
        </p:txBody>
      </p:sp>
    </p:spTree>
    <p:extLst>
      <p:ext uri="{BB962C8B-B14F-4D97-AF65-F5344CB8AC3E}">
        <p14:creationId xmlns:p14="http://schemas.microsoft.com/office/powerpoint/2010/main" val="5951601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1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253A70-EF2F-4A59-A06E-8A6D3E8C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db7ccaae344e9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E9A2C-3F93-49B5-8047-EC4B27A5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1F63F-84AC-441C-B4A9-54D5E61E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F49AA-1E17-466B-B016-31FCC39C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14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884c636b24ce8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03169-7CF3-4C48-AA72-16315735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40C29-D51E-46B4-AD90-24B91B19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4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4ADBE"/>
                </a:solidFill>
              </a:defRPr>
            </a:pPr>
            <a:r>
              <a:rPr sz="1200" b="0">
                <a:solidFill>
                  <a:srgbClr val="A4ADBE"/>
                </a:solidFill>
              </a:rPr>
              <a:t>Trilha de Engenharia de Dados  •  Módulo 7: Armazenamento e Processamento</a:t>
            </a:r>
          </a:p>
        </p:txBody>
      </p:sp>
    </p:spTree>
    <p:extLst>
      <p:ext uri="{BB962C8B-B14F-4D97-AF65-F5344CB8AC3E}">
        <p14:creationId xmlns:p14="http://schemas.microsoft.com/office/powerpoint/2010/main" val="660019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2026-05-11T15:40:10.0350000Z</dcterms:created>
  <dcterms:modified xsi:type="dcterms:W3CDTF">2026-05-11T15:40:10.0350000Z</dcterms:modified>
</coreProperties>
</file>