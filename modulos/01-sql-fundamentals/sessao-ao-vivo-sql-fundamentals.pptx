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349c93e7d94a70" /><Relationship Type="http://schemas.openxmlformats.org/officeDocument/2006/relationships/extended-properties" Target="/docProps/app.xml" Id="Ra8941462af6e496d" /><Relationship Type="http://schemas.openxmlformats.org/officeDocument/2006/relationships/officeDocument" Target="/ppt/presentation.xml" Id="R0e7b5dca386048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f803d83c26465a"/>
  </p:sldMasterIdLst>
  <p:notesMasterIdLst>
    <p:notesMasterId xmlns:r="http://schemas.openxmlformats.org/officeDocument/2006/relationships" r:id="Rcce9e0072ee347bc"/>
  </p:notesMasterIdLst>
  <p:sldIdLst>
    <p:sldId xmlns:r="http://schemas.openxmlformats.org/officeDocument/2006/relationships" id="256" r:id="R64696d4e72664470"/>
    <p:sldId xmlns:r="http://schemas.openxmlformats.org/officeDocument/2006/relationships" id="257" r:id="R7ef691cffc634e4a"/>
    <p:sldId xmlns:r="http://schemas.openxmlformats.org/officeDocument/2006/relationships" id="258" r:id="R30ea854cd00f4342"/>
    <p:sldId xmlns:r="http://schemas.openxmlformats.org/officeDocument/2006/relationships" id="259" r:id="R544b1d1e61e94b06"/>
    <p:sldId xmlns:r="http://schemas.openxmlformats.org/officeDocument/2006/relationships" id="260" r:id="Refe2973a0f654686"/>
    <p:sldId xmlns:r="http://schemas.openxmlformats.org/officeDocument/2006/relationships" id="261" r:id="Rc5cdeb4db0db4d8a"/>
    <p:sldId xmlns:r="http://schemas.openxmlformats.org/officeDocument/2006/relationships" id="262" r:id="R55c4afd6473e4c01"/>
    <p:sldId xmlns:r="http://schemas.openxmlformats.org/officeDocument/2006/relationships" id="263" r:id="Rb90bd2b440dd42ae"/>
    <p:sldId xmlns:r="http://schemas.openxmlformats.org/officeDocument/2006/relationships" id="264" r:id="R32884b9189014776"/>
    <p:sldId xmlns:r="http://schemas.openxmlformats.org/officeDocument/2006/relationships" id="265" r:id="Reea44269d0f94257"/>
    <p:sldId xmlns:r="http://schemas.openxmlformats.org/officeDocument/2006/relationships" id="266" r:id="R2f89bc5ccf714712"/>
    <p:sldId xmlns:r="http://schemas.openxmlformats.org/officeDocument/2006/relationships" id="267" r:id="R4500783721b44b29"/>
    <p:sldId xmlns:r="http://schemas.openxmlformats.org/officeDocument/2006/relationships" id="268" r:id="R1ae0cc39977b4bee"/>
    <p:sldId xmlns:r="http://schemas.openxmlformats.org/officeDocument/2006/relationships" id="269" r:id="R39ff7890fedf4ca9"/>
    <p:sldId xmlns:r="http://schemas.openxmlformats.org/officeDocument/2006/relationships" id="270" r:id="Rdebe418667a2494e"/>
    <p:sldId xmlns:r="http://schemas.openxmlformats.org/officeDocument/2006/relationships" id="271" r:id="R8ae7ba75b20c4464"/>
    <p:sldId xmlns:r="http://schemas.openxmlformats.org/officeDocument/2006/relationships" id="272" r:id="Rdb587615920c474b"/>
    <p:sldId xmlns:r="http://schemas.openxmlformats.org/officeDocument/2006/relationships" id="273" r:id="Rb2e928a5daf24ba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f803d83c26465a" /><Relationship Type="http://schemas.openxmlformats.org/officeDocument/2006/relationships/theme" Target="/ppt/theme/theme1.xml" Id="R15e3e038ac7f445b" /><Relationship Type="http://schemas.openxmlformats.org/officeDocument/2006/relationships/notesMaster" Target="/ppt/notesMasters/notesMaster1.xml" Id="Rcce9e0072ee347bc" /><Relationship Type="http://schemas.openxmlformats.org/officeDocument/2006/relationships/presProps" Target="/ppt/presProps.xml" Id="Rda33292f5a554bfa" /><Relationship Type="http://schemas.openxmlformats.org/officeDocument/2006/relationships/viewProps" Target="/ppt/viewProps.xml" Id="R2b183f3df7f14f20" /><Relationship Type="http://schemas.openxmlformats.org/officeDocument/2006/relationships/tableStyles" Target="/ppt/tableStyles.xml" Id="R455e256524714a5d" /><Relationship Type="http://schemas.openxmlformats.org/officeDocument/2006/relationships/slide" Target="/ppt/slides/slide1.xml" Id="R64696d4e72664470" /><Relationship Type="http://schemas.openxmlformats.org/officeDocument/2006/relationships/slide" Target="/ppt/slides/slide2.xml" Id="R7ef691cffc634e4a" /><Relationship Type="http://schemas.openxmlformats.org/officeDocument/2006/relationships/slide" Target="/ppt/slides/slide3.xml" Id="R30ea854cd00f4342" /><Relationship Type="http://schemas.openxmlformats.org/officeDocument/2006/relationships/slide" Target="/ppt/slides/slide4.xml" Id="R544b1d1e61e94b06" /><Relationship Type="http://schemas.openxmlformats.org/officeDocument/2006/relationships/slide" Target="/ppt/slides/slide5.xml" Id="Refe2973a0f654686" /><Relationship Type="http://schemas.openxmlformats.org/officeDocument/2006/relationships/slide" Target="/ppt/slides/slide6.xml" Id="Rc5cdeb4db0db4d8a" /><Relationship Type="http://schemas.openxmlformats.org/officeDocument/2006/relationships/slide" Target="/ppt/slides/slide7.xml" Id="R55c4afd6473e4c01" /><Relationship Type="http://schemas.openxmlformats.org/officeDocument/2006/relationships/slide" Target="/ppt/slides/slide8.xml" Id="Rb90bd2b440dd42ae" /><Relationship Type="http://schemas.openxmlformats.org/officeDocument/2006/relationships/slide" Target="/ppt/slides/slide9.xml" Id="R32884b9189014776" /><Relationship Type="http://schemas.openxmlformats.org/officeDocument/2006/relationships/slide" Target="/ppt/slides/slide10.xml" Id="Reea44269d0f94257" /><Relationship Type="http://schemas.openxmlformats.org/officeDocument/2006/relationships/slide" Target="/ppt/slides/slide11.xml" Id="R2f89bc5ccf714712" /><Relationship Type="http://schemas.openxmlformats.org/officeDocument/2006/relationships/slide" Target="/ppt/slides/slide12.xml" Id="R4500783721b44b29" /><Relationship Type="http://schemas.openxmlformats.org/officeDocument/2006/relationships/slide" Target="/ppt/slides/slide13.xml" Id="R1ae0cc39977b4bee" /><Relationship Type="http://schemas.openxmlformats.org/officeDocument/2006/relationships/slide" Target="/ppt/slides/slide14.xml" Id="R39ff7890fedf4ca9" /><Relationship Type="http://schemas.openxmlformats.org/officeDocument/2006/relationships/slide" Target="/ppt/slides/slide15.xml" Id="Rdebe418667a2494e" /><Relationship Type="http://schemas.openxmlformats.org/officeDocument/2006/relationships/slide" Target="/ppt/slides/slide16.xml" Id="R8ae7ba75b20c4464" /><Relationship Type="http://schemas.openxmlformats.org/officeDocument/2006/relationships/slide" Target="/ppt/slides/slide17.xml" Id="Rdb587615920c474b" /><Relationship Type="http://schemas.openxmlformats.org/officeDocument/2006/relationships/slide" Target="/ppt/slides/slide18.xml" Id="Rb2e928a5daf24b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8242054213b4c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09ab5b99e64832" /><Relationship Type="http://schemas.openxmlformats.org/officeDocument/2006/relationships/notesMaster" Target="/ppt/notesMasters/notesMaster1.xml" Id="R9f7bd01fde634c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3870a4defe4c2f" /><Relationship Type="http://schemas.openxmlformats.org/officeDocument/2006/relationships/notesMaster" Target="/ppt/notesMasters/notesMaster1.xml" Id="R8cb4a63fcf3d4e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52f730fac549ff" /><Relationship Type="http://schemas.openxmlformats.org/officeDocument/2006/relationships/notesMaster" Target="/ppt/notesMasters/notesMaster1.xml" Id="R29f3ac5281674b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ab9f9237394db4" /><Relationship Type="http://schemas.openxmlformats.org/officeDocument/2006/relationships/notesMaster" Target="/ppt/notesMasters/notesMaster1.xml" Id="R71790feedbc743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8bab973c3c464d" /><Relationship Type="http://schemas.openxmlformats.org/officeDocument/2006/relationships/notesMaster" Target="/ppt/notesMasters/notesMaster1.xml" Id="R58be20aa026047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f6bfe3e2bf4767" /><Relationship Type="http://schemas.openxmlformats.org/officeDocument/2006/relationships/notesMaster" Target="/ppt/notesMasters/notesMaster1.xml" Id="R910b40dd1b834c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3fde54c8644662" /><Relationship Type="http://schemas.openxmlformats.org/officeDocument/2006/relationships/notesMaster" Target="/ppt/notesMasters/notesMaster1.xml" Id="Rb86b804f79cb48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42a8eff0b149a7" /><Relationship Type="http://schemas.openxmlformats.org/officeDocument/2006/relationships/notesMaster" Target="/ppt/notesMasters/notesMaster1.xml" Id="Rfaf449c23a9241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dfe6f655514d97" /><Relationship Type="http://schemas.openxmlformats.org/officeDocument/2006/relationships/notesMaster" Target="/ppt/notesMasters/notesMaster1.xml" Id="R32d912eb0a8d40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0d02a6a0c245d4" /><Relationship Type="http://schemas.openxmlformats.org/officeDocument/2006/relationships/notesMaster" Target="/ppt/notesMasters/notesMaster1.xml" Id="Rc1e1b46e1a2148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90396792804e5f" /><Relationship Type="http://schemas.openxmlformats.org/officeDocument/2006/relationships/notesMaster" Target="/ppt/notesMasters/notesMaster1.xml" Id="Rc864d618904a43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9a129d082640a1" /><Relationship Type="http://schemas.openxmlformats.org/officeDocument/2006/relationships/notesMaster" Target="/ppt/notesMasters/notesMaster1.xml" Id="Re4232785766d4f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ba40543a4a4cf9" /><Relationship Type="http://schemas.openxmlformats.org/officeDocument/2006/relationships/notesMaster" Target="/ppt/notesMasters/notesMaster1.xml" Id="R9e7cd81c744045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089e27549b4a1b" /><Relationship Type="http://schemas.openxmlformats.org/officeDocument/2006/relationships/notesMaster" Target="/ppt/notesMasters/notesMaster1.xml" Id="Rad569564c66e46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33c05ff794424a" /><Relationship Type="http://schemas.openxmlformats.org/officeDocument/2006/relationships/notesMaster" Target="/ppt/notesMasters/notesMaster1.xml" Id="R1c45750818944f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27ba2906004537" /><Relationship Type="http://schemas.openxmlformats.org/officeDocument/2006/relationships/notesMaster" Target="/ppt/notesMasters/notesMaster1.xml" Id="R0d281eb295ab4ea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36da047d2614e97" /><Relationship Type="http://schemas.openxmlformats.org/officeDocument/2006/relationships/notesMaster" Target="/ppt/notesMasters/notesMaster1.xml" Id="Re51850fb233a4df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faa570445f14782" /><Relationship Type="http://schemas.openxmlformats.org/officeDocument/2006/relationships/notesMaster" Target="/ppt/notesMasters/notesMaster1.xml" Id="R4da4267152c84b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a9e83060cc462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e7a4d202d494631" /><Relationship Type="http://schemas.openxmlformats.org/officeDocument/2006/relationships/slideLayout" Target="/ppt/slideLayouts/slideLayout2.xml" Id="Rc4a4a929127e41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a4a929127e41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bbcdd217ac4a67" /><Relationship Type="http://schemas.openxmlformats.org/officeDocument/2006/relationships/image" Target="/ppt/media/image.png" Id="Rfa5d3378292f48db" /><Relationship Type="http://schemas.openxmlformats.org/officeDocument/2006/relationships/image" Target="/ppt/media/image2.png" Id="Rae0daddb8aad4c42" /><Relationship Type="http://schemas.openxmlformats.org/officeDocument/2006/relationships/notesSlide" Target="/ppt/notesSlides/notesSlide1.xml" Id="Rf90df1cecf914b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a329127ca9477a" /><Relationship Type="http://schemas.openxmlformats.org/officeDocument/2006/relationships/image" Target="/ppt/media/image3.png" Id="R244afc4046fd4f53" /><Relationship Type="http://schemas.openxmlformats.org/officeDocument/2006/relationships/notesSlide" Target="/ppt/notesSlides/notesSlide2.xml" Id="Red0fe3feac4d44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d033cf58064522" /><Relationship Type="http://schemas.openxmlformats.org/officeDocument/2006/relationships/image" Target="/ppt/media/image4.png" Id="R6e46ff410a05464f" /><Relationship Type="http://schemas.openxmlformats.org/officeDocument/2006/relationships/image" Target="/ppt/media/image5.png" Id="R6839b0da0e2d4c13" /><Relationship Type="http://schemas.openxmlformats.org/officeDocument/2006/relationships/notesSlide" Target="/ppt/notesSlides/notesSlide3.xml" Id="Rb0c36e80690440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f49cf4e10e4028" /><Relationship Type="http://schemas.openxmlformats.org/officeDocument/2006/relationships/image" Target="/ppt/media/image6.png" Id="R12746b4c81404ad4" /><Relationship Type="http://schemas.openxmlformats.org/officeDocument/2006/relationships/notesSlide" Target="/ppt/notesSlides/notesSlide4.xml" Id="Rac31272a199244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1cd887a51148fb" /><Relationship Type="http://schemas.openxmlformats.org/officeDocument/2006/relationships/image" Target="/ppt/media/image7.png" Id="R7a4565157580478d" /><Relationship Type="http://schemas.openxmlformats.org/officeDocument/2006/relationships/image" Target="/ppt/media/image8.png" Id="R656fa25b52614a82" /><Relationship Type="http://schemas.openxmlformats.org/officeDocument/2006/relationships/notesSlide" Target="/ppt/notesSlides/notesSlide5.xml" Id="R43a8c4465a814f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f68c88a2ca4ba8" /><Relationship Type="http://schemas.openxmlformats.org/officeDocument/2006/relationships/image" Target="/ppt/media/image9.png" Id="R44fbfeab5ea44c5b" /><Relationship Type="http://schemas.openxmlformats.org/officeDocument/2006/relationships/notesSlide" Target="/ppt/notesSlides/notesSlide6.xml" Id="R5ec1fcdb205249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826a1f8cdc4162" /><Relationship Type="http://schemas.openxmlformats.org/officeDocument/2006/relationships/image" Target="/ppt/media/image10.png" Id="R1a1fc6605d61476d" /><Relationship Type="http://schemas.openxmlformats.org/officeDocument/2006/relationships/notesSlide" Target="/ppt/notesSlides/notesSlide7.xml" Id="R3050e19e396745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702986b8c5459f" /><Relationship Type="http://schemas.openxmlformats.org/officeDocument/2006/relationships/image" Target="/ppt/media/image11.png" Id="R2c721e2dc0ab4542" /><Relationship Type="http://schemas.openxmlformats.org/officeDocument/2006/relationships/notesSlide" Target="/ppt/notesSlides/notesSlide8.xml" Id="R51576a2ade974c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6a988f9ad649d1" /><Relationship Type="http://schemas.openxmlformats.org/officeDocument/2006/relationships/image" Target="/ppt/media/image12.png" Id="R2300dedcbfba49ca" /><Relationship Type="http://schemas.openxmlformats.org/officeDocument/2006/relationships/notesSlide" Target="/ppt/notesSlides/notesSlide9.xml" Id="Refa4fbbc16ff49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0f13d1ae8f40a7" /><Relationship Type="http://schemas.openxmlformats.org/officeDocument/2006/relationships/image" Target="/ppt/media/image13.png" Id="Rb35fb2fbe5cc4371" /><Relationship Type="http://schemas.openxmlformats.org/officeDocument/2006/relationships/image" Target="/ppt/media/image14.png" Id="Rf789bdc737764eb0" /><Relationship Type="http://schemas.openxmlformats.org/officeDocument/2006/relationships/notesSlide" Target="/ppt/notesSlides/notesSlide10.xml" Id="R91d18c28a94e4f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6530b7a5eb437a" /><Relationship Type="http://schemas.openxmlformats.org/officeDocument/2006/relationships/image" Target="/ppt/media/image15.png" Id="R42d46dbf5813432a" /><Relationship Type="http://schemas.openxmlformats.org/officeDocument/2006/relationships/notesSlide" Target="/ppt/notesSlides/notesSlide11.xml" Id="R8ae37e06b5b343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0f020470d94431" /><Relationship Type="http://schemas.openxmlformats.org/officeDocument/2006/relationships/image" Target="/ppt/media/image16.png" Id="R5115d63d7ab9417f" /><Relationship Type="http://schemas.openxmlformats.org/officeDocument/2006/relationships/notesSlide" Target="/ppt/notesSlides/notesSlide12.xml" Id="Rcd4cedf0553046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0dfa5b63854c82" /><Relationship Type="http://schemas.openxmlformats.org/officeDocument/2006/relationships/image" Target="/ppt/media/image17.png" Id="Rffdc322973544280" /><Relationship Type="http://schemas.openxmlformats.org/officeDocument/2006/relationships/notesSlide" Target="/ppt/notesSlides/notesSlide13.xml" Id="R7dbcf75a1a3949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0e48da7f3847bb" /><Relationship Type="http://schemas.openxmlformats.org/officeDocument/2006/relationships/image" Target="/ppt/media/image18.png" Id="Ra75765041da548b3" /><Relationship Type="http://schemas.openxmlformats.org/officeDocument/2006/relationships/notesSlide" Target="/ppt/notesSlides/notesSlide14.xml" Id="Rfef6ac01b2cd4bd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46a7cbfd1f4304" /><Relationship Type="http://schemas.openxmlformats.org/officeDocument/2006/relationships/image" Target="/ppt/media/image19.png" Id="R9784d536dbef4acd" /><Relationship Type="http://schemas.openxmlformats.org/officeDocument/2006/relationships/image" Target="/ppt/media/image20.png" Id="Rf48a4fde32d54d98" /><Relationship Type="http://schemas.openxmlformats.org/officeDocument/2006/relationships/notesSlide" Target="/ppt/notesSlides/notesSlide15.xml" Id="R6d7dce5f2f5c4c3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f5773b7a4e4032" /><Relationship Type="http://schemas.openxmlformats.org/officeDocument/2006/relationships/image" Target="/ppt/media/image21.png" Id="Ra3b9887a070148ca" /><Relationship Type="http://schemas.openxmlformats.org/officeDocument/2006/relationships/notesSlide" Target="/ppt/notesSlides/notesSlide16.xml" Id="R6b90cab7d50644d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908c82257c4897" /><Relationship Type="http://schemas.openxmlformats.org/officeDocument/2006/relationships/image" Target="/ppt/media/image22.png" Id="R3bbb17375a81463c" /><Relationship Type="http://schemas.openxmlformats.org/officeDocument/2006/relationships/notesSlide" Target="/ppt/notesSlides/notesSlide17.xml" Id="R2716547953d646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e1eb3d3b894891" /><Relationship Type="http://schemas.openxmlformats.org/officeDocument/2006/relationships/image" Target="/ppt/media/image23.png" Id="Ra6cf82aee4434ef7" /><Relationship Type="http://schemas.openxmlformats.org/officeDocument/2006/relationships/image" Target="/ppt/media/image24.png" Id="R8eef573028f148fc" /><Relationship Type="http://schemas.openxmlformats.org/officeDocument/2006/relationships/notesSlide" Target="/ppt/notesSlides/notesSlide18.xml" Id="Rec28b752cdea47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93CB7E-4571-4602-9E4A-807D1EDA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d3378292f48db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21AB1-7D69-405D-BFF7-9F671310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25E7E-5031-4690-915A-2C7AA1BD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3DCCF-3E87-4C9A-AEC8-A35D4A96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daddb8aad4c42"/>
          <a:stretch xmlns:a="http://schemas.openxmlformats.org/drawingml/2006/main"/>
        </p:blipFill>
        <p:spPr>
          <a:xfrm xmlns:a="http://schemas.openxmlformats.org/drawingml/2006/main">
            <a:off x="7683178" y="3638550"/>
            <a:ext cx="4502794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056C0-FD5D-4CD4-9AC9-9E52961A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TRILHA DE ENGENHARIA DE DADOS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B8F2C-C378-4FB4-8169-048E7671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857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FFFFFF"/>
                </a:solidFill>
              </a:defRPr>
            </a:pPr>
            <a:r>
              <a:rPr sz="4500" b="0">
                <a:solidFill>
                  <a:srgbClr val="FFFFFF"/>
                </a:solidFill>
              </a:rPr>
              <a:t>SQL Fundamentals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2DEEB-78E7-4E61-B0C2-A5A058C1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666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Módulo 1  •  Sessão ao Vivo  •  2 horas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DEE91-8E5B-42B4-AD3D-FA0C4D6B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F8DF63-F8A1-49BA-8C34-A4705D6D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571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Dados bem consultados começam aqui.</a:t>
            </a:r>
          </a:p>
        </p:txBody>
      </p:sp>
    </p:spTree>
    <p:extLst>
      <p:ext uri="{BB962C8B-B14F-4D97-AF65-F5344CB8AC3E}">
        <p14:creationId xmlns:p14="http://schemas.microsoft.com/office/powerpoint/2010/main" val="8660445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E69958-D747-4911-A4BC-BF0B2349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afc4046fd4f53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E5A31-80F4-444F-9624-53DEA5A5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345EE-E57B-4B46-B117-D4C2CF56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A9459-2E93-43D9-837B-00DB8EE8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BF7F7-B7A5-4E3A-915A-C49B6894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BC4B0-D2D9-4FCC-ADE6-D2E3A91B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AGENDA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4C086-87CB-4DD3-9A0B-6F8AC5D0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O que vamos fazer hoje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27225-CA47-4661-BA6D-28DC5999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Sessão de 2 horas com foco em prática e dúvidas reais do grupo.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F5A18-C404-4E20-920D-E9000CCE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5B1D0-6E40-4995-8F5A-3052E28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F96B7-F389-47AD-B998-338A4706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Abertura — 10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0A4A9-54C9-42E7-8AAF-057DCC85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Verificação de ambiente SQLite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 sondagem do grupo.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E4115-B0C8-4C03-8C9C-04712002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FC020-569D-4021-B0F6-B3C54639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4E205-0E9A-4485-8705-30B5F441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Bloco de Dúvidas — 30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74BAD-1AFF-42CE-A7B6-4AF6C523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WHERE vs HAVING, CTE vs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Subquery, LEFT JOIN, datas no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SQLite.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21FA7-2716-43BC-84FF-DDE791FD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0AF5B8-112B-4A7A-85FC-5A709ABA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DE83E9-A1A5-471F-A733-755240E4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Exercício em Grupo — 60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681E79-83FC-4434-86C3-4EA4B5A5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Refatoração coletiva do Ex 3.3.</a:t>
            </a:r>
          </a:p>
        </p:txBody>
      </p:sp>
    </p:spTree>
    <p:extLst>
      <p:ext uri="{BB962C8B-B14F-4D97-AF65-F5344CB8AC3E}">
        <p14:creationId xmlns:p14="http://schemas.microsoft.com/office/powerpoint/2010/main" val="204373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858D15-CBCE-445D-B9AD-4BDDB60B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6ff410a05464f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4D61B-6013-474E-86EC-613FF658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177FE-A04E-48FE-9302-83A0C0D8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9599E-0BBA-48A8-A422-A4AF0F04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723E1-78EA-420C-81D0-60FA1AD6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9b0da0e2d4c13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64B2A-6EA0-49CD-B25A-BE9B8C87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42237-E58A-41D1-BD4A-DFBADB19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Abertura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F9A9F-E209-4E3E-8D20-9C988446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Garantir que todos consigam conectar ao banco antes de avançar.</a:t>
            </a:r>
          </a:p>
        </p:txBody>
      </p:sp>
    </p:spTree>
    <p:extLst>
      <p:ext uri="{BB962C8B-B14F-4D97-AF65-F5344CB8AC3E}">
        <p14:creationId xmlns:p14="http://schemas.microsoft.com/office/powerpoint/2010/main" val="2908350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CC2FB3-BA0B-47F2-922A-4B314ADB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46b4c81404ad4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4287C-B050-4457-8ED6-7BF86B43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2060F-F867-4AF0-A4B4-E65036BC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99A1F-8414-43E6-9F3C-463B6436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EB1BA-D811-433F-B4FE-AA88BBA5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5F14C-2804-42CF-9D18-3AE47473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VERIFICAÇÃO DE AMBIENTE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C4B65-0B72-4483-AA6B-739FDD93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Banco funcionando? Rode a query abaixo.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179C8-7492-4F11-B379-843BD6FC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Resultado esperado: 3000. Se não funcionar, gere o banco com setup_db.py primeiro.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5AE69-544F-4A06-BDB4-24E78DEA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DFD5C-A6CC-4C05-B163-6E9FE405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BA3E2-EC52-4D7C-ACF1-C2CAC604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QUERY DE VERIFICAÇÃO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947D8-F176-44B3-ABF3-1381BE8E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SELECT COUNT(*) AS total_vendas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FROM vendas;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-- Resultado esperado: 3000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Se retornou 0 ou erro: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$ python recursos/setup_db.py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15DFA-0FF2-4CA1-BFA5-E2CDE425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22113-02D1-4F50-A2D7-8A532B40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5C8AB-0ADE-4FA2-9E66-48F25E07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FORMAS DE CONECTAR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89CAF-9A5C-4E33-B098-CFC369FD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SQLite CLI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$ sqlite3 recursos/dados.db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&gt; .headers on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&gt; .mode column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Python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import sqlite3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conn = sqlite3.connect(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'recursos/dados.db'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8877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53552C-CDB6-4265-923F-05DD7959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565157580478d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45CEC-B6A1-4D50-A21B-9E7A0532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FE88B-4CD8-42F2-86C1-420866C0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6DA73-B36D-4D98-9E57-31F4592A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E1FDE-D5CA-4840-AC5D-645B7D7A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fa25b52614a82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47F24-63BE-4B34-B0E5-01580676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A1421-B0FA-439A-B097-F0F41647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Bloco de Dúvidas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292F9-932B-4BA6-8253-0132C1CD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Resolver as dúvidas do conteúdo e consolidar conceitos que mais geram confusão.</a:t>
            </a:r>
          </a:p>
        </p:txBody>
      </p:sp>
    </p:spTree>
    <p:extLst>
      <p:ext uri="{BB962C8B-B14F-4D97-AF65-F5344CB8AC3E}">
        <p14:creationId xmlns:p14="http://schemas.microsoft.com/office/powerpoint/2010/main" val="15892039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1DFFD8-DC19-4DFD-B761-677E0F59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bfeab5ea44c5b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F847E-C1D8-426A-9AF9-39D04711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CB41C-3A46-472A-A389-84112C16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90B44-C06E-48D9-8819-A8F704FA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C9AC0-7C65-471A-BB9E-92F5F9B4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8BCC4-6C21-458E-B46D-620D7243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DÚVIDA 1 DE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C38A9-ED63-451F-A164-E4F715A4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WHERE vs HAVING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ED50A-38DA-4FAC-8CAD-6FB4380E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Regra: condição sobre função de agregação → HAVING. Qualquer outra condição → WHERE.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B8DD3-1CCC-41DA-AE8A-199BC10A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2B4F6-85CB-427A-91C3-D5DC1D44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99D0E-2E4A-4F17-94B5-12C99163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ERRADO — WHERE com agregação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0C585-4A00-471D-882D-A1858D1A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SELECT cat.nome, SUM(p.preco) AS total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FROM produtos p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INNER JOIN categorias cat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ON p.categoria_id = cat.categoria_id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WHERE SUM(p.preco) &gt; 1000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GROUP BY cat.nome;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-- Erro de sintaxe!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EFAD9-E44F-42B7-8407-7C718DC9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42DC3-6456-44F4-BFBF-2F557643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F96FD-1DE8-43BB-8F8E-9D26228E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CORRETO — HAVING pós-GROUP BY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9D066-704A-43AB-BF94-EA2EC974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SELECT cat.nome, SUM(p.preco) AS total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FROM produtos p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INNER JOIN categorias cat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ON p.categoria_id = cat.categoria_id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GROUP BY cat.nome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HAVING SUM(p.preco) &gt; 1000;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-- Execute para verificar</a:t>
            </a:r>
          </a:p>
        </p:txBody>
      </p:sp>
    </p:spTree>
    <p:extLst>
      <p:ext uri="{BB962C8B-B14F-4D97-AF65-F5344CB8AC3E}">
        <p14:creationId xmlns:p14="http://schemas.microsoft.com/office/powerpoint/2010/main" val="4414685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B95779-2B85-42D7-B89F-A1F306E3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fc6605d61476d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F9CF0-1768-4699-9C8C-8C512502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B726B-8B9B-4DB8-8AAE-2C13D379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4C137-CFB8-46E7-A281-A983A8C5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A4C74-0997-4B3F-B70B-60B87520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0F5E1-D709-4430-808B-546095C9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DÚVIDA 2 DE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49F1E-BBD7-418F-97FA-796E04EA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CTE vs Subquery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027F9-242A-42EE-BCA5-58521CA2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Mesma performance na maioria dos casos. A diferença está em legibilidade e manutenção.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ABCD0-6972-4CD5-9307-290799DA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ABC5D-70D2-45E6-8C14-DA2456C2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253D8-1CAB-432A-A898-F5B42304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SUBQUERY — difícil de 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6AE18-DB51-4FF4-9866-BCDE0D5A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SELECT nome FROM clientes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WHERE cliente_id IN (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SELECT cliente_id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FROM vendas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GROUP BY cliente_id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HAVING SUM(valor_total) &gt; 1000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78EC8-3169-4C53-AF07-F5929AC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9001D-2FBC-4CCA-B0DB-3D1A4B63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DD201-74C5-4117-BEA5-A59797D6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CTE — fácil de ler e testar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45ECB9-316E-44AE-8D4D-47BB2ED0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WITH clientes_valiosos AS (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SELECT cliente_id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FROM vendas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GROUP BY cliente_id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HAVING SUM(valor_total) &gt; 1000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)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SELECT c.nome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FROM clientes c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INNER JOIN clientes_valiosos cv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ON c.cliente_id = cv.cliente_id;</a:t>
            </a:r>
          </a:p>
        </p:txBody>
      </p:sp>
    </p:spTree>
    <p:extLst>
      <p:ext uri="{BB962C8B-B14F-4D97-AF65-F5344CB8AC3E}">
        <p14:creationId xmlns:p14="http://schemas.microsoft.com/office/powerpoint/2010/main" val="3373090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A3C383-60A8-4C2E-9614-4E8FF069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21e2dc0ab4542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8F52D-2284-4152-8A6F-6745402E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30C3B-C8D9-4212-8508-3EB073A8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072F6-8D55-4979-89E1-D1E3B404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CFB38-A798-43E1-B97D-8A15E383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13EC4-773A-4FBF-A7C4-2C4BE4F5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DÚVIDA 3 DE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DDDA8-317E-49F8-8E90-8D0D15D0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LEFT JOIN — Encontrar o que não existe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F5F36-3932-471B-A4D6-C75CDA7A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Padrão: LEFT JOIN + WHERE &lt;pk_tabela_direita&gt; IS NULL. Sempre checar a chave primária.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E8C43-2F53-4539-9E4A-2AFF18B4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B561B-6119-44BD-9767-C1FAC35F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CBF70-E68F-4F4A-B787-DEE5A9BA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PADRÃO CORRETO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A6B25-4D5C-4307-A138-59499B93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-- Clientes que nunca compraram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SELECT c.nome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FROM clientes AS c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LEFT JOIN vendas AS v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ON c.cliente_id = v.cliente_id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WHERE v.venda_id IS NULL;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-- Checar PK (venda_id), não FK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15214A-86AB-4597-923B-A8E350D2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DF298-C023-4127-8FFA-CEF7E4D6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D4E07-216F-4178-9A91-194FD4ED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ARMADILHA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63A46-1A31-48F6-AA65-7E9EFE8C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-- Parece equivalente, mas pode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-- não ser em todos os bancos: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WHERE v.cliente_id IS NULL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Se cliente_id for NOT NULL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em vendas, o comportamento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pode ser inesperado.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Sempre cheque a PK da direita.</a:t>
            </a:r>
          </a:p>
        </p:txBody>
      </p:sp>
    </p:spTree>
    <p:extLst>
      <p:ext uri="{BB962C8B-B14F-4D97-AF65-F5344CB8AC3E}">
        <p14:creationId xmlns:p14="http://schemas.microsoft.com/office/powerpoint/2010/main" val="2314780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E4B404-77AC-4DA2-99CF-14DDB3DA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0dedcbfba49ca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8BCB2-4A11-481A-B3C2-5DA3BE41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8CF50-DAB3-4830-A82B-61D68EB5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C2E9F-4D77-4CFD-BD24-BC2C10E9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32927-2F10-45EA-9BFC-F5A04655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9D60D-F429-4CA7-A653-1FEE2423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DÚVIDA 4 DE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863F7-DAA7-431C-9DA0-5011951C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Datas no SQLite — strftime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12D7B-5A39-4271-BD56-2B91AE74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SQLite não tem DATE_TRUNC. Use strftime('%Y-%m', coluna) para agrupar por período.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D1F24-02DD-43A9-B607-74F98EFA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0C318-427D-402F-8F29-3AE88F64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F1EF7-2315-40C7-8E1E-24442066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RECEITA POR MÊS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831B1-3C68-402B-AA3E-144434A5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SELECT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strftime('%Y-%m', data_venda) AS mes,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SUM(valor_total)              AS receita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FROM vendas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GROUP BY strftime('%Y-%m', data_venda)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ORDER BY mes;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433DF-AD82-4D4D-ABAA-83DC09AF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EE305C-CE39-4F56-AEF1-7206B165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CA5FE-AE16-49B7-9FD8-9256B3D4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FILTROS ÚTEIS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1DB57-C127-46C6-8191-053FCEE8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-- Filtrar por ano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WHERE strftime('%Y', data_venda)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= '2024'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-- Filtrar por mês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WHERE strftime('%Y-%m', data_venda)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= '2024-03'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-- Formatos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-- %Y → 2024 | %m → 03 | %d → 15</a:t>
            </a:r>
          </a:p>
        </p:txBody>
      </p:sp>
    </p:spTree>
    <p:extLst>
      <p:ext uri="{BB962C8B-B14F-4D97-AF65-F5344CB8AC3E}">
        <p14:creationId xmlns:p14="http://schemas.microsoft.com/office/powerpoint/2010/main" val="6632341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A07B5F-390F-4BB4-B0FA-C1411992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fb2fbe5cc4371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60650-6667-4171-9410-E31BB468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52390-80EE-42DA-B655-3F4AFDA7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87D90-3A36-494F-B697-73A7AA23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55003-3630-408A-8532-687FC244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9bdc737764eb0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DC664-A31B-42CF-B817-C74FA27B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92A66-975C-437E-A2D2-139DA0EC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Exercício em Grupo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C2D6C-ABB7-4F7D-8DC4-9E0F0DC4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Refatorar coletivamente o Exercício 3.3 — uma query com quatro problemas reais.</a:t>
            </a:r>
          </a:p>
        </p:txBody>
      </p:sp>
    </p:spTree>
    <p:extLst>
      <p:ext uri="{BB962C8B-B14F-4D97-AF65-F5344CB8AC3E}">
        <p14:creationId xmlns:p14="http://schemas.microsoft.com/office/powerpoint/2010/main" val="16680293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2219F7-B190-44E1-9DB5-FBAB3522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46dbf5813432a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2A2EF-F4BC-405B-A8A4-D8929179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9782D-7113-417F-B532-7B5CBE84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198F9-052C-4BB5-9D76-8FA2D9A6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6A85C-65D1-4E74-BF6F-FDC98EA4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022B8-66CB-4588-88A3-1071E4E7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EX 3.3  —  ETAPA 1 DE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5B01A-5A01-448D-9199-BFC418C3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A query original — o que ela faz?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9D5C6-14D0-4171-A887-F1C9C63A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Leia em silêncio por 2 minutos. O que essa query retorna? Onde você vê desperdício?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07824-8DA6-4570-A704-2CB15641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069BE-674C-4C04-A976-1E0543D5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75562-FB13-457D-BBC1-E9EB8FFB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QUERY ORIGINAL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F1B15-85B0-4C42-82B9-522EF8A5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SELECT *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FROM (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SELECT * FROM clientes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) AS todos_clientes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WHERE cliente_id IN (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SELECT cliente_id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FROM vendas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WHERE valor_total &gt; (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SELECT AVG(valor_total)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FROM vendas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WHERE cliente_id IN (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    SELECT cliente_id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    FROM clientes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74A2F-6358-47ED-8892-043BB996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B2266-2BE9-4732-93C5-21BB4707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32DF3-4377-4459-844B-5EBB4624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PERGUNTAS AO GRUPO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8D91AD-8356-4AF4-B4C2-44C2ADFF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1. O que essa query retorna?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Explique em uma frase.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2. Quantas subqueries ela tem?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3. Alguma delas é desnecessária?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4. O banco calcula AVG(valor_total)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uma vez, ou uma vez por linha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de vendas?</a:t>
            </a:r>
          </a:p>
        </p:txBody>
      </p:sp>
    </p:spTree>
    <p:extLst>
      <p:ext uri="{BB962C8B-B14F-4D97-AF65-F5344CB8AC3E}">
        <p14:creationId xmlns:p14="http://schemas.microsoft.com/office/powerpoint/2010/main" val="10879677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812B0C-6D47-48A1-BEF0-561AE807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5d63d7ab9417f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BC62C-494C-4577-A88E-3446EE8B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0DD93-1EA4-408F-8358-DD37D2FB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03FE5-1329-4631-8E74-7FE980E1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E9B73-5132-4220-8413-23B1A008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D466D-3679-49FC-9811-C0DDE680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EX 3.3  —  ETAPA 2 DE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6FB95-F0F7-4124-B463-F8AF994D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Os quatro problemas — identificar antes de reescrever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29C5B-8470-45FF-837F-940925B8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Guiar o grupo através de cada ponto de desperdício. Não revelar a solução ainda.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609BA-14B5-4CF2-AD75-DC1CFE6A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457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75D3E-695D-4481-9E48-1B7F6640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94079-CA26-448E-A86D-03E9FFD4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B2501-E62E-4313-BC77-04C6E765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SELECT *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FF025-AC54-4F17-AFB3-64D66EB9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2076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Quais colunas o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resultado precisa?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Listar reduz I/O e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clareia intenção.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B3A92-23AA-4C70-8E6F-5C4B04E1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2457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1049A-7D39-4694-B420-0E5A4880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B687AD-81E2-49FE-93A6-40D9BDB0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097547-6BE7-4933-BDCF-9A5144C9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147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Subquery inútil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227F6F-3EA7-4BEB-9336-E1A4E11C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95750"/>
            <a:ext cx="2076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FROM (SELECT * FROM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clientes) não filtra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nem transforma.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E7E95-C5C6-4F37-92FC-FA640EC4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457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C134D-149F-4DFD-BAAA-A0C51D4A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81F9CB-5400-49B9-AD44-B15E34DE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BCB607-A15E-4659-AFF1-14C55C03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FK redundante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615457-A42C-4036-A353-BA88D705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95750"/>
            <a:ext cx="2076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cliente_id em vendas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sempre existe em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clientes (FK).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FD5AE8-B00D-4F92-A6E6-A0011BE8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2457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248773-8CA1-43F0-9D12-9D46E739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1D27F3-3A60-46B6-AAE3-E5DC3EA3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D91574-02A5-4DBB-8BA8-0535AA12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147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AVG repetido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05CE44-0178-4627-8A5A-6265937C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5750"/>
            <a:ext cx="2076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Subquery escalar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recalcula AVG por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linha. Isolar em CTE.</a:t>
            </a:r>
          </a:p>
        </p:txBody>
      </p:sp>
    </p:spTree>
    <p:extLst>
      <p:ext uri="{BB962C8B-B14F-4D97-AF65-F5344CB8AC3E}">
        <p14:creationId xmlns:p14="http://schemas.microsoft.com/office/powerpoint/2010/main" val="5087212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B296D4-7B7B-4674-87E1-BA3FB1CA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c322973544280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4DB56-1A4C-41A7-9F7D-0DD86421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19523-5EE3-42D9-ABC9-A2323EFC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B8BD3-6CCE-4CBD-B989-A8419AE3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E46B4-9740-41B9-9FDD-4B791FA7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6EC84-4F5F-4A95-8215-22E6ECE5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EX 3.3  —  ETAPA 3 DE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12301-DDD6-43D9-8A15-DAE580DC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Query refatorada — construída coletivamente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CC96D-A9B3-4F4B-8B8F-60AFFA35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Construir ao vivo, passo a passo. Verificar que o resultado é idêntico à query original.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DCDCB-07EA-4745-8AAB-9E622469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6BD37-C235-4D2D-80B6-68AA38E6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DCB05-056A-4802-8A4F-1C74FB77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PASSO 1 + 2 — As CTEs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CECAC-E64D-49C7-8301-94644E61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WITH media_vendas AS (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SELECT AVG(valor_total) AS media_geral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FROM vendas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),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clientes_acima AS (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SELECT DISTINCT v.cliente_id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FROM vendas AS v, media_vendas AS m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WHERE v.valor_total &gt; m.media_geral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1DF2D-C9BB-4809-AFD3-8947F7BB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9CFE1-0804-42A0-BE27-12C6C977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367F7-EDBC-40C6-B968-31202967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PASSO 3 — Query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D999DA-B5A9-490C-AA56-99B4DAAD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SELECT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c.cliente_id, c.nome,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c.email, c.cidade,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c.estado, c.data_cadastro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FROM clientes AS c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INNER JOIN clientes_acima AS ca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ON c.cliente_id = ca.cliente_id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ORDER BY c.nome;</a:t>
            </a:r>
          </a:p>
        </p:txBody>
      </p:sp>
    </p:spTree>
    <p:extLst>
      <p:ext uri="{BB962C8B-B14F-4D97-AF65-F5344CB8AC3E}">
        <p14:creationId xmlns:p14="http://schemas.microsoft.com/office/powerpoint/2010/main" val="5727549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C0AA4C-6D76-4DA9-8AC1-60B58B8B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765041da548b3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6159E-8962-4B3F-8858-ADF19BB5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3A578-7137-4BEE-AFB9-674A3E82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8C874-E4A7-41CC-A416-5DB5FF95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FCF87-05C6-4895-8D54-46C284AB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A6B1D-4624-49AE-87A3-2CDDC339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EX 3.3  —  ETAPA 4 DE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E7294-54F7-4E15-863D-6DB33F37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EXPLAIN QUERY PLAN — o que observar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1BAAB-A89A-4C37-A1C1-29425FC8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Use EXPLAIN QUERY PLAN &lt;query&gt; no SQLite. Com 3.000 linhas a diferença é pequena. Em produção, com milhões, é grande.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9B1CA-95E5-42B5-91A5-CD06DE4B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47230-C073-466E-860B-A685518D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94C88-0293-4F89-A9C3-1C36B70B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SCAN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94D10-4E08-454D-8AD6-260BCF5E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Varredura completa da tabela —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sem índice. O banco lê todas as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linhas.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0AB7F-5C04-4414-923F-72701C6F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8322B-8A26-4A1C-B6A4-A31FC5AE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DC83A3-4A5D-4C49-BE7F-118AD58D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40258-68C4-4071-9C0D-4404E7EB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Uso de índice — mais eficiente.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O otimizador pode ter eliminado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redundâncias.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9F6AEC-E713-49A4-9377-B041C57F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A6F41-486E-42CA-9C38-AE21E832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02ABA-F433-4948-818F-B437DA3F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Experimento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11AB89-08B9-4E65-95E8-2141395D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Crie CREATE INDEX idx_vt ON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vendas(valor_total). O plano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mudou?</a:t>
            </a:r>
          </a:p>
        </p:txBody>
      </p:sp>
    </p:spTree>
    <p:extLst>
      <p:ext uri="{BB962C8B-B14F-4D97-AF65-F5344CB8AC3E}">
        <p14:creationId xmlns:p14="http://schemas.microsoft.com/office/powerpoint/2010/main" val="20047704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ECA7EE-B012-4C21-A1CC-7CB218EB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4d536dbef4acd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D2189-B3F7-45BC-8034-9E730A44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7C09C-5BDE-4374-B095-018D8769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65182-2B1E-4958-BEB8-46E183D6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F4D96-3DD2-4B66-80C4-D159F921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a4fde32d54d98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08606-912E-44F1-AD5F-FC80202B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DC7F0-8FEC-4088-8E92-61AEB455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Fechamento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D786C-25BB-4CFC-84D5-BCAE59A5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Revisar o que cobrimos, checar dúvidas e preparar o time para o Módulo 2.</a:t>
            </a:r>
          </a:p>
        </p:txBody>
      </p:sp>
    </p:spTree>
    <p:extLst>
      <p:ext uri="{BB962C8B-B14F-4D97-AF65-F5344CB8AC3E}">
        <p14:creationId xmlns:p14="http://schemas.microsoft.com/office/powerpoint/2010/main" val="7013496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5FBE37-6DEA-4A54-9576-5D326397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9887a070148ca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432A6-DC98-4D5C-AF69-ABFE60E7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E7E94-9810-4343-B2B8-B30FC0FD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C4298-C537-4DA1-91D6-DD8275E9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A9A1D-D20E-45ED-9C79-58DD7E16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FA3EB-CE7C-4365-B89B-776D1427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OBJETIVOS DO MÓDULO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29D48-43F1-438B-A4CC-67BDADC4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O que cobrimos hoje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446EC-3932-4D66-AE2E-186D3EFE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Todos os objetivos foram trabalhados em conteúdo e exercícios.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7C3F3-9E16-4176-8F7F-C0B0E05D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C69B4-DADD-4F78-8EA0-A0315F41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B86C0-2821-4564-865D-E3AE0E26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SELECT, WHERE, ORDER BY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D5D93-00EA-438C-AAFB-90A0C454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Seção 1 + Exercícios 1.1, 1.2, 1.3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07045-FA42-49A5-AA83-67A735E9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800DD-2007-4783-B4DF-43F8F5F2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47F71-FF7C-440F-A82C-6A1D886A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JOINs — INNER, LEFT, RIGHT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829302-3193-4D65-A96E-C5EFCF43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Seção 2 + Exercícios 2.1, 2.2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5626C8-20B5-45CA-8ADB-B86A30BF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DC7A3B-2667-458F-960A-74FA0992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8DE79-E690-4B35-9491-DA636C5D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GROUP BY + Agregações + CTEs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E7EBC1-0C02-4E0A-96F7-4E81586B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Seções 3–4 + Exercícios 2.3, 3.2, 3.3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D081DF-CE67-4454-A491-72DDAF68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AE3D98-5EAA-4D96-BC0E-6479C50F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F2D61-26D3-4878-9D44-CA83BDB6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Window Functions + Performance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94C46F-61FF-4926-9B60-4EF30AD3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Seções 5–6 + Exercícios 3.1, 3.2, 3.3</a:t>
            </a:r>
          </a:p>
        </p:txBody>
      </p:sp>
    </p:spTree>
    <p:extLst>
      <p:ext uri="{BB962C8B-B14F-4D97-AF65-F5344CB8AC3E}">
        <p14:creationId xmlns:p14="http://schemas.microsoft.com/office/powerpoint/2010/main" val="4702552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83962B-AE2F-449E-8616-413A96F1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b17375a81463c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28A1B-EC23-4DB1-A66F-7BDC9B05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66238-9901-4CD6-87FE-ED93CD06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9F4FA-A203-4664-8B0C-42E7DD06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1B42D-AD88-4EB7-8D8D-84B0E84B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9C452-DE3D-424E-8AA0-12ABD880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PRÓXIMO MÓDULO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9F808-91AF-48C0-AB73-CABE6BBE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Módulo 2 — Modelagem de Dados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3E35A-1AD6-48DB-977E-564DD553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Pré-requisito: leia o conteudo.md do Módulo 2 antes da próxima sessão.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459B8-0012-4186-8224-8919CB43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8D749-C0B1-447F-B8F3-60D05ABD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3219C-89BD-4C00-A881-BB556700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Modelagem Relacional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3110D-9021-4DD1-854F-DE847256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Entidades, atributos,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cardinalidade — aplicado ao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schema do dados.db.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A1A84-CD14-4A13-A698-0CE75EDE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BD5CE-FF1C-4B99-94D7-352ED431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2B9C7-E486-41C6-895F-6959AA71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Normalização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48718-C785-43B9-8BE4-5D517EA0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1FN, 2FN, 3FN e quando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desnormalizar conscientemente.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9259F-C06F-419D-838E-2FF6AE5E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1015CE-38CE-42C4-BE7B-FBC4FCA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DE639-4289-4296-AB22-7E7C6AA5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Dimensional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1DC603-B0E0-4808-90A9-789B14B9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Fato, dimensão, star schema,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snowflake — como o schema vira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um DW.</a:t>
            </a:r>
          </a:p>
        </p:txBody>
      </p:sp>
    </p:spTree>
    <p:extLst>
      <p:ext uri="{BB962C8B-B14F-4D97-AF65-F5344CB8AC3E}">
        <p14:creationId xmlns:p14="http://schemas.microsoft.com/office/powerpoint/2010/main" val="370583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652BC5-5EE5-4874-BC42-FBFDE87F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f82aee4434ef7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76F60-C342-40C7-AA84-8ACD243F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F46A1-86E7-4D44-A63E-F2A63DF1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2DF21-648D-4386-899F-AF2935CC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18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f573028f148fc"/>
          <a:stretch xmlns:a="http://schemas.openxmlformats.org/drawingml/2006/main"/>
        </p:blipFill>
        <p:spPr>
          <a:xfrm xmlns:a="http://schemas.openxmlformats.org/drawingml/2006/main">
            <a:off x="7683178" y="3638550"/>
            <a:ext cx="4502794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6359C-4FD7-4C65-B70E-F2981313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F4F1C-0507-4B8E-BDBA-7C5A3458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24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4ADBE"/>
                </a:solidFill>
              </a:defRPr>
            </a:pPr>
            <a:r>
              <a:rPr sz="1200" b="0">
                <a:solidFill>
                  <a:srgbClr val="A4ADBE"/>
                </a:solidFill>
              </a:rPr>
              <a:t>Trilha de Engenharia de Dados  •  Módulo 1: SQL Fundamentals</a:t>
            </a:r>
          </a:p>
        </p:txBody>
      </p:sp>
    </p:spTree>
    <p:extLst>
      <p:ext uri="{BB962C8B-B14F-4D97-AF65-F5344CB8AC3E}">
        <p14:creationId xmlns:p14="http://schemas.microsoft.com/office/powerpoint/2010/main" val="654904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2026-05-12T16:42:32.5800000Z</dcterms:created>
  <dcterms:modified xsi:type="dcterms:W3CDTF">2026-05-12T16:42:32.5800000Z</dcterms:modified>
</coreProperties>
</file>