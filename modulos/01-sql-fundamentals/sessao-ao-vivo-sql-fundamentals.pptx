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b681479b4ed4c7f" /><Relationship Type="http://schemas.openxmlformats.org/officeDocument/2006/relationships/extended-properties" Target="/docProps/app.xml" Id="R3a69043e29e946a9" /><Relationship Type="http://schemas.openxmlformats.org/officeDocument/2006/relationships/officeDocument" Target="/ppt/presentation.xml" Id="R50436a27630049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c37cd2444f4a28"/>
  </p:sldMasterIdLst>
  <p:notesMasterIdLst>
    <p:notesMasterId xmlns:r="http://schemas.openxmlformats.org/officeDocument/2006/relationships" r:id="Rf1298e7f5e5449cf"/>
  </p:notesMasterIdLst>
  <p:sldIdLst>
    <p:sldId xmlns:r="http://schemas.openxmlformats.org/officeDocument/2006/relationships" id="256" r:id="R3da06fa3f4e04be0"/>
    <p:sldId xmlns:r="http://schemas.openxmlformats.org/officeDocument/2006/relationships" id="257" r:id="R95499960768e48e7"/>
    <p:sldId xmlns:r="http://schemas.openxmlformats.org/officeDocument/2006/relationships" id="258" r:id="Rf5bb7b1a1b8b434e"/>
    <p:sldId xmlns:r="http://schemas.openxmlformats.org/officeDocument/2006/relationships" id="259" r:id="Rc363881b46834532"/>
    <p:sldId xmlns:r="http://schemas.openxmlformats.org/officeDocument/2006/relationships" id="260" r:id="Rdc4ba1b4b80e4697"/>
    <p:sldId xmlns:r="http://schemas.openxmlformats.org/officeDocument/2006/relationships" id="261" r:id="R93150aa10e754c37"/>
    <p:sldId xmlns:r="http://schemas.openxmlformats.org/officeDocument/2006/relationships" id="262" r:id="Red7b51c7aaaf4c5f"/>
    <p:sldId xmlns:r="http://schemas.openxmlformats.org/officeDocument/2006/relationships" id="263" r:id="Raf5ed46e81b24861"/>
    <p:sldId xmlns:r="http://schemas.openxmlformats.org/officeDocument/2006/relationships" id="264" r:id="R298ed362f0174ada"/>
    <p:sldId xmlns:r="http://schemas.openxmlformats.org/officeDocument/2006/relationships" id="265" r:id="Rf82f0162962143f2"/>
    <p:sldId xmlns:r="http://schemas.openxmlformats.org/officeDocument/2006/relationships" id="266" r:id="Rd5c772613cc84988"/>
    <p:sldId xmlns:r="http://schemas.openxmlformats.org/officeDocument/2006/relationships" id="267" r:id="Rddbffce9241a4ea5"/>
    <p:sldId xmlns:r="http://schemas.openxmlformats.org/officeDocument/2006/relationships" id="268" r:id="R1d99f8e3f38e4ba6"/>
    <p:sldId xmlns:r="http://schemas.openxmlformats.org/officeDocument/2006/relationships" id="269" r:id="R798f392237b34fcd"/>
    <p:sldId xmlns:r="http://schemas.openxmlformats.org/officeDocument/2006/relationships" id="270" r:id="R768c302e71c44ee8"/>
    <p:sldId xmlns:r="http://schemas.openxmlformats.org/officeDocument/2006/relationships" id="271" r:id="R0080a933432a4ecb"/>
    <p:sldId xmlns:r="http://schemas.openxmlformats.org/officeDocument/2006/relationships" id="272" r:id="Rc249593a5f1e43c7"/>
    <p:sldId xmlns:r="http://schemas.openxmlformats.org/officeDocument/2006/relationships" id="273" r:id="R8db292d283cd411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c37cd2444f4a28" /><Relationship Type="http://schemas.openxmlformats.org/officeDocument/2006/relationships/theme" Target="/ppt/theme/theme1.xml" Id="R809c0b71b7d84bc7" /><Relationship Type="http://schemas.openxmlformats.org/officeDocument/2006/relationships/notesMaster" Target="/ppt/notesMasters/notesMaster1.xml" Id="Rf1298e7f5e5449cf" /><Relationship Type="http://schemas.openxmlformats.org/officeDocument/2006/relationships/presProps" Target="/ppt/presProps.xml" Id="Racc68047aad14341" /><Relationship Type="http://schemas.openxmlformats.org/officeDocument/2006/relationships/viewProps" Target="/ppt/viewProps.xml" Id="Rcd65b477e7394d4f" /><Relationship Type="http://schemas.openxmlformats.org/officeDocument/2006/relationships/tableStyles" Target="/ppt/tableStyles.xml" Id="R84af65c148f04a6b" /><Relationship Type="http://schemas.openxmlformats.org/officeDocument/2006/relationships/slide" Target="/ppt/slides/slide1.xml" Id="R3da06fa3f4e04be0" /><Relationship Type="http://schemas.openxmlformats.org/officeDocument/2006/relationships/slide" Target="/ppt/slides/slide2.xml" Id="R95499960768e48e7" /><Relationship Type="http://schemas.openxmlformats.org/officeDocument/2006/relationships/slide" Target="/ppt/slides/slide3.xml" Id="Rf5bb7b1a1b8b434e" /><Relationship Type="http://schemas.openxmlformats.org/officeDocument/2006/relationships/slide" Target="/ppt/slides/slide4.xml" Id="Rc363881b46834532" /><Relationship Type="http://schemas.openxmlformats.org/officeDocument/2006/relationships/slide" Target="/ppt/slides/slide5.xml" Id="Rdc4ba1b4b80e4697" /><Relationship Type="http://schemas.openxmlformats.org/officeDocument/2006/relationships/slide" Target="/ppt/slides/slide6.xml" Id="R93150aa10e754c37" /><Relationship Type="http://schemas.openxmlformats.org/officeDocument/2006/relationships/slide" Target="/ppt/slides/slide7.xml" Id="Red7b51c7aaaf4c5f" /><Relationship Type="http://schemas.openxmlformats.org/officeDocument/2006/relationships/slide" Target="/ppt/slides/slide8.xml" Id="Raf5ed46e81b24861" /><Relationship Type="http://schemas.openxmlformats.org/officeDocument/2006/relationships/slide" Target="/ppt/slides/slide9.xml" Id="R298ed362f0174ada" /><Relationship Type="http://schemas.openxmlformats.org/officeDocument/2006/relationships/slide" Target="/ppt/slides/slide10.xml" Id="Rf82f0162962143f2" /><Relationship Type="http://schemas.openxmlformats.org/officeDocument/2006/relationships/slide" Target="/ppt/slides/slide11.xml" Id="Rd5c772613cc84988" /><Relationship Type="http://schemas.openxmlformats.org/officeDocument/2006/relationships/slide" Target="/ppt/slides/slide12.xml" Id="Rddbffce9241a4ea5" /><Relationship Type="http://schemas.openxmlformats.org/officeDocument/2006/relationships/slide" Target="/ppt/slides/slide13.xml" Id="R1d99f8e3f38e4ba6" /><Relationship Type="http://schemas.openxmlformats.org/officeDocument/2006/relationships/slide" Target="/ppt/slides/slide14.xml" Id="R798f392237b34fcd" /><Relationship Type="http://schemas.openxmlformats.org/officeDocument/2006/relationships/slide" Target="/ppt/slides/slide15.xml" Id="R768c302e71c44ee8" /><Relationship Type="http://schemas.openxmlformats.org/officeDocument/2006/relationships/slide" Target="/ppt/slides/slide16.xml" Id="R0080a933432a4ecb" /><Relationship Type="http://schemas.openxmlformats.org/officeDocument/2006/relationships/slide" Target="/ppt/slides/slide17.xml" Id="Rc249593a5f1e43c7" /><Relationship Type="http://schemas.openxmlformats.org/officeDocument/2006/relationships/slide" Target="/ppt/slides/slide18.xml" Id="R8db292d283cd41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fe08d5a1c024d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75822b392b4478" /><Relationship Type="http://schemas.openxmlformats.org/officeDocument/2006/relationships/notesMaster" Target="/ppt/notesMasters/notesMaster1.xml" Id="Red0e7f78bbbe4c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dd490f9e69c46f2" /><Relationship Type="http://schemas.openxmlformats.org/officeDocument/2006/relationships/notesMaster" Target="/ppt/notesMasters/notesMaster1.xml" Id="R578b8e69a30f48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8459fd735484321" /><Relationship Type="http://schemas.openxmlformats.org/officeDocument/2006/relationships/notesMaster" Target="/ppt/notesMasters/notesMaster1.xml" Id="R1bfce59080544e2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ac681f27ca43c7" /><Relationship Type="http://schemas.openxmlformats.org/officeDocument/2006/relationships/notesMaster" Target="/ppt/notesMasters/notesMaster1.xml" Id="R1402a8b7191748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bab797d50b4ce9" /><Relationship Type="http://schemas.openxmlformats.org/officeDocument/2006/relationships/notesMaster" Target="/ppt/notesMasters/notesMaster1.xml" Id="R7d2139b817a84c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ad9f9a126c4678" /><Relationship Type="http://schemas.openxmlformats.org/officeDocument/2006/relationships/notesMaster" Target="/ppt/notesMasters/notesMaster1.xml" Id="R780ad0f24eee4a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5b6fc5c2ab4834" /><Relationship Type="http://schemas.openxmlformats.org/officeDocument/2006/relationships/notesMaster" Target="/ppt/notesMasters/notesMaster1.xml" Id="R1dd0e7bd601f4d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b72f8943e549df" /><Relationship Type="http://schemas.openxmlformats.org/officeDocument/2006/relationships/notesMaster" Target="/ppt/notesMasters/notesMaster1.xml" Id="R29988e21ac8649d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759a3eaf1546d6" /><Relationship Type="http://schemas.openxmlformats.org/officeDocument/2006/relationships/notesMaster" Target="/ppt/notesMasters/notesMaster1.xml" Id="Ra3e733691a314b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f6518ddf7b14739" /><Relationship Type="http://schemas.openxmlformats.org/officeDocument/2006/relationships/notesMaster" Target="/ppt/notesMasters/notesMaster1.xml" Id="R8c7b4c3b23c547a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cc8d8dac504dbe" /><Relationship Type="http://schemas.openxmlformats.org/officeDocument/2006/relationships/notesMaster" Target="/ppt/notesMasters/notesMaster1.xml" Id="R31e59c6e33e242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c6a1dda20f4154" /><Relationship Type="http://schemas.openxmlformats.org/officeDocument/2006/relationships/notesMaster" Target="/ppt/notesMasters/notesMaster1.xml" Id="R5662db6e9be447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851c1e1dcfc47c3" /><Relationship Type="http://schemas.openxmlformats.org/officeDocument/2006/relationships/notesMaster" Target="/ppt/notesMasters/notesMaster1.xml" Id="Rdb132741f00f40c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d72666e34b4448" /><Relationship Type="http://schemas.openxmlformats.org/officeDocument/2006/relationships/notesMaster" Target="/ppt/notesMasters/notesMaster1.xml" Id="R4b49974b3f58481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e72fc82455a4752" /><Relationship Type="http://schemas.openxmlformats.org/officeDocument/2006/relationships/notesMaster" Target="/ppt/notesMasters/notesMaster1.xml" Id="Ref7b902bbe1e4a3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3e657f179134284" /><Relationship Type="http://schemas.openxmlformats.org/officeDocument/2006/relationships/notesMaster" Target="/ppt/notesMasters/notesMaster1.xml" Id="R96e236002d314d4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9eb9e40cc5e4e65" /><Relationship Type="http://schemas.openxmlformats.org/officeDocument/2006/relationships/notesMaster" Target="/ppt/notesMasters/notesMaster1.xml" Id="R4e7ae4c338b849f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724b703fb10400c" /><Relationship Type="http://schemas.openxmlformats.org/officeDocument/2006/relationships/notesMaster" Target="/ppt/notesMasters/notesMaster1.xml" Id="R02f114eec09a45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9905d019f2436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8e55f1f7d2344a9" /><Relationship Type="http://schemas.openxmlformats.org/officeDocument/2006/relationships/slideLayout" Target="/ppt/slideLayouts/slideLayout2.xml" Id="R405865bc78e54a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05865bc78e54a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0b7631bfc3470b" /><Relationship Type="http://schemas.openxmlformats.org/officeDocument/2006/relationships/image" Target="/ppt/media/image.png" Id="R060303e1f34c4100" /><Relationship Type="http://schemas.openxmlformats.org/officeDocument/2006/relationships/image" Target="/ppt/media/image2.png" Id="R9aee2344f24b4bdd" /><Relationship Type="http://schemas.openxmlformats.org/officeDocument/2006/relationships/notesSlide" Target="/ppt/notesSlides/notesSlide1.xml" Id="R7edc6236cdc84a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1dc2bf27874b92" /><Relationship Type="http://schemas.openxmlformats.org/officeDocument/2006/relationships/image" Target="/ppt/media/image3.png" Id="R7c812f9487f84442" /><Relationship Type="http://schemas.openxmlformats.org/officeDocument/2006/relationships/notesSlide" Target="/ppt/notesSlides/notesSlide2.xml" Id="R85187849b8c3442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77eea6f7954330" /><Relationship Type="http://schemas.openxmlformats.org/officeDocument/2006/relationships/image" Target="/ppt/media/image4.png" Id="R337e8242111d4a2c" /><Relationship Type="http://schemas.openxmlformats.org/officeDocument/2006/relationships/image" Target="/ppt/media/image5.png" Id="Rc43acf2e3d0f4747" /><Relationship Type="http://schemas.openxmlformats.org/officeDocument/2006/relationships/notesSlide" Target="/ppt/notesSlides/notesSlide3.xml" Id="Rf48bab34ac9741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a43db9c61a4086" /><Relationship Type="http://schemas.openxmlformats.org/officeDocument/2006/relationships/image" Target="/ppt/media/image6.png" Id="R7523bd47e2ca4370" /><Relationship Type="http://schemas.openxmlformats.org/officeDocument/2006/relationships/notesSlide" Target="/ppt/notesSlides/notesSlide4.xml" Id="R816550194a784b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d55ae4fd4a4501" /><Relationship Type="http://schemas.openxmlformats.org/officeDocument/2006/relationships/image" Target="/ppt/media/image7.png" Id="R833608c110ba4596" /><Relationship Type="http://schemas.openxmlformats.org/officeDocument/2006/relationships/image" Target="/ppt/media/image8.png" Id="R0430cac32bd94c84" /><Relationship Type="http://schemas.openxmlformats.org/officeDocument/2006/relationships/notesSlide" Target="/ppt/notesSlides/notesSlide5.xml" Id="R22f243c0679041a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641c78b04a4649" /><Relationship Type="http://schemas.openxmlformats.org/officeDocument/2006/relationships/image" Target="/ppt/media/image9.png" Id="R8f9f3c03af734c4b" /><Relationship Type="http://schemas.openxmlformats.org/officeDocument/2006/relationships/notesSlide" Target="/ppt/notesSlides/notesSlide6.xml" Id="Rcab277d0a33f47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163ed5fbb646b4" /><Relationship Type="http://schemas.openxmlformats.org/officeDocument/2006/relationships/image" Target="/ppt/media/image10.png" Id="Rb8b4e46ccaa74655" /><Relationship Type="http://schemas.openxmlformats.org/officeDocument/2006/relationships/notesSlide" Target="/ppt/notesSlides/notesSlide7.xml" Id="R0a3686b3616b42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a580429bade4026" /><Relationship Type="http://schemas.openxmlformats.org/officeDocument/2006/relationships/image" Target="/ppt/media/image11.png" Id="Rdd0fe1b035c2429a" /><Relationship Type="http://schemas.openxmlformats.org/officeDocument/2006/relationships/notesSlide" Target="/ppt/notesSlides/notesSlide8.xml" Id="R4152b39e316e4b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b27a04c39947b0" /><Relationship Type="http://schemas.openxmlformats.org/officeDocument/2006/relationships/image" Target="/ppt/media/image12.png" Id="R4237140acb0742bb" /><Relationship Type="http://schemas.openxmlformats.org/officeDocument/2006/relationships/notesSlide" Target="/ppt/notesSlides/notesSlide9.xml" Id="R341b72ceaa1e40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d1cbb7f7ef4ef9" /><Relationship Type="http://schemas.openxmlformats.org/officeDocument/2006/relationships/image" Target="/ppt/media/image13.png" Id="Rbe0ff1b3dc654990" /><Relationship Type="http://schemas.openxmlformats.org/officeDocument/2006/relationships/image" Target="/ppt/media/image14.png" Id="R1bf83a158f314f23" /><Relationship Type="http://schemas.openxmlformats.org/officeDocument/2006/relationships/notesSlide" Target="/ppt/notesSlides/notesSlide10.xml" Id="R4606d95c6b7048e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24e4d1ce35494d" /><Relationship Type="http://schemas.openxmlformats.org/officeDocument/2006/relationships/image" Target="/ppt/media/image15.png" Id="R1b6669d3e4ce40c3" /><Relationship Type="http://schemas.openxmlformats.org/officeDocument/2006/relationships/notesSlide" Target="/ppt/notesSlides/notesSlide11.xml" Id="R860834b6f60f4f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90a0246ed543c6" /><Relationship Type="http://schemas.openxmlformats.org/officeDocument/2006/relationships/image" Target="/ppt/media/image16.png" Id="R36eecc23e49549ec" /><Relationship Type="http://schemas.openxmlformats.org/officeDocument/2006/relationships/notesSlide" Target="/ppt/notesSlides/notesSlide12.xml" Id="R0f4bece42ff44d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214415b0bf44e5" /><Relationship Type="http://schemas.openxmlformats.org/officeDocument/2006/relationships/image" Target="/ppt/media/image17.png" Id="Re9e94c5425b74b1a" /><Relationship Type="http://schemas.openxmlformats.org/officeDocument/2006/relationships/notesSlide" Target="/ppt/notesSlides/notesSlide13.xml" Id="Rf85428178b534b9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709b29ab824fdc" /><Relationship Type="http://schemas.openxmlformats.org/officeDocument/2006/relationships/image" Target="/ppt/media/image18.png" Id="R9b959091bb934a97" /><Relationship Type="http://schemas.openxmlformats.org/officeDocument/2006/relationships/notesSlide" Target="/ppt/notesSlides/notesSlide14.xml" Id="R82aaa95207244ec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08082070224c05" /><Relationship Type="http://schemas.openxmlformats.org/officeDocument/2006/relationships/image" Target="/ppt/media/image19.png" Id="Rc8e077b87aff4580" /><Relationship Type="http://schemas.openxmlformats.org/officeDocument/2006/relationships/image" Target="/ppt/media/image20.png" Id="R14a495a5147c41e9" /><Relationship Type="http://schemas.openxmlformats.org/officeDocument/2006/relationships/notesSlide" Target="/ppt/notesSlides/notesSlide15.xml" Id="R6ddff58f5d2b471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e0f9525e714d38" /><Relationship Type="http://schemas.openxmlformats.org/officeDocument/2006/relationships/image" Target="/ppt/media/image21.png" Id="Rd7bfc18750854ce8" /><Relationship Type="http://schemas.openxmlformats.org/officeDocument/2006/relationships/notesSlide" Target="/ppt/notesSlides/notesSlide16.xml" Id="Rfddde36750c5429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bc3327d09f4d08" /><Relationship Type="http://schemas.openxmlformats.org/officeDocument/2006/relationships/image" Target="/ppt/media/image22.png" Id="Rdb33be1bb8804c41" /><Relationship Type="http://schemas.openxmlformats.org/officeDocument/2006/relationships/notesSlide" Target="/ppt/notesSlides/notesSlide17.xml" Id="Rce4df3527ca0471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ec3a73a35b4d11" /><Relationship Type="http://schemas.openxmlformats.org/officeDocument/2006/relationships/image" Target="/ppt/media/image23.png" Id="R4857bf1020294887" /><Relationship Type="http://schemas.openxmlformats.org/officeDocument/2006/relationships/image" Target="/ppt/media/image24.png" Id="R093a7d5baf1149cc" /><Relationship Type="http://schemas.openxmlformats.org/officeDocument/2006/relationships/notesSlide" Target="/ppt/notesSlides/notesSlide18.xml" Id="R490579abb44643d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49E217-9979-4F40-9E56-107B301D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303e1f34c410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11F26-D2EF-48B1-9585-50D8A9CF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89BF1-0ECB-46D5-AEAD-C483E118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C1AA69-2F54-478D-9EFA-324DE6E2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e2344f24b4bdd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2C95CB-8B76-4E37-B509-FA8C6FD7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666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TRILHA DE ENGENHARIA DE DADOS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1A3654-9E21-442F-8D85-817A33DA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500" b="0">
                <a:solidFill>
                  <a:srgbClr val="FFFFFF"/>
                </a:solidFill>
              </a:defRPr>
            </a:pPr>
            <a:r>
              <a:rPr sz="4500" b="0">
                <a:solidFill>
                  <a:srgbClr val="FFFFFF"/>
                </a:solidFill>
              </a:rPr>
              <a:t>SQL Fundamentals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D702C-3910-4FE8-B9B8-4A376108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10000"/>
            <a:ext cx="666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Módulo 1  •  Sessão ao Vivo  •  2 horas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434B8B-C8BE-490D-AED5-694FC8465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76750"/>
            <a:ext cx="571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ADADC9-7047-4AEC-8AA1-CE49BFDBB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52950"/>
            <a:ext cx="571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Dados bem consultados começam aqui.</a:t>
            </a:r>
          </a:p>
        </p:txBody>
      </p:sp>
    </p:spTree>
    <p:extLst>
      <p:ext uri="{BB962C8B-B14F-4D97-AF65-F5344CB8AC3E}">
        <p14:creationId xmlns:p14="http://schemas.microsoft.com/office/powerpoint/2010/main" val="61143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B5B9F0-F76F-41AF-85C1-0F847C58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812f9487f84442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223E1-3A7F-4435-B544-77670F68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6E97A-5FC3-4ED1-9275-D8E68C24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B7AC3-27E4-4669-A76D-8B7ED73B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E4757-DFEB-4F6C-8672-013A4F89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352B85-72D6-4032-96E2-BEF485AA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AGENDA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3F0DC1-B2C7-45E4-8FC6-54E4133B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vamos fazer hoje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CF85B-3E0D-40F6-9EE3-EC7C2B85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Sessão de 2 horas com foco em prática e dúvidas reais do grupo.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1A58E0-21DC-45C7-A13B-BE97FDA8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CD31A0-7012-43CE-9E37-D14C2471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5E443-BFDE-4BE8-B4C5-B5D6E4CD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Abertura — 10 min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39B229-1331-4903-A1AE-C072C74F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Verificação de ambiente SQLite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 sondagem do grupo.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E48605-5763-40D9-A9AD-CFE24A34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7BC887-1290-4B7D-B372-E5D85019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539E3-5829-448A-8673-55F0F853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Bloco de Dúvidas — 30 min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B7D2A-B0E6-41B9-9AD0-3E95808E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WHERE vs HAVING, CTE vs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Subquery, LEFT JOIN, datas no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SQLite.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F23E4B-0777-4503-A2EE-1439EAAD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27CFD0-A0D5-4C52-8DDE-C3D8F908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590DC1-5212-473A-8B40-F366509B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Exercício em Grupo — 60 min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AD9B37-1920-4371-B02A-A8BC5913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Refatoração coletiva do Ex 3.3.</a:t>
            </a:r>
          </a:p>
        </p:txBody>
      </p:sp>
    </p:spTree>
    <p:extLst>
      <p:ext uri="{BB962C8B-B14F-4D97-AF65-F5344CB8AC3E}">
        <p14:creationId xmlns:p14="http://schemas.microsoft.com/office/powerpoint/2010/main" val="2946836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FE5FB1-272B-449B-B457-F666DF4B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7e8242111d4a2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C15F02-4EF6-408D-8E89-B95D1D62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B0342-01CB-4269-B19A-9BA10CAA1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4852DC-F0C9-44C7-A0F1-A1EF13F5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7036B-A391-4234-8919-FCE7BAA3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3acf2e3d0f4747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0A69CA-37DF-49FB-8A84-35550020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66E1D9-4676-45FB-92AE-CB0D214C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Abertura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0A677-A038-42D0-99A0-4694D152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Garantir que todos consigam conectar ao banco antes de avançar.</a:t>
            </a:r>
          </a:p>
        </p:txBody>
      </p:sp>
    </p:spTree>
    <p:extLst>
      <p:ext uri="{BB962C8B-B14F-4D97-AF65-F5344CB8AC3E}">
        <p14:creationId xmlns:p14="http://schemas.microsoft.com/office/powerpoint/2010/main" val="18383810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2D613C-AA9A-4114-A1D6-595D2A8A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3bd47e2ca437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22FDD4-14CE-402A-8D9D-D89010D4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2FCD7-F4A7-4826-9372-6A64E502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80C6F9-A58A-4A3E-9797-3EE068EF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B77823-FC7B-46F7-9A94-C2B66F97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1006F-E084-4EC7-B8B5-C1CAC86D9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VERIFICAÇÃO DE AMBIENTE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7F354-E2E3-4FA8-8EF9-21DE189F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Banco funcionando? Rode a query abaixo.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52F5E8-F2D5-4770-8F99-600C2FB1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Resultado esperado: 3000. Se não funcionar, gere o banco com setup_db.py primeiro.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1D3E1D-428A-4EE0-B922-0AECB3C72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867DA5-F2BE-4787-87C7-7F817EF3F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6D9B85-0190-4B44-BE58-BEE05657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QUERY DE VERIFICAÇÃO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D11E6B-0669-4F40-9FD4-AED8F0D0E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SELECT COUNT(*) AS total_vendas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FROM vendas;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-- Resultado esperado: 3000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Se retornou 0 ou erro: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$ python recursos/setup_db.py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E9BF6A-0936-485A-B29C-90BED77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A1E6CB-93FD-4862-8506-4874B3D3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166387-2DD9-4907-8692-CE5047FA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FORMAS DE CONECTAR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61BD6F-F44B-459C-8526-7AA5A3BC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SQLite CLI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$ sqlite3 recursos/dados.db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&gt; .headers on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&gt; .mode column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Python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import sqlite3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conn = sqlite3.connect(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'recursos/dados.db'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43226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A8369A-4AAA-4562-8900-65EF2A1B6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608c110ba4596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C4203-9442-404A-AD37-3C05EB31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01F32-F8A5-4ED7-8A58-665E21AC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8D90D2-E984-4452-813A-EC0D3DEC1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23ADE-D0D9-49A2-ACE6-0571845D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0cac32bd94c84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2D221C-16F9-4D5C-97DB-A2B7147D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7DE26-5E83-450C-AE64-006CF5FC6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Bloco de Dúvidas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E8039-3EE5-48FA-973E-B3B84CD4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Resolver as dúvidas do conteúdo e consolidar conceitos que mais geram confusão.</a:t>
            </a:r>
          </a:p>
        </p:txBody>
      </p:sp>
    </p:spTree>
    <p:extLst>
      <p:ext uri="{BB962C8B-B14F-4D97-AF65-F5344CB8AC3E}">
        <p14:creationId xmlns:p14="http://schemas.microsoft.com/office/powerpoint/2010/main" val="554847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F06C90C-0A93-45CC-963E-AA0CE77D8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f3c03af734c4b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E0935-1070-4F9E-95A7-E7ABDDF2A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5A4FFD-5E05-4469-9316-B7AC3AF8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4E7DB9-84F0-4523-A211-B8450C5D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E75CE4-68EB-4C47-9DB4-E6D2361F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83489-F57F-462A-80E7-DF0F108F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DÚVIDA 1 DE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57152F-0E25-497F-8364-85E8687E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WHERE vs HAVING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702BE9-8239-403E-9687-8CD7342F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Regra: condição sobre função de agregação → HAVING. Qualquer outra condição → WHERE.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56468C-346A-412C-B373-6B209FB1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16DFD7-83D1-4B02-92C2-1D37E28A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B2F5D-6D01-44A3-AA9F-DDF2F583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ERRADO — WHERE com agregação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7BB5FF-B422-4CFE-A296-80CF1B4BF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SELECT cat.nome, SUM(p.preco) AS total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FROM produtos p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INNER JOIN categorias cat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ON p.categoria_id = cat.categoria_id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WHERE SUM(p.preco) &gt; 1000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GROUP BY cat.nome;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-- Erro de sintaxe!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FFD02C-78DE-429A-89ED-69C9A57C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4766EC-505F-428F-AF82-746DA92E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4C846B-BF0C-402A-BAEE-1696B75D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CORRETO — HAVING pós-GROUP BY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8E70BD-28CB-466E-97E7-AA52E802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SELECT cat.nome, SUM(p.preco) AS total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FROM produtos p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INNER JOIN categorias cat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ON p.categoria_id = cat.categoria_id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GROUP BY cat.nome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HAVING SUM(p.preco) &gt; 1000;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-- Execute para verificar</a:t>
            </a:r>
          </a:p>
        </p:txBody>
      </p:sp>
    </p:spTree>
    <p:extLst>
      <p:ext uri="{BB962C8B-B14F-4D97-AF65-F5344CB8AC3E}">
        <p14:creationId xmlns:p14="http://schemas.microsoft.com/office/powerpoint/2010/main" val="16613568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9B5A18-356A-4B74-81AC-820AB0EC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b4e46ccaa74655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890FB4-3439-4F75-A708-D4EF4C6B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1A162-D15F-4BAE-9F47-FD0B6F63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089DB-0B59-404C-9505-389EB109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71266C-013D-4E0D-BB3B-3E47FEB3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F6C4C-40DD-4F6F-AD91-59E86C1AC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DÚVIDA 2 DE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251821-7710-4038-AEA5-AD09F582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CTE vs Subquery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E992FE-9E94-4A58-97B1-99FF6816F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Mesma performance na maioria dos casos. A diferença está em legibilidade e manutenção.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CEDA15-94F6-49D4-8F58-FCF4EA09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BC501F-398A-42FE-865A-C1B02E002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B22BC9-D6E9-44F9-907E-054BB2DA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SUBQUERY — difícil de ler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AAF4C-2C58-4A95-878F-FE0288D0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SELECT nome FROM clientes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WHERE cliente_id IN 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SELECT cliente_id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FROM vendas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GROUP BY cliente_id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HAVING SUM(valor_total) &gt; 1000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34874D-E93A-41F5-A5F8-2BA3C061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953962-5091-4C33-B7D9-4A1682B8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C3DD6-9D9A-47B4-AFC0-34645D62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CTE — fácil de ler e testar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0C25C-1A52-4C63-A990-3F9AF43F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WITH clientes_valiosos AS (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SELECT cliente_id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FROM vendas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GROUP BY cliente_id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HAVING SUM(valor_total) &gt; 1000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SELECT c.nome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FROM clientes c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INNER JOIN clientes_valiosos cv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ON c.cliente_id = cv.cliente_id;</a:t>
            </a:r>
          </a:p>
        </p:txBody>
      </p:sp>
    </p:spTree>
    <p:extLst>
      <p:ext uri="{BB962C8B-B14F-4D97-AF65-F5344CB8AC3E}">
        <p14:creationId xmlns:p14="http://schemas.microsoft.com/office/powerpoint/2010/main" val="4315179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77D876-4907-477F-9D24-F9EF148A7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fe1b035c2429a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AF09FE-2854-4E26-BB9D-637750A3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D569D0-2EC0-4DA5-A3FD-E4E9DC28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D659C-FFD5-46FA-8FD0-68AFFB84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DF70E9-5096-4E28-8DE1-2465BFE5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83731-F48B-4CDA-8835-877BC86B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DÚVIDA 3 DE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CA8A6B-9998-44D5-A6FC-40130184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LEFT JOIN — Encontrar o que não existe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DC8458-5888-4FB7-8878-ECF28AC67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Padrão: LEFT JOIN + WHERE &lt;pk_tabela_direita&gt; IS NULL. Sempre checar a chave primária.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B879E-1380-4A37-BBEC-4372537F6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C9DE3D-A2B2-4E6C-9FEA-8AF39812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9FD016-7471-4F2B-87D1-788E55C3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PADRÃO CORRETO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34A7CD-8BCE-476D-89A1-1B7AE719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-- Clientes que nunca compraram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SELECT c.nome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FROM clientes AS c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LEFT JOIN vendas AS v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ON c.cliente_id = v.cliente_id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WHERE v.venda_id IS NULL;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-- Checar PK (venda_id), não FK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58DFA4-1A7A-4B96-B494-AA229268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14CA0-B170-4277-9D85-0C17C052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C19B64-2C7B-4202-935C-A5A7F8691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ARMADILHA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997FA-9087-445F-9388-AC09F1DB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-- Parece equivalente, mas pode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-- não ser em todos os bancos: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WHERE v.cliente_id IS NULL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Se cliente_id for NOT NULL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em vendas, o comportamento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pode ser inesperado.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Sempre cheque a PK da direita.</a:t>
            </a:r>
          </a:p>
        </p:txBody>
      </p:sp>
    </p:spTree>
    <p:extLst>
      <p:ext uri="{BB962C8B-B14F-4D97-AF65-F5344CB8AC3E}">
        <p14:creationId xmlns:p14="http://schemas.microsoft.com/office/powerpoint/2010/main" val="12639755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E3891F6-4CEA-4AD3-A54D-A6F5FCAB2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37140acb0742bb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44CBC3-9FF0-44F9-9130-85D59BFB4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B334A-E3ED-4656-A470-BC68AA432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D1CD0-E697-4356-8683-4F598357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B3F1E6-CE05-474E-9998-BDD1149E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1A754B-EA5D-441E-B1FD-A03FCF90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DÚVIDA 4 DE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6A8609-1114-4DF3-A97C-C36DC663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Datas no SQLite — strftime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7D9ECD-7DB7-4E89-A273-E5592E11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SQLite não tem DATE_TRUNC. Use strftime('%Y-%m', coluna) para agrupar por período.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1BE7AD-BCF6-41FE-98F2-69230FCB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53E975-5409-4B95-8151-7F6DA96F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C317C-5237-4C9B-8717-B6F947C3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RECEITA POR MÊS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D5F500-E713-45D5-9190-3C8A8158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SELECT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strftime('%Y-%m', data_venda) AS mes,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SUM(valor_total)              AS receita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FROM vendas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GROUP BY strftime('%Y-%m', data_venda)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ORDER BY mes;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E3A655-A80D-4883-9942-32C06EA7F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97C24A-EE48-4F0F-8BDC-0C35ACC0B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D980E-DC05-4045-BAD4-CD9C6854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FILTROS ÚTEIS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9FBF1-22D1-4A49-8401-9CA9FFE9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-- Filtrar por ano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WHERE strftime('%Y', data_venda)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= '2024'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-- Filtrar por mês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WHERE strftime('%Y-%m', data_venda)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= '2024-03'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-- Formatos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-- %Y → 2024 | %m → 03 | %d → 15</a:t>
            </a:r>
          </a:p>
        </p:txBody>
      </p:sp>
    </p:spTree>
    <p:extLst>
      <p:ext uri="{BB962C8B-B14F-4D97-AF65-F5344CB8AC3E}">
        <p14:creationId xmlns:p14="http://schemas.microsoft.com/office/powerpoint/2010/main" val="21441411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3E8D0C-928E-455F-A120-65B52B9C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ff1b3dc65499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9E09E-6A6B-4E56-A993-9E20DE41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566EC-FAA6-45E2-8882-0933E97F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9D47D-B540-45B7-9A2F-2D7B646D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D43FC7-3182-45EE-B2F0-C6F75135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83a158f314f23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924E2-9464-4363-B9DB-2E0C06E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E53CD-43D0-4221-8B1C-D27A3C2C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Exercício em Grupo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3F79CB-936A-4F46-B679-A46E6E98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Refatorar coletivamente o Exercício 3.3 — uma query com quatro problemas reais.</a:t>
            </a:r>
          </a:p>
        </p:txBody>
      </p:sp>
    </p:spTree>
    <p:extLst>
      <p:ext uri="{BB962C8B-B14F-4D97-AF65-F5344CB8AC3E}">
        <p14:creationId xmlns:p14="http://schemas.microsoft.com/office/powerpoint/2010/main" val="22600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40E1B6-2C69-4295-9C17-FE2A0253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6669d3e4ce40c3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1B2A7D-BFDD-4B7D-A45C-04840625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9FAEB-84C6-4663-89D2-347A5016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45936-F40E-4447-A0C9-9D18FF370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A4C9B6-B3D3-43EC-BED6-23364A8E7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D0403-057D-427B-9B15-644D33DB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 3.3  —  ETAPA 1 DE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CA386A-BDE2-4FF8-9EE9-C4B3E0C1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A query original — o que ela faz?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D19137-55AE-47BA-8D47-9E49936C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Leia em silêncio por 2 minutos. O que essa query retorna? Onde você vê desperdício?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6F1C1-29E6-420E-9692-BF52C12C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968A90-CFBC-47F9-9796-550A0CAE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6066C0-F82D-4B1D-A295-9A85742C7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QUERY ORIGINAL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F3981F-67DF-4274-A30E-50C77209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SELECT *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FROM 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SELECT * FROM clientes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 AS todos_clientes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WHERE cliente_id IN 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SELECT cliente_id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FROM vendas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WHERE valor_total &gt; 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SELECT AVG(valor_total)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FROM vendas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WHERE cliente_id IN 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SELECT cliente_id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    FROM clientes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  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)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559A84-C577-4CD4-8ED9-7E0B9849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B37D8-346F-47CA-82C0-7DC9638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346EAD-5673-4DCE-82E3-D9CA62DB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PERGUNTAS AO GRUPO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5C3DE7-11D1-4204-95DC-0D0D46F5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1. O que essa query retorna?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Explique em uma frase.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2. Quantas subqueries ela tem?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3. Alguma delas é desnecessária?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4. O banco calcula AVG(valor_total)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uma vez, ou uma vez por linha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de vendas?</a:t>
            </a:r>
          </a:p>
        </p:txBody>
      </p:sp>
    </p:spTree>
    <p:extLst>
      <p:ext uri="{BB962C8B-B14F-4D97-AF65-F5344CB8AC3E}">
        <p14:creationId xmlns:p14="http://schemas.microsoft.com/office/powerpoint/2010/main" val="322677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AFA3B5-1F7C-4385-9FB9-F8457E80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eecc23e49549ec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22298-318E-4E01-83C4-D49314D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A2EE7C-6CC7-4DAD-B6C3-BD3F0357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92CD1-080D-4C0E-BF7F-CA72D341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B7DB5-88B3-4BC6-97F2-413228A9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21C2C-9D15-4DA4-8F9F-46D08F39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 3.3  —  ETAPA 2 DE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016288-A015-4C5F-AD6F-CA118E69A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Os quatro problemas — identificar antes de reescrever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2876D2-684B-47F1-ABE8-1ED38E1B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Guiar o grupo através de cada ponto de desperdício. Não revelar a solução ainda.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7C2088-DB35-424D-B87F-0C3C13EC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208E8-6B1E-49D5-A382-740F4001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39A73-945E-411F-8D2F-8DB5388E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BC3F90-D6F8-41D1-93EC-4A019F80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SELECT *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68CE21-3596-4BF1-BC02-392DDE4B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Quais colunas o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resultado precisa?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Listar reduz I/O e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clareia intenção.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569896-DD6E-4EC1-9599-0C1A50E0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072638-CFD2-4F92-964A-D18FF43D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62742F-D863-4E33-9D8A-9E1DB54E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18E558-9D3B-48DF-9F04-3F498130C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Subquery inútil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4E510C-D37B-45ED-8BC4-52C0ECEA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FROM (SELECT * FROM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clientes) não filtra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nem transforma.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A998D7-A0C4-4BDF-BEA5-A494BBE5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AC8780-F842-48E2-9617-C2727BB7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EE5610-BD80-469E-9E0B-16BEF156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FCC40A-78C1-4985-9051-9683FE89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FK redundante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2F41A9-FFEA-480E-8F5F-BFE1BC46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cliente_id em vendas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sempre existe em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clientes (FK).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461DD6-7C12-4996-9E62-13EA0DB6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57500"/>
            <a:ext cx="24574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BDF3D8-10AA-4F58-B3E7-3A4D7486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57500"/>
            <a:ext cx="2457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2C2CC5-2368-4280-A33E-0DB9AB82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067050"/>
            <a:ext cx="571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5811F"/>
                </a:solidFill>
              </a:defRPr>
            </a:pPr>
            <a:r>
              <a:rPr sz="2700" b="1">
                <a:solidFill>
                  <a:srgbClr val="F5811F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E3B501-7F17-4414-8619-F4BB04C6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714750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1B3E"/>
                </a:solidFill>
              </a:defRPr>
            </a:pPr>
            <a:r>
              <a:rPr sz="1050" b="1">
                <a:solidFill>
                  <a:srgbClr val="0E1B3E"/>
                </a:solidFill>
              </a:rPr>
              <a:t>AVG repetido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B13E618-84DF-4BC3-9444-77777670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95750"/>
            <a:ext cx="20764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Subquery escalar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recalcula AVG por</a:t>
            </a:r>
          </a:p>
          <a:p xmlns:a="http://schemas.openxmlformats.org/drawingml/2006/main">
            <a:pPr algn="l">
              <a:defRPr sz="900" b="0">
                <a:solidFill>
                  <a:srgbClr val="3F4A5F"/>
                </a:solidFill>
              </a:defRPr>
            </a:pPr>
            <a:r>
              <a:rPr sz="900" b="0">
                <a:solidFill>
                  <a:srgbClr val="3F4A5F"/>
                </a:solidFill>
              </a:rPr>
              <a:t>linha. Isolar em CTE.</a:t>
            </a:r>
          </a:p>
        </p:txBody>
      </p:sp>
    </p:spTree>
    <p:extLst>
      <p:ext uri="{BB962C8B-B14F-4D97-AF65-F5344CB8AC3E}">
        <p14:creationId xmlns:p14="http://schemas.microsoft.com/office/powerpoint/2010/main" val="9717233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D3A4FD-C10A-401C-BF3C-CB70C556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e94c5425b74b1a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2C3962-77FB-431E-B454-C9E54C7E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53B28-A3BB-48E7-9636-C0AD6249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ACAF5B-ABBD-463A-9F75-FAF18C4B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0F043E-3A5E-4634-B213-0B7785D7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98462-11B1-4C2D-AEBE-C9ECC22F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 3.3  —  ETAPA 3 DE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F3B46C-EDD3-4992-981D-480576DB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Query refatorada — construída coletivamente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DB4C9-802B-47C5-A511-487388B3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Construir ao vivo, passo a passo. Verificar que o resultado é idêntico à query original.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71CB3B-BD46-4A8F-B72B-0AEE884A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731C25-95FC-4D5D-9476-E47EAD1A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C0D811-0377-4E6F-AA84-4A244833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PASSO 1 + 2 — As CTEs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2AC95C-2102-43E4-BF8E-30D5D83C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WITH media_vendas AS 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SELECT AVG(valor_total) AS media_geral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FROM vendas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),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clientes_acima AS (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SELECT DISTINCT v.cliente_id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FROM vendas AS v, media_vendas AS m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    WHERE v.valor_total &gt; m.media_geral</a:t>
            </a:r>
          </a:p>
          <a:p xmlns:a="http://schemas.openxmlformats.org/drawingml/2006/main">
            <a:pPr algn="l">
              <a:defRPr sz="900" b="0">
                <a:solidFill>
                  <a:srgbClr val="1A2440"/>
                </a:solidFill>
              </a:defRPr>
            </a:pPr>
            <a:r>
              <a:rPr sz="900" b="0">
                <a:solidFill>
                  <a:srgbClr val="1A2440"/>
                </a:solidFill>
              </a:rPr>
              <a:t>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66DE9D-1477-4F65-8E47-B9C1C450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2748"/>
          </a:solidFill>
          <a:ln xmlns:a="http://schemas.openxmlformats.org/drawingml/2006/main" w="9525">
            <a:solidFill>
              <a:srgbClr val="2A36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4574B7-1C50-4865-B1E2-ECC597C4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71750"/>
            <a:ext cx="4857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78C84D-BA15-46EC-92B3-E791B4DB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4514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PASSO 3 — Query final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856F3-43DA-4739-80D3-2171AC55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67050"/>
            <a:ext cx="45148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SELECT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c.cliente_id, c.nome,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c.email, c.cidade,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c.estado, c.data_cadastro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FROM clientes AS c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INNER JOIN clientes_acima AS ca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    ON c.cliente_id = ca.cliente_id</a:t>
            </a:r>
          </a:p>
          <a:p xmlns:a="http://schemas.openxmlformats.org/drawingml/2006/main">
            <a:pPr algn="l">
              <a:defRPr sz="900" b="0">
                <a:solidFill>
                  <a:srgbClr val="D9DFEC"/>
                </a:solidFill>
              </a:defRPr>
            </a:pPr>
            <a:r>
              <a:rPr sz="900" b="0">
                <a:solidFill>
                  <a:srgbClr val="D9DFEC"/>
                </a:solidFill>
              </a:rPr>
              <a:t>ORDER BY c.nome;</a:t>
            </a:r>
          </a:p>
        </p:txBody>
      </p:sp>
    </p:spTree>
    <p:extLst>
      <p:ext uri="{BB962C8B-B14F-4D97-AF65-F5344CB8AC3E}">
        <p14:creationId xmlns:p14="http://schemas.microsoft.com/office/powerpoint/2010/main" val="196728719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AFC5B0-02FE-4E6F-AEEA-F4F57CDA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59091bb934a9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32FD7-A43E-4A56-A519-4AB012D8A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867B3-0F92-4AFD-B588-55CB48AB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A9146-3443-414E-A4B7-EBB41496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98038-98F3-457A-B715-980D90F6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CFC5F2-7393-4173-8719-687AFF24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EX 3.3  —  ETAPA 4 DE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F4F627-2663-462B-97D2-1092246D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EXPLAIN QUERY PLAN — o que observar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2214F9-8A3D-4EC1-AFB1-5D3410CD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Use EXPLAIN QUERY PLAN &lt;query&gt; no SQLite. Com 3.000 linhas a diferença é pequena. Em produção, com milhões, é grande.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95B9C8-6333-4D8D-A565-C95525C9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B2F2F-D6DF-45F9-BB53-D0387035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D96EA-D09F-447B-8BB5-ADED3F26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SCAN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5D3CB-CE87-4BBF-B5EA-46B703E7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Varredura completa da tabela —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sem índice. O banco lê todas as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linhas.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EE0FDA-AE6C-43C1-8C1D-D45B98116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074AD-5672-4EC3-9A32-35D9B426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3B0421-1BDA-4DC2-9CB1-2565BBA3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EE887-C613-4B63-AD4D-49AF852A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Uso de índice — mais eficiente.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O otimizador pode ter eliminado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redundâncias.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5EEA08-D041-4DED-A679-118101E4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61669D-3908-461F-AEF5-DD6547AD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E321D2-A4B8-4075-9477-B0DF7F356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Experimento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EBFDB1-4280-43D2-8B4A-9C64ABD9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Crie CREATE INDEX idx_vt ON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vendas(valor_total). O plano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mudou?</a:t>
            </a:r>
          </a:p>
        </p:txBody>
      </p:sp>
    </p:spTree>
    <p:extLst>
      <p:ext uri="{BB962C8B-B14F-4D97-AF65-F5344CB8AC3E}">
        <p14:creationId xmlns:p14="http://schemas.microsoft.com/office/powerpoint/2010/main" val="127223015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56B351-84E5-4021-A057-2F4D4E0C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e077b87aff4580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05B59-0F9D-487F-BACF-E8D06443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6C0F1D-CDDF-4D63-8E02-3EA9B0B9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2F0D68-C714-4ECA-A344-75BCA1E5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DED273-368D-4F43-9534-856CA7EF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FFFFF"/>
                </a:solidFill>
              </a:defRPr>
            </a:pPr>
            <a:r>
              <a:rPr sz="675" b="1">
                <a:solidFill>
                  <a:srgbClr val="FFFFFF"/>
                </a:solidFill>
              </a:rPr>
              <a:t>NTT DATA UNIVERSITY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495a5147c41e9"/>
          <a:stretch xmlns:a="http://schemas.openxmlformats.org/drawingml/2006/main"/>
        </p:blipFill>
        <p:spPr>
          <a:xfrm xmlns:a="http://schemas.openxmlformats.org/drawingml/2006/main">
            <a:off x="476250" y="1257300"/>
            <a:ext cx="2667000" cy="45339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9A21AF-A025-4020-8AAF-4A62E6C0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5811F"/>
                </a:solidFill>
              </a:defRPr>
            </a:pPr>
            <a:r>
              <a:rPr sz="900" b="1">
                <a:solidFill>
                  <a:srgbClr val="F5811F"/>
                </a:solidFill>
              </a:rPr>
              <a:t>SESSÃO 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BDD1EA-3A35-48F4-AE9C-E6FCC01E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14625"/>
            <a:ext cx="7239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FFFFFF"/>
                </a:solidFill>
              </a:defRPr>
            </a:pPr>
            <a:r>
              <a:rPr sz="3600" b="0">
                <a:solidFill>
                  <a:srgbClr val="FFFFFF"/>
                </a:solidFill>
              </a:rPr>
              <a:t>Fechamento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F0582A-A867-46F9-93A3-F49879DD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00500"/>
            <a:ext cx="685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4ADBE"/>
                </a:solidFill>
              </a:defRPr>
            </a:pPr>
            <a:r>
              <a:rPr sz="1350" b="0">
                <a:solidFill>
                  <a:srgbClr val="A4ADBE"/>
                </a:solidFill>
              </a:rPr>
              <a:t>Revisar o que cobrimos, checar dúvidas e preparar o time para o Módulo 2.</a:t>
            </a:r>
          </a:p>
        </p:txBody>
      </p:sp>
    </p:spTree>
    <p:extLst>
      <p:ext uri="{BB962C8B-B14F-4D97-AF65-F5344CB8AC3E}">
        <p14:creationId xmlns:p14="http://schemas.microsoft.com/office/powerpoint/2010/main" val="7916641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A1FB76-3B1A-477D-A6FE-9B0B14C2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bfc18750854ce8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8BCCD-7917-4B22-80C4-A12C6E35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24C47-D72D-4139-8F04-2D4DE321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A05C7C-68F1-4920-AC7D-CCD79F1E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5DF83-4363-492D-B099-E54A86A2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06CF3-B485-4EA4-9B08-8884216D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OBJETIVOS DO MÓDULO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BF0A0D-24F8-4460-BD32-6B211BDC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O que cobrimos hoje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95CE37-414E-41B8-92FB-185CCC0F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Todos os objetivos foram trabalhados em conteúdo e exercícios.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95E01-0F8C-4F7A-B2A8-824A25C6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6D9E54-B86D-48DF-B5B6-E472B641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2702E-ED75-46C6-838B-AC8204892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SELECT, WHERE, ORDER BY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F86F5B-E18A-485F-AF24-2DB153BE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Seção 1 + Exercícios 1.1, 1.2, 1.3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10248F-0A4A-4A2D-8E02-A2F35B609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44952-9C06-4221-BC7D-5595FB6B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622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BBBD8-AF06-47D5-B68B-162ED48A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JOINs — INNER, LEFT, RIGHT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7895F-5B82-426C-8BD9-94D62FDD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956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Seção 2 + Exercícios 2.1, 2.2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810B46-6FBA-448C-B2BB-821F1E21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604162-02E1-4A03-AEC8-7B2C7BD7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449B0B-CC97-40F4-92E8-774DF925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GROUP BY + Agregações + CTEs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9F2845-798E-4E12-9CF3-59F2B9B3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Seções 3–4 + Exercícios 2.3, 3.2, 3.3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758857-9CC7-4A64-A47A-FF455C1F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5048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AE4A6-5EA8-4CFD-97B5-654B5B9A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C95C3C-E62A-4D1E-A608-61028A31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48200"/>
            <a:ext cx="4629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Window Functions + Performance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ABBBDF-3172-4888-9D74-5A7BBFDA2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10150"/>
            <a:ext cx="46291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Seções 5–6 + Exercícios 3.1, 3.2, 3.3</a:t>
            </a:r>
          </a:p>
        </p:txBody>
      </p:sp>
    </p:spTree>
    <p:extLst>
      <p:ext uri="{BB962C8B-B14F-4D97-AF65-F5344CB8AC3E}">
        <p14:creationId xmlns:p14="http://schemas.microsoft.com/office/powerpoint/2010/main" val="170706573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A54D43-A130-4CD1-9489-85928C96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33be1bb8804c41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C3BEEA-094B-4618-8B6F-66924868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E1B3E"/>
                </a:solidFill>
              </a:defRPr>
            </a:pPr>
            <a:r>
              <a:rPr sz="82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EFFB19-AB13-4D32-B72E-DA847DED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11CDC-5A0C-4023-8BF0-7D973A53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7E8693"/>
                </a:solidFill>
              </a:defRPr>
            </a:pPr>
            <a:r>
              <a:rPr sz="675" b="0">
                <a:solidFill>
                  <a:srgbClr val="7E8693"/>
                </a:solidFill>
              </a:rPr>
              <a:t>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73B39-3D73-4B3D-8662-F92BAA8D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72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0E1B3E"/>
                </a:solidFill>
              </a:defRPr>
            </a:pPr>
            <a:r>
              <a:rPr sz="675" b="1">
                <a:solidFill>
                  <a:srgbClr val="0E1B3E"/>
                </a:solidFill>
              </a:rPr>
              <a:t>NTT DATA UNIVERSITY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752790-D973-401D-96DF-44EE724D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19150"/>
            <a:ext cx="666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4641A"/>
                </a:solidFill>
              </a:defRPr>
            </a:pPr>
            <a:r>
              <a:rPr sz="825" b="1">
                <a:solidFill>
                  <a:srgbClr val="C4641A"/>
                </a:solidFill>
              </a:rPr>
              <a:t>PRÓXIMO MÓDULO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ADD560-4B54-4309-A7EE-FA31874C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66800"/>
            <a:ext cx="10287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E1B3E"/>
                </a:solidFill>
              </a:defRPr>
            </a:pPr>
            <a:r>
              <a:rPr sz="2400" b="0">
                <a:solidFill>
                  <a:srgbClr val="0E1B3E"/>
                </a:solidFill>
              </a:rPr>
              <a:t>Módulo 2 — Modelagem de Dados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FD6490-1A71-45A0-8721-13443D35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90700"/>
            <a:ext cx="10287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C6680"/>
                </a:solidFill>
              </a:defRPr>
            </a:pPr>
            <a:r>
              <a:rPr sz="1200" b="0">
                <a:solidFill>
                  <a:srgbClr val="5C6680"/>
                </a:solidFill>
              </a:rPr>
              <a:t>Pré-requisito: leia o conteudo.md do Módulo 2 antes da próxima sessão.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41EEB6-0480-413F-ABD4-DA565DFD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D777C7-9D43-435B-BE1C-A5C7B8A8B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99A994-D97D-42DC-8CA7-9BC4E4D1F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Modelagem Relacional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91F9B3-DF7E-45A6-8AAB-8CC2E31F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Entidades, atributos,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cardinalidade — aplicado ao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schema do dados.db.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264972-EB28-4AE0-89EB-2C31DF3D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8ADC9B-2DCC-437D-8D5F-6CBD678A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0D291C-62B8-47DF-869C-8F8389B3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Normalização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4ECC6D-B7DF-4678-A992-526C0843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1FN, 2FN, 3FN e quando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desnormalizar conscientemente.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8C5F87-2BBF-4BC5-9B0D-B83A7CA7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32766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C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82CA15-0C5A-42BB-AC3F-8B33A98A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57500"/>
            <a:ext cx="47625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AAB415-4AC9-4E14-A863-BBC1EB06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4641A"/>
                </a:solidFill>
              </a:defRPr>
            </a:pPr>
            <a:r>
              <a:rPr sz="1050" b="1">
                <a:solidFill>
                  <a:srgbClr val="C4641A"/>
                </a:solidFill>
              </a:rPr>
              <a:t>Dimensional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1A645E-FC93-4A5C-8AF5-00E42DD5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429000"/>
            <a:ext cx="2857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Fato, dimensão, star schema,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snowflake — como o schema vira</a:t>
            </a:r>
          </a:p>
          <a:p xmlns:a="http://schemas.openxmlformats.org/drawingml/2006/main">
            <a:pPr algn="l">
              <a:defRPr sz="1050" b="0">
                <a:solidFill>
                  <a:srgbClr val="3F4A5F"/>
                </a:solidFill>
              </a:defRPr>
            </a:pPr>
            <a:r>
              <a:rPr sz="1050" b="0">
                <a:solidFill>
                  <a:srgbClr val="3F4A5F"/>
                </a:solidFill>
              </a:rPr>
              <a:t>um DW.</a:t>
            </a:r>
          </a:p>
        </p:txBody>
      </p:sp>
    </p:spTree>
    <p:extLst>
      <p:ext uri="{BB962C8B-B14F-4D97-AF65-F5344CB8AC3E}">
        <p14:creationId xmlns:p14="http://schemas.microsoft.com/office/powerpoint/2010/main" val="8716256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E1B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C714F41-EBBB-49C9-AAB0-7873F4DC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57bf1020294887"/>
          <a:stretch xmlns:a="http://schemas.openxmlformats.org/drawingml/2006/main"/>
        </p:blipFill>
        <p:spPr>
          <a:xfrm xmlns:a="http://schemas.openxmlformats.org/drawingml/2006/main">
            <a:off x="613569" y="0"/>
            <a:ext cx="277813" cy="666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B7267E-B5A9-48D0-84CA-AE6E633B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048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/>
                </a:solidFill>
              </a:defRPr>
            </a:pPr>
            <a:r>
              <a:rPr sz="825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5A1295-07B4-4EBF-AF6D-0A1787DD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5722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© 2024 NTT DATA, Inc.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6B168-1730-455E-8D70-20CD5896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65722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4ADBE"/>
                </a:solidFill>
              </a:defRPr>
            </a:pPr>
            <a:r>
              <a:rPr sz="675" b="0">
                <a:solidFill>
                  <a:srgbClr val="A4ADBE"/>
                </a:solidFill>
              </a:rPr>
              <a:t>18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a7d5baf1149cc"/>
          <a:stretch xmlns:a="http://schemas.openxmlformats.org/drawingml/2006/main"/>
        </p:blipFill>
        <p:spPr>
          <a:xfrm xmlns:a="http://schemas.openxmlformats.org/drawingml/2006/main">
            <a:off x="7683178" y="3638550"/>
            <a:ext cx="4502794" cy="32194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9F224A-EED2-4240-9358-5B446E6B4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"/>
            <a:ext cx="12192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NTT DATA UNIVERSITY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AECCD7-515A-43C3-9013-F749C21C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524250"/>
            <a:ext cx="12192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A4ADBE"/>
                </a:solidFill>
              </a:defRPr>
            </a:pPr>
            <a:r>
              <a:rPr sz="1200" b="0">
                <a:solidFill>
                  <a:srgbClr val="A4ADBE"/>
                </a:solidFill>
              </a:rPr>
              <a:t>Trilha de Engenharia de Dados  •  Módulo 1: SQL Fundamentals</a:t>
            </a:r>
          </a:p>
        </p:txBody>
      </p:sp>
    </p:spTree>
    <p:extLst>
      <p:ext uri="{BB962C8B-B14F-4D97-AF65-F5344CB8AC3E}">
        <p14:creationId xmlns:p14="http://schemas.microsoft.com/office/powerpoint/2010/main" val="3270106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2026-05-11T14:57:54.6210000Z</dcterms:created>
  <dcterms:modified xsi:type="dcterms:W3CDTF">2026-05-11T14:57:54.6210000Z</dcterms:modified>
</coreProperties>
</file>