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NTT DATA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>
                <a:solidFill>
                  <a:srgbClr val="FFFFFF"/>
                </a:solidFill>
                <a:latin typeface="Georgia"/>
              </a:rPr>
              <a:t>SQL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811F"/>
                </a:solidFill>
                <a:latin typeface="Calibri"/>
              </a:rPr>
              <a:t>Módulo 1  |  Trilha de Engenharia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NTT DATA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Georgia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50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01   Abertura                                    10 min</a:t>
            </a:r>
          </a:p>
          <a:p>
            <a:pPr>
              <a:spcBef>
                <a:spcPts val="550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02   Bloco de Dúvidas                            30 min</a:t>
            </a:r>
          </a:p>
          <a:p>
            <a:pPr>
              <a:spcBef>
                <a:spcPts val="550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03   Exercício em Grupo — Ex 3.3                 60 min</a:t>
            </a:r>
          </a:p>
          <a:p>
            <a:pPr>
              <a:spcBef>
                <a:spcPts val="550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04   Fechamento &amp; Preview Módulo 2               20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Georgia"/>
              </a:rPr>
              <a:t>Abertura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811F"/>
                </a:solidFill>
                <a:latin typeface="Calibri"/>
              </a:rPr>
              <a:t>10 minutos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NTT DATA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Verificação de Ambiente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Rode a query abaixo e confirme que o resultado é 3000: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8229600" cy="777240"/>
          </a:xfrm>
          <a:prstGeom prst="rect">
            <a:avLst/>
          </a:prstGeom>
          <a:solidFill>
            <a:srgbClr val="1425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A8D8FF"/>
                </a:solidFill>
                <a:latin typeface="Courier New"/>
              </a:rPr>
              <a:t>SELECT COUNT(*) AS total_vendas FROM vendas;</a:t>
            </a:r>
          </a:p>
          <a:p>
            <a:r>
              <a:rPr sz="1400">
                <a:solidFill>
                  <a:srgbClr val="A8D8FF"/>
                </a:solidFill>
                <a:latin typeface="Courier New"/>
              </a:rPr>
              <a:t>-- Resultado esperado: 3000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811F"/>
                </a:solidFill>
                <a:latin typeface="Calibri"/>
              </a:rPr>
              <a:t>Banco não gerado? Execute: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5486400" cy="457200"/>
          </a:xfrm>
          <a:prstGeom prst="rect">
            <a:avLst/>
          </a:prstGeom>
          <a:solidFill>
            <a:srgbClr val="1425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A8D8FF"/>
                </a:solidFill>
                <a:latin typeface="Courier New"/>
              </a:rPr>
              <a:t>python recursos/setup_db.py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Formas de conectar ao banco: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25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SQLite CLI :  sqlite3 recursos/dados.db   →   .headers on   →   .mode column</a:t>
            </a:r>
          </a:p>
          <a:p>
            <a:pPr>
              <a:spcBef>
                <a:spcPts val="325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  Python     :  import sqlite3; conn = sqlite3.connect('recursos/dados.db')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Georgia"/>
              </a:rPr>
              <a:t>Bloco de Dúvidas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811F"/>
                </a:solidFill>
                <a:latin typeface="Calibri"/>
              </a:rPr>
              <a:t>30 minutos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NTT DATA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WHERE vs HAVING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811F"/>
                </a:solidFill>
                <a:latin typeface="Calibri"/>
              </a:rPr>
              <a:t>Regra: condição sobre agregação → HAVING.  Qualquer outra → WHERE.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5303520" cy="1920240"/>
          </a:xfrm>
          <a:prstGeom prst="rect">
            <a:avLst/>
          </a:prstGeom>
          <a:solidFill>
            <a:srgbClr val="1425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A8D8FF"/>
                </a:solidFill>
                <a:latin typeface="Courier New"/>
              </a:rPr>
              <a:t>-- ❌ ERRADO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SELECT cat.nome, SUM(p.preco) AS total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FROM produtos p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INNER JOIN categorias cat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ON p.categoria_id = cat.categoria_id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WHERE SUM(p.preco) &gt; 1000  -- erro!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GROUP BY cat.nome;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65960"/>
            <a:ext cx="5303520" cy="1920240"/>
          </a:xfrm>
          <a:prstGeom prst="rect">
            <a:avLst/>
          </a:prstGeom>
          <a:solidFill>
            <a:srgbClr val="1425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A8D8FF"/>
                </a:solidFill>
                <a:latin typeface="Courier New"/>
              </a:rPr>
              <a:t>-- ✅ CORRETO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SELECT cat.nome, SUM(p.preco) AS total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FROM produtos p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INNER JOIN categorias cat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ON p.categoria_id = cat.categoria_id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GROUP BY cat.nome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HAVING SUM(p.preco) &gt; 1000;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Calibri"/>
              </a:rPr>
              <a:t>→  Execute ambas no banco para ver os erros e os resultados.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NTT DATA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CTE vs Subquery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811F"/>
                </a:solidFill>
                <a:latin typeface="Calibri"/>
              </a:rPr>
              <a:t>Mesma performance na maioria dos casos.  A diferença é legibilidade e manutenção.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5303520" cy="2286000"/>
          </a:xfrm>
          <a:prstGeom prst="rect">
            <a:avLst/>
          </a:prstGeom>
          <a:solidFill>
            <a:srgbClr val="1425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A8D8FF"/>
                </a:solidFill>
                <a:latin typeface="Courier New"/>
              </a:rPr>
              <a:t>-- Subquery — difícil de ler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SELECT nome FROM clientes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WHERE cliente_id IN (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SELECT cliente_id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FROM vendas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GROUP BY cliente_id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HAVING SUM(valor_total) &gt; 1000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65960"/>
            <a:ext cx="5303520" cy="2286000"/>
          </a:xfrm>
          <a:prstGeom prst="rect">
            <a:avLst/>
          </a:prstGeom>
          <a:solidFill>
            <a:srgbClr val="1425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>
                <a:solidFill>
                  <a:srgbClr val="A8D8FF"/>
                </a:solidFill>
                <a:latin typeface="Courier New"/>
              </a:rPr>
              <a:t>-- CTE — fácil de ler e testar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WITH clientes_valiosos AS (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SELECT cliente_id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FROM vendas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GROUP BY cliente_id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HAVING SUM(valor_total) &gt; 1000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)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SELECT c.nome FROM clientes c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INNER JOIN clientes_valiosos cv</a:t>
            </a:r>
          </a:p>
          <a:p>
            <a:r>
              <a:rPr sz="1100">
                <a:solidFill>
                  <a:srgbClr val="A8D8FF"/>
                </a:solidFill>
                <a:latin typeface="Courier New"/>
              </a:rPr>
              <a:t>    ON c.cliente_id = cv.cliente_id;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Calibri"/>
              </a:rPr>
              <a:t>Orientação: prefira CTE em qualquer query com mais de uma camada de lógica.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NTT DATA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LEFT JOIN — Encontrar o que não existe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811F"/>
                </a:solidFill>
                <a:latin typeface="Calibri"/>
              </a:rPr>
              <a:t>Padrão: LEFT JOIN  +  WHERE &lt;pk_tabela_direita&gt; IS NULL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8229600" cy="1645920"/>
          </a:xfrm>
          <a:prstGeom prst="rect">
            <a:avLst/>
          </a:prstGeom>
          <a:solidFill>
            <a:srgbClr val="1425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A8D8FF"/>
                </a:solidFill>
                <a:latin typeface="Courier New"/>
              </a:rPr>
              <a:t>-- Clientes que nunca compraram</a:t>
            </a:r>
          </a:p>
          <a:p>
            <a:r>
              <a:rPr sz="1300">
                <a:solidFill>
                  <a:srgbClr val="A8D8FF"/>
                </a:solidFill>
                <a:latin typeface="Courier New"/>
              </a:rPr>
              <a:t>SELECT c.nome</a:t>
            </a:r>
          </a:p>
          <a:p>
            <a:r>
              <a:rPr sz="1300">
                <a:solidFill>
                  <a:srgbClr val="A8D8FF"/>
                </a:solidFill>
                <a:latin typeface="Courier New"/>
              </a:rPr>
              <a:t>FROM clientes AS c</a:t>
            </a:r>
          </a:p>
          <a:p>
            <a:r>
              <a:rPr sz="1300">
                <a:solidFill>
                  <a:srgbClr val="A8D8FF"/>
                </a:solidFill>
                <a:latin typeface="Courier New"/>
              </a:rPr>
              <a:t>LEFT JOIN vendas AS v</a:t>
            </a:r>
          </a:p>
          <a:p>
            <a:r>
              <a:rPr sz="1300">
                <a:solidFill>
                  <a:srgbClr val="A8D8FF"/>
                </a:solidFill>
                <a:latin typeface="Courier New"/>
              </a:rPr>
              <a:t>    ON c.cliente_id = v.cliente_id</a:t>
            </a:r>
          </a:p>
          <a:p>
            <a:r>
              <a:rPr sz="1300">
                <a:solidFill>
                  <a:srgbClr val="A8D8FF"/>
                </a:solidFill>
                <a:latin typeface="Courier New"/>
              </a:rPr>
              <a:t>WHERE v.venda_id IS NULL;    -- checar PK da tabela direita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811F"/>
                </a:solidFill>
                <a:latin typeface="Calibri"/>
              </a:rPr>
              <a:t>⚠  Armadilha: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Prefira checar a chave primária (venda_id), não a FK (cliente_id).
Se cliente_id for NOT NULL em vendas, o comportamento pode ser inesperado.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NTT DATA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Datas no SQLite — strftime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811F"/>
                </a:solidFill>
                <a:latin typeface="Calibri"/>
              </a:rPr>
              <a:t>SQLite não tem DATE_TRUNC. Use strftime('%Y-%m', coluna) para agrupar por mês.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8229600" cy="2743200"/>
          </a:xfrm>
          <a:prstGeom prst="rect">
            <a:avLst/>
          </a:prstGeom>
          <a:solidFill>
            <a:srgbClr val="1425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A8D8FF"/>
                </a:solidFill>
                <a:latin typeface="Courier New"/>
              </a:rPr>
              <a:t>-- Receita por mês</a:t>
            </a:r>
          </a:p>
          <a:p>
            <a:r>
              <a:rPr sz="1300">
                <a:solidFill>
                  <a:srgbClr val="A8D8FF"/>
                </a:solidFill>
                <a:latin typeface="Courier New"/>
              </a:rPr>
              <a:t>SELECT</a:t>
            </a:r>
          </a:p>
          <a:p>
            <a:r>
              <a:rPr sz="1300">
                <a:solidFill>
                  <a:srgbClr val="A8D8FF"/>
                </a:solidFill>
                <a:latin typeface="Courier New"/>
              </a:rPr>
              <a:t>    strftime('%Y-%m', data_venda) AS mes,</a:t>
            </a:r>
          </a:p>
          <a:p>
            <a:r>
              <a:rPr sz="1300">
                <a:solidFill>
                  <a:srgbClr val="A8D8FF"/>
                </a:solidFill>
                <a:latin typeface="Courier New"/>
              </a:rPr>
              <a:t>    SUM(valor_total)              AS receita_mes</a:t>
            </a:r>
          </a:p>
          <a:p>
            <a:r>
              <a:rPr sz="1300">
                <a:solidFill>
                  <a:srgbClr val="A8D8FF"/>
                </a:solidFill>
                <a:latin typeface="Courier New"/>
              </a:rPr>
              <a:t>FROM vendas</a:t>
            </a:r>
          </a:p>
          <a:p>
            <a:r>
              <a:rPr sz="1300">
                <a:solidFill>
                  <a:srgbClr val="A8D8FF"/>
                </a:solidFill>
                <a:latin typeface="Courier New"/>
              </a:rPr>
              <a:t>GROUP BY strftime('%Y-%m', data_venda)</a:t>
            </a:r>
          </a:p>
          <a:p>
            <a:r>
              <a:rPr sz="1300">
                <a:solidFill>
                  <a:srgbClr val="A8D8FF"/>
                </a:solidFill>
                <a:latin typeface="Courier New"/>
              </a:rPr>
              <a:t>ORDER BY mes;</a:t>
            </a:r>
          </a:p>
          <a:p>
            <a:r>
              <a:rPr sz="1300">
                <a:solidFill>
                  <a:srgbClr val="A8D8FF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A8D8FF"/>
                </a:solidFill>
                <a:latin typeface="Courier New"/>
              </a:rPr>
              <a:t>-- Filtrar apenas 2024</a:t>
            </a:r>
          </a:p>
          <a:p>
            <a:r>
              <a:rPr sz="1300">
                <a:solidFill>
                  <a:srgbClr val="A8D8FF"/>
                </a:solidFill>
                <a:latin typeface="Courier New"/>
              </a:rPr>
              <a:t>WHERE strftime('%Y', data_venda) = '2024'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Georgia"/>
              </a:rPr>
              <a:t>Exercício em Grupo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811F"/>
                </a:solidFill>
                <a:latin typeface="Calibri"/>
              </a:rPr>
              <a:t>60 minutos — Ex 3.3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NTT DATA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Ex 3.3 — A Query 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811F"/>
                </a:solidFill>
                <a:latin typeface="Calibri"/>
              </a:rPr>
              <a:t>"O que essa query faz? Explique em uma frase.  |  Onde você vê desperdício?"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858000" cy="4297680"/>
          </a:xfrm>
          <a:prstGeom prst="rect">
            <a:avLst/>
          </a:prstGeom>
          <a:solidFill>
            <a:srgbClr val="1425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A8D8FF"/>
                </a:solidFill>
                <a:latin typeface="Courier New"/>
              </a:rPr>
              <a:t>SELECT *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FROM (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SELECT * FROM clientes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) AS todos_clientes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WHERE cliente_id IN (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SELECT cliente_id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FROM vendas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WHERE valor_total &gt; (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    SELECT AVG(valor_total)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    FROM vendas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    WHERE cliente_id IN (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        SELECT cliente_id FROM clientes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    )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)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NTT DATA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Onde estão os problemas?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1.  SELECT *  — precisamos de todas as colunas? Quais o resultado final precisa?</a:t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2.  FROM (SELECT * FROM clientes) — o que essa subquery adiciona?</a:t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     Poderíamos usar FROM clientes diretamente?</a:t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3.  WHERE cliente_id IN (SELECT cliente_id FROM clientes) — todo cliente_id</a:t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     em vendas já existe em clientes (FK). Essa subquery filtra alguma coisa?</a:t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4.  Subquery escalar no WHERE — o banco calcula AVG(valor_total)</a:t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     uma vez total, ou uma vez para cada linha de vendas?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NTT DATA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Query Refatorada — Construída Coletivamente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solidFill>
            <a:srgbClr val="1425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A8D8FF"/>
                </a:solidFill>
                <a:latin typeface="Courier New"/>
              </a:rPr>
              <a:t>WITH media_vendas AS (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SELECT AVG(valor_total) AS media_geral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FROM vendas                            -- passo 1: isolar a média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),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clientes_acima_da_media AS (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SELECT DISTINCT v.cliente_id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FROM vendas AS v, media_vendas AS m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WHERE v.valor_total &gt; m.media_geral    -- passo 2: filtrar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)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SELECT                                     -- passo 3: dados do cliente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c.cliente_id, c.nome, c.email,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c.cidade, c.estado, c.data_cadastro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FROM clientes AS c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INNER JOIN clientes_acima_da_media AS cam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    ON c.cliente_id = cam.cliente_id</a:t>
            </a:r>
          </a:p>
          <a:p>
            <a:r>
              <a:rPr sz="1200">
                <a:solidFill>
                  <a:srgbClr val="A8D8FF"/>
                </a:solidFill>
                <a:latin typeface="Courier New"/>
              </a:rPr>
              <a:t>ORDER BY c.nome;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NTT DATA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EXPLAIN QUERY PLAN — Analisando o Plano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00" cy="640080"/>
          </a:xfrm>
          <a:prstGeom prst="rect">
            <a:avLst/>
          </a:prstGeom>
          <a:solidFill>
            <a:srgbClr val="1425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A8D8FF"/>
                </a:solidFill>
                <a:latin typeface="Courier New"/>
              </a:rPr>
              <a:t>EXPLAIN QUERY PLAN</a:t>
            </a:r>
          </a:p>
          <a:p>
            <a:r>
              <a:rPr sz="1300">
                <a:solidFill>
                  <a:srgbClr val="A8D8FF"/>
                </a:solidFill>
                <a:latin typeface="Courier New"/>
              </a:rPr>
              <a:t>&lt;cole a query aqui&gt;;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SCAN   →  varredura completa da tabela (pode ser lento em produção)</a:t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SEARCH →  uso de índice (mais eficiente)</a:t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O otimizador já eliminou alguma redundância automaticamente?</a:t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O que muda criando um índice em vendas(valor_total)?</a:t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Nota: com 3.000 linhas a diferença é imperceptível.</a:t>
            </a:r>
          </a:p>
          <a:p>
            <a:pPr>
              <a:spcBef>
                <a:spcPts val="375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O exercício cria o hábito — o ganho aparece em tabelas com milhões de linhas.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Georgia"/>
              </a:rPr>
              <a:t>Fechamento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811F"/>
                </a:solidFill>
                <a:latin typeface="Calibri"/>
              </a:rPr>
              <a:t>20 minutos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NTT DATA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O que cobrimos hoje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✅  SELECT, WHERE, ORDER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91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811F"/>
                </a:solidFill>
                <a:latin typeface="Calibri"/>
              </a:rPr>
              <a:t>Seção 1 + Ex 1.1, 1.2, 1.3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000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✅  JOINs (INNER, LEFT, RIGHT)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5000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811F"/>
                </a:solidFill>
                <a:latin typeface="Calibri"/>
              </a:rPr>
              <a:t>Seção 2 + Ex 2.1, 2.2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0837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✅  GROUP BY e Agregações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00837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811F"/>
                </a:solidFill>
                <a:latin typeface="Calibri"/>
              </a:rPr>
              <a:t>Seção 3 + Ex 2.3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6674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✅  CTEs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666744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811F"/>
                </a:solidFill>
                <a:latin typeface="Calibri"/>
              </a:rPr>
              <a:t>Seção 4 + Ex 3.2, 3.3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2511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✅  Window 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32511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811F"/>
                </a:solidFill>
                <a:latin typeface="Calibri"/>
              </a:rPr>
              <a:t>Seção 5 + Ex 3.1, 3.2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8347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✅  Performance Básica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98347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811F"/>
                </a:solidFill>
                <a:latin typeface="Calibri"/>
              </a:rPr>
              <a:t>Seção 6 + Ex 3.3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137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NTT DATA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Próximo: Módulo 2 — Modelagem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75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▸  Modelagem relacional — entidades, atributos, cardinalidade</a:t>
            </a:r>
          </a:p>
          <a:p>
            <a:pPr>
              <a:spcBef>
                <a:spcPts val="475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▸  Normalização — 1FN, 2FN, 3FN e quando desnormalizar</a:t>
            </a:r>
          </a:p>
          <a:p>
            <a:pPr>
              <a:spcBef>
                <a:spcPts val="475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▸  Modelagem dimensional — tabelas fato e dimensão</a:t>
            </a:r>
          </a:p>
          <a:p>
            <a:pPr>
              <a:spcBef>
                <a:spcPts val="475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▸  Star Schema vs Snowflake Schema</a:t>
            </a:r>
          </a:p>
          <a:p>
            <a:pPr>
              <a:spcBef>
                <a:spcPts val="475"/>
              </a:spcBef>
            </a:pPr>
            <a:r>
              <a:rPr sz="1900">
                <a:solidFill>
                  <a:srgbClr val="FFFFFF"/>
                </a:solidFill>
                <a:latin typeface="Calibri"/>
              </a:rPr>
              <a:t>▸  Como o schema do dados.db se encaixa em cada 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811F"/>
                </a:solidFill>
                <a:latin typeface="Calibri"/>
              </a:rPr>
              <a:t>Desafio antes da próxima sessão: revisar Ex 3.2 e experimentar ROWS BETWEEN vs RANGE BETWEEN na window function.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811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9260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NTT DATA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  <a:latin typeface="Calibri"/>
              </a:rPr>
              <a:t>© 2024 NTT DATA,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AAAAAA"/>
                </a:solidFill>
                <a:latin typeface="Calibri"/>
              </a:rPr>
              <a:t>NTT DATA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