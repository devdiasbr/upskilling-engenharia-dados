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b9432f5e644b5a" /><Relationship Type="http://schemas.openxmlformats.org/officeDocument/2006/relationships/extended-properties" Target="/docProps/app.xml" Id="R82806dc9c182440d" /><Relationship Type="http://schemas.openxmlformats.org/officeDocument/2006/relationships/officeDocument" Target="/ppt/presentation.xml" Id="R90b20c11742e4c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87e7d5f663446c"/>
  </p:sldMasterIdLst>
  <p:notesMasterIdLst>
    <p:notesMasterId xmlns:r="http://schemas.openxmlformats.org/officeDocument/2006/relationships" r:id="R3d1febb4500a481a"/>
  </p:notesMasterIdLst>
  <p:sldIdLst>
    <p:sldId xmlns:r="http://schemas.openxmlformats.org/officeDocument/2006/relationships" id="256" r:id="Rd56d76106b1f43c9"/>
    <p:sldId xmlns:r="http://schemas.openxmlformats.org/officeDocument/2006/relationships" id="257" r:id="R9c7dbda123934a52"/>
    <p:sldId xmlns:r="http://schemas.openxmlformats.org/officeDocument/2006/relationships" id="258" r:id="Rf3a92cc4df8f45e2"/>
    <p:sldId xmlns:r="http://schemas.openxmlformats.org/officeDocument/2006/relationships" id="259" r:id="R333f2f0a6e1e4c2c"/>
    <p:sldId xmlns:r="http://schemas.openxmlformats.org/officeDocument/2006/relationships" id="260" r:id="R24e46262184b4dd2"/>
    <p:sldId xmlns:r="http://schemas.openxmlformats.org/officeDocument/2006/relationships" id="261" r:id="R6f9dbbd2a27e4da9"/>
    <p:sldId xmlns:r="http://schemas.openxmlformats.org/officeDocument/2006/relationships" id="262" r:id="Rb3aa49b382664934"/>
    <p:sldId xmlns:r="http://schemas.openxmlformats.org/officeDocument/2006/relationships" id="263" r:id="Rbcf9b0a503e24f61"/>
    <p:sldId xmlns:r="http://schemas.openxmlformats.org/officeDocument/2006/relationships" id="264" r:id="Rebd30a0a85d54708"/>
    <p:sldId xmlns:r="http://schemas.openxmlformats.org/officeDocument/2006/relationships" id="265" r:id="R3a91a5e6d1c14970"/>
    <p:sldId xmlns:r="http://schemas.openxmlformats.org/officeDocument/2006/relationships" id="266" r:id="R8ca8efbf97894906"/>
    <p:sldId xmlns:r="http://schemas.openxmlformats.org/officeDocument/2006/relationships" id="267" r:id="R7ee1e11445eb4808"/>
    <p:sldId xmlns:r="http://schemas.openxmlformats.org/officeDocument/2006/relationships" id="268" r:id="R9aa7a0824c6f45fa"/>
    <p:sldId xmlns:r="http://schemas.openxmlformats.org/officeDocument/2006/relationships" id="269" r:id="Rb3033dda05e94dde"/>
    <p:sldId xmlns:r="http://schemas.openxmlformats.org/officeDocument/2006/relationships" id="270" r:id="R00f0039fb3e0496b"/>
    <p:sldId xmlns:r="http://schemas.openxmlformats.org/officeDocument/2006/relationships" id="271" r:id="R9e14b52c33b347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87e7d5f663446c" /><Relationship Type="http://schemas.openxmlformats.org/officeDocument/2006/relationships/theme" Target="/ppt/theme/theme1.xml" Id="R111e45135cc14a59" /><Relationship Type="http://schemas.openxmlformats.org/officeDocument/2006/relationships/notesMaster" Target="/ppt/notesMasters/notesMaster1.xml" Id="R3d1febb4500a481a" /><Relationship Type="http://schemas.openxmlformats.org/officeDocument/2006/relationships/presProps" Target="/ppt/presProps.xml" Id="R07e764414fc84054" /><Relationship Type="http://schemas.openxmlformats.org/officeDocument/2006/relationships/viewProps" Target="/ppt/viewProps.xml" Id="Rb790f345b76244b4" /><Relationship Type="http://schemas.openxmlformats.org/officeDocument/2006/relationships/tableStyles" Target="/ppt/tableStyles.xml" Id="Rf8dfb14d19a54c2a" /><Relationship Type="http://schemas.openxmlformats.org/officeDocument/2006/relationships/slide" Target="/ppt/slides/slide1.xml" Id="Rd56d76106b1f43c9" /><Relationship Type="http://schemas.openxmlformats.org/officeDocument/2006/relationships/slide" Target="/ppt/slides/slide2.xml" Id="R9c7dbda123934a52" /><Relationship Type="http://schemas.openxmlformats.org/officeDocument/2006/relationships/slide" Target="/ppt/slides/slide3.xml" Id="Rf3a92cc4df8f45e2" /><Relationship Type="http://schemas.openxmlformats.org/officeDocument/2006/relationships/slide" Target="/ppt/slides/slide4.xml" Id="R333f2f0a6e1e4c2c" /><Relationship Type="http://schemas.openxmlformats.org/officeDocument/2006/relationships/slide" Target="/ppt/slides/slide5.xml" Id="R24e46262184b4dd2" /><Relationship Type="http://schemas.openxmlformats.org/officeDocument/2006/relationships/slide" Target="/ppt/slides/slide6.xml" Id="R6f9dbbd2a27e4da9" /><Relationship Type="http://schemas.openxmlformats.org/officeDocument/2006/relationships/slide" Target="/ppt/slides/slide7.xml" Id="Rb3aa49b382664934" /><Relationship Type="http://schemas.openxmlformats.org/officeDocument/2006/relationships/slide" Target="/ppt/slides/slide8.xml" Id="Rbcf9b0a503e24f61" /><Relationship Type="http://schemas.openxmlformats.org/officeDocument/2006/relationships/slide" Target="/ppt/slides/slide9.xml" Id="Rebd30a0a85d54708" /><Relationship Type="http://schemas.openxmlformats.org/officeDocument/2006/relationships/slide" Target="/ppt/slides/slide10.xml" Id="R3a91a5e6d1c14970" /><Relationship Type="http://schemas.openxmlformats.org/officeDocument/2006/relationships/slide" Target="/ppt/slides/slide11.xml" Id="R8ca8efbf97894906" /><Relationship Type="http://schemas.openxmlformats.org/officeDocument/2006/relationships/slide" Target="/ppt/slides/slide12.xml" Id="R7ee1e11445eb4808" /><Relationship Type="http://schemas.openxmlformats.org/officeDocument/2006/relationships/slide" Target="/ppt/slides/slide13.xml" Id="R9aa7a0824c6f45fa" /><Relationship Type="http://schemas.openxmlformats.org/officeDocument/2006/relationships/slide" Target="/ppt/slides/slide14.xml" Id="Rb3033dda05e94dde" /><Relationship Type="http://schemas.openxmlformats.org/officeDocument/2006/relationships/slide" Target="/ppt/slides/slide15.xml" Id="R00f0039fb3e0496b" /><Relationship Type="http://schemas.openxmlformats.org/officeDocument/2006/relationships/slide" Target="/ppt/slides/slide16.xml" Id="R9e14b52c33b347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e3ab9f7369c4a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5db35af537460f" /><Relationship Type="http://schemas.openxmlformats.org/officeDocument/2006/relationships/notesMaster" Target="/ppt/notesMasters/notesMaster1.xml" Id="R3154888af1c240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5945b8fa604228" /><Relationship Type="http://schemas.openxmlformats.org/officeDocument/2006/relationships/notesMaster" Target="/ppt/notesMasters/notesMaster1.xml" Id="Rb05a96e80ab848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256f6e98d84a09" /><Relationship Type="http://schemas.openxmlformats.org/officeDocument/2006/relationships/notesMaster" Target="/ppt/notesMasters/notesMaster1.xml" Id="R5be213cf368d44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a01d0816284a0e" /><Relationship Type="http://schemas.openxmlformats.org/officeDocument/2006/relationships/notesMaster" Target="/ppt/notesMasters/notesMaster1.xml" Id="R7c724d9580544a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bc921825604222" /><Relationship Type="http://schemas.openxmlformats.org/officeDocument/2006/relationships/notesMaster" Target="/ppt/notesMasters/notesMaster1.xml" Id="R8f5a10473cff40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c2a2494c9a4322" /><Relationship Type="http://schemas.openxmlformats.org/officeDocument/2006/relationships/notesMaster" Target="/ppt/notesMasters/notesMaster1.xml" Id="R66a1703fdabb47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4575b5c71c40dc" /><Relationship Type="http://schemas.openxmlformats.org/officeDocument/2006/relationships/notesMaster" Target="/ppt/notesMasters/notesMaster1.xml" Id="Rab54f7f1068e4a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2790e32b774b88" /><Relationship Type="http://schemas.openxmlformats.org/officeDocument/2006/relationships/notesMaster" Target="/ppt/notesMasters/notesMaster1.xml" Id="Rab5a9adca55d4e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a2e98c269d4f54" /><Relationship Type="http://schemas.openxmlformats.org/officeDocument/2006/relationships/notesMaster" Target="/ppt/notesMasters/notesMaster1.xml" Id="Rb9847b8ed3ad43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817ead80174086" /><Relationship Type="http://schemas.openxmlformats.org/officeDocument/2006/relationships/notesMaster" Target="/ppt/notesMasters/notesMaster1.xml" Id="R0c1ec95107a946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a664de391a4be9" /><Relationship Type="http://schemas.openxmlformats.org/officeDocument/2006/relationships/notesMaster" Target="/ppt/notesMasters/notesMaster1.xml" Id="R45468cb35e4147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8f1a16469341d0" /><Relationship Type="http://schemas.openxmlformats.org/officeDocument/2006/relationships/notesMaster" Target="/ppt/notesMasters/notesMaster1.xml" Id="R063eca4f0ed442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c5b06b2853492e" /><Relationship Type="http://schemas.openxmlformats.org/officeDocument/2006/relationships/notesMaster" Target="/ppt/notesMasters/notesMaster1.xml" Id="R792051eda80e4ee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a9a51a7e6e4ae7" /><Relationship Type="http://schemas.openxmlformats.org/officeDocument/2006/relationships/notesMaster" Target="/ppt/notesMasters/notesMaster1.xml" Id="R62b8eadb095a4b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589506830641f8" /><Relationship Type="http://schemas.openxmlformats.org/officeDocument/2006/relationships/notesMaster" Target="/ppt/notesMasters/notesMaster1.xml" Id="Ra7597870952741e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ef19ab2d0064a95" /><Relationship Type="http://schemas.openxmlformats.org/officeDocument/2006/relationships/notesMaster" Target="/ppt/notesMasters/notesMaster1.xml" Id="R6e4997959d4b4e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c2887e13e489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66e06f8daea495f" /><Relationship Type="http://schemas.openxmlformats.org/officeDocument/2006/relationships/slideLayout" Target="/ppt/slideLayouts/slideLayout2.xml" Id="Ref7b7f618aed4b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7b7f618aed4b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458c50cc854a77" /><Relationship Type="http://schemas.openxmlformats.org/officeDocument/2006/relationships/image" Target="/ppt/media/image.png" Id="R50f9e48681684eec" /><Relationship Type="http://schemas.openxmlformats.org/officeDocument/2006/relationships/image" Target="/ppt/media/image2.png" Id="R2ce31cd70bf14fae" /><Relationship Type="http://schemas.openxmlformats.org/officeDocument/2006/relationships/notesSlide" Target="/ppt/notesSlides/notesSlide1.xml" Id="R160cda0f389d4b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55f36a55c8441b" /><Relationship Type="http://schemas.openxmlformats.org/officeDocument/2006/relationships/image" Target="/ppt/media/image3.png" Id="R0270c43e1c144c34" /><Relationship Type="http://schemas.openxmlformats.org/officeDocument/2006/relationships/notesSlide" Target="/ppt/notesSlides/notesSlide2.xml" Id="Rba56809e546645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add2955b304e89" /><Relationship Type="http://schemas.openxmlformats.org/officeDocument/2006/relationships/image" Target="/ppt/media/image4.png" Id="Rc8ae1bc5901e4362" /><Relationship Type="http://schemas.openxmlformats.org/officeDocument/2006/relationships/image" Target="/ppt/media/image5.png" Id="R06c35545c0864128" /><Relationship Type="http://schemas.openxmlformats.org/officeDocument/2006/relationships/notesSlide" Target="/ppt/notesSlides/notesSlide3.xml" Id="Rafe9bc6a2ffb48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d3c30534e64c4d" /><Relationship Type="http://schemas.openxmlformats.org/officeDocument/2006/relationships/image" Target="/ppt/media/image6.png" Id="Rcbb84e8704844610" /><Relationship Type="http://schemas.openxmlformats.org/officeDocument/2006/relationships/notesSlide" Target="/ppt/notesSlides/notesSlide4.xml" Id="R8fda6743e96d42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722d2b6646431d" /><Relationship Type="http://schemas.openxmlformats.org/officeDocument/2006/relationships/image" Target="/ppt/media/image7.png" Id="Ra98a4678807b4418" /><Relationship Type="http://schemas.openxmlformats.org/officeDocument/2006/relationships/image" Target="/ppt/media/image8.png" Id="R458e43e808d14f11" /><Relationship Type="http://schemas.openxmlformats.org/officeDocument/2006/relationships/notesSlide" Target="/ppt/notesSlides/notesSlide5.xml" Id="R52706784d33147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bec8ca03e04c61" /><Relationship Type="http://schemas.openxmlformats.org/officeDocument/2006/relationships/image" Target="/ppt/media/image9.png" Id="R6a55749479604d90" /><Relationship Type="http://schemas.openxmlformats.org/officeDocument/2006/relationships/notesSlide" Target="/ppt/notesSlides/notesSlide6.xml" Id="Rdb4f84344c3649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7ba2fd37fd4d9c" /><Relationship Type="http://schemas.openxmlformats.org/officeDocument/2006/relationships/image" Target="/ppt/media/image10.png" Id="R63e7bde12fcd4a81" /><Relationship Type="http://schemas.openxmlformats.org/officeDocument/2006/relationships/notesSlide" Target="/ppt/notesSlides/notesSlide7.xml" Id="R56167ade71d140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0cef7850264037" /><Relationship Type="http://schemas.openxmlformats.org/officeDocument/2006/relationships/image" Target="/ppt/media/image11.png" Id="R47a20a0f5e7343f9" /><Relationship Type="http://schemas.openxmlformats.org/officeDocument/2006/relationships/image" Target="/ppt/media/image12.png" Id="Ree79fca4203f41e8" /><Relationship Type="http://schemas.openxmlformats.org/officeDocument/2006/relationships/notesSlide" Target="/ppt/notesSlides/notesSlide8.xml" Id="R1dc20517a2154b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e7b59434434125" /><Relationship Type="http://schemas.openxmlformats.org/officeDocument/2006/relationships/image" Target="/ppt/media/image13.png" Id="R4cd3575bf62942c6" /><Relationship Type="http://schemas.openxmlformats.org/officeDocument/2006/relationships/notesSlide" Target="/ppt/notesSlides/notesSlide9.xml" Id="R3edc99a269e344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0029f3446249c9" /><Relationship Type="http://schemas.openxmlformats.org/officeDocument/2006/relationships/image" Target="/ppt/media/image14.png" Id="Recaa822c92584324" /><Relationship Type="http://schemas.openxmlformats.org/officeDocument/2006/relationships/notesSlide" Target="/ppt/notesSlides/notesSlide10.xml" Id="R74ba811ef92c40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d6e5775bfd4fd3" /><Relationship Type="http://schemas.openxmlformats.org/officeDocument/2006/relationships/image" Target="/ppt/media/image15.png" Id="R313010145d2f4c0c" /><Relationship Type="http://schemas.openxmlformats.org/officeDocument/2006/relationships/notesSlide" Target="/ppt/notesSlides/notesSlide11.xml" Id="Rbd0a5eb6d34e42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239ecdfee74a92" /><Relationship Type="http://schemas.openxmlformats.org/officeDocument/2006/relationships/image" Target="/ppt/media/image16.png" Id="R25fecd469bd4415b" /><Relationship Type="http://schemas.openxmlformats.org/officeDocument/2006/relationships/notesSlide" Target="/ppt/notesSlides/notesSlide12.xml" Id="R6969981d8045440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5cfa408ed34504" /><Relationship Type="http://schemas.openxmlformats.org/officeDocument/2006/relationships/image" Target="/ppt/media/image17.png" Id="R17be6f83788042f5" /><Relationship Type="http://schemas.openxmlformats.org/officeDocument/2006/relationships/image" Target="/ppt/media/image18.png" Id="R2b8561ed22494a6e" /><Relationship Type="http://schemas.openxmlformats.org/officeDocument/2006/relationships/notesSlide" Target="/ppt/notesSlides/notesSlide13.xml" Id="R25df52a7b51444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dcbe68091941ea" /><Relationship Type="http://schemas.openxmlformats.org/officeDocument/2006/relationships/image" Target="/ppt/media/image19.png" Id="Rd0d9f33d2b7a461f" /><Relationship Type="http://schemas.openxmlformats.org/officeDocument/2006/relationships/notesSlide" Target="/ppt/notesSlides/notesSlide14.xml" Id="R97cd58b6633a4e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4f471a2ae04d41" /><Relationship Type="http://schemas.openxmlformats.org/officeDocument/2006/relationships/image" Target="/ppt/media/image20.png" Id="R334e442e3f9944a2" /><Relationship Type="http://schemas.openxmlformats.org/officeDocument/2006/relationships/notesSlide" Target="/ppt/notesSlides/notesSlide15.xml" Id="Ra169d74d55ee4f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a9925d9c904ae9" /><Relationship Type="http://schemas.openxmlformats.org/officeDocument/2006/relationships/image" Target="/ppt/media/image21.png" Id="R533645de11144957" /><Relationship Type="http://schemas.openxmlformats.org/officeDocument/2006/relationships/image" Target="/ppt/media/image22.png" Id="R3266b31f027a4d2c" /><Relationship Type="http://schemas.openxmlformats.org/officeDocument/2006/relationships/notesSlide" Target="/ppt/notesSlides/notesSlide16.xml" Id="R3a428703eb8e4f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B73955-836B-48C2-83B7-A92B707A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9e48681684ee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056CE-3A0A-4EBA-9226-176E32E1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9C7A3-5DC8-4ECB-8D8C-E8C46860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C7FDE-FB25-4CF4-BA64-1E54947D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31cd70bf14fae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E1213-FE82-4E8A-8803-D8CEBBA5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6813A-BD3D-4034-8822-FD63EE6D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Modelagem de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D22F1-7788-4358-933C-68757C33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2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927F9-98D8-4A66-845C-2951F34F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712A1-E2B0-4E65-8F63-9BB7F302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Modelo certo facilita toda análise futura.</a:t>
            </a:r>
          </a:p>
        </p:txBody>
      </p:sp>
    </p:spTree>
    <p:extLst>
      <p:ext uri="{BB962C8B-B14F-4D97-AF65-F5344CB8AC3E}">
        <p14:creationId xmlns:p14="http://schemas.microsoft.com/office/powerpoint/2010/main" val="1352476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15989B-20C2-4B63-84C2-5B16BEC1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0c43e1c144c3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6ED49-12A6-4609-A88E-7762CE2A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08347-43EB-4F51-ADB1-763FAB00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5D555-5C99-4F65-9A29-9921B4FA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CA10D-C033-422C-8BC6-146D3CBD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A63B6-D5E3-4D5F-BC96-CC788638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E48F0-5E75-4508-BC4A-D730B200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vamos fazer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DEDF1-B060-485B-83E5-03183EA1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Sessão interativa com whiteboard e exercício colaborativo de modelagem.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28241-A390-4304-A2BC-BFE83C1D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91C80-4AB0-43FE-90CC-78465938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263E1D-1DAF-4C6D-BEF0-5287568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05F08C-EF94-4BF7-8596-D484B677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Dúvidas rápidas do conteúdo: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2FN, 3FN, surrogate keys.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91F876-01A2-4A7B-A432-ACE6CD73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42B49-6EAC-4775-85C0-64B527DD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98BB2-2608-404F-8783-98C8E0CA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Conceitual — 20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0ADFC6-81DC-43B5-931A-9019C489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Diagrama ao vivo conectando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schema do dados.db aos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conceitos.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FC6D3-73DD-4C86-A824-18584D52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EAFD81-B1FC-4671-910A-3D32EA02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CDDB4-C0BC-4C10-9088-6C68E663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— 70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DB5A0C-4A29-4B56-BB4C-07C1DB68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Modelo dimensional ao vivo: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cada um propõe, discutimos,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consensuamos.</a:t>
            </a:r>
          </a:p>
        </p:txBody>
      </p:sp>
    </p:spTree>
    <p:extLst>
      <p:ext uri="{BB962C8B-B14F-4D97-AF65-F5344CB8AC3E}">
        <p14:creationId xmlns:p14="http://schemas.microsoft.com/office/powerpoint/2010/main" val="849182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73AC96-53E7-4C48-8E09-C1EDB129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e1bc5901e436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A6E7B-F1D5-471F-953F-D2C5F7B7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9B1F9-4095-47BE-AFA8-7AE4CFF6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94F99-40D3-4D17-B33B-A0807CD5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6FAF2-5AC6-433C-8AFC-A8615D2F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35545c0864128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FABB1-6D59-4E1E-B536-B8208D73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E8B16-747A-400D-8EFF-0206ECC9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Abertura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818E0-3EB3-4930-84ED-E8A71640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Eliminar dúvidas conceituais antes de entrar no exercício.</a:t>
            </a:r>
          </a:p>
        </p:txBody>
      </p:sp>
    </p:spTree>
    <p:extLst>
      <p:ext uri="{BB962C8B-B14F-4D97-AF65-F5344CB8AC3E}">
        <p14:creationId xmlns:p14="http://schemas.microsoft.com/office/powerpoint/2010/main" val="3935277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90DD2D-4A26-4C18-9384-C57E2604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84e870484461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B6AE0-72A0-4C9E-B9C5-4CF2CEAF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EC7F3-7CCB-4899-B364-CC6C10F9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916BF-84CD-457E-9C43-2C28CE92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DA74A-CB41-438D-874A-01E45531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D2845-4E0F-4463-BD5E-422F32EF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DÚVIDAS FREQUENTES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F44E24-0164-4045-890F-8166BC8A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Pontos que costumam gerar confusão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E3A97-296E-4AAC-8EC0-B2B41D72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Aquecimento: comece com uma pergunta aberta. Use estes pontos para preencher o tempo.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123BB-DBAE-4B1B-9622-D96677B4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E02AE-82D3-44C9-A891-F6662E66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71E03-7603-4636-8F66-3EB61CD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2FN vs 3FN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B414-2F68-45FD-BC78-2AA470C2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2FN trata de dependência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parcial em PK composta. 3FN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trata de dependência entre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não-chaves. Problemas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diferentes, mesmo efeito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prático: separar tabelas.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440E7A-CE99-4B47-BACB-562196F1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859C4-9BBD-4677-84B8-2E22761A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E6224-9E1F-49DC-91E7-3B5407D7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clientes viola 3FN?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AA797D-BED5-477E-A963-AC06FA1D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Tecnicamente sim — estado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depende de cidade. Em produção,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extrairíamos para dim_cidade.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Aqui mantemos simplificado.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Decisão de design, não erro.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083B3C-73F3-429D-837A-D4DB2570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09C20-1CF1-4654-B251-919074F4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DDEC8-489B-40AE-ABCB-B2626C44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Surrogate key sempre?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8B66A5-EB47-4B41-8C20-E2FBFBD5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Boa prática mas não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obrigatório. Desacopla o DW das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PKs da origem (que podem mudar,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ser reusadas, ou não serem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numéricas).</a:t>
            </a:r>
          </a:p>
        </p:txBody>
      </p:sp>
    </p:spTree>
    <p:extLst>
      <p:ext uri="{BB962C8B-B14F-4D97-AF65-F5344CB8AC3E}">
        <p14:creationId xmlns:p14="http://schemas.microsoft.com/office/powerpoint/2010/main" val="305638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AAB1F3-5BA7-4CE3-88F4-DA36AB69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a4678807b441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B3B39-D6C7-4FB0-92F4-F0B6758F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E9BD9-B2A4-40C0-9040-226F8C9D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CB4FE-B149-4309-B6F3-B0FB8923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37057-7AED-4DA9-8143-359740AC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8e43e808d14f11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4C8CE-3F2E-440A-8452-33AB8E73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27CB39-8AC0-41AB-BB96-1B5F6E9A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Conceitual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E0A67-2635-4C22-B4BF-8EB68568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Diagrama ao vivo: como o schema atual se encaixa nos conceitos de modelagem.</a:t>
            </a:r>
          </a:p>
        </p:txBody>
      </p:sp>
    </p:spTree>
    <p:extLst>
      <p:ext uri="{BB962C8B-B14F-4D97-AF65-F5344CB8AC3E}">
        <p14:creationId xmlns:p14="http://schemas.microsoft.com/office/powerpoint/2010/main" val="16886714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7DA769-1112-44F3-B495-A3C2E8A6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5749479604d9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A1193-58E0-42BC-A003-4C9342E1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D450D-01BD-43D8-98BA-BB4B0FA8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C8135-5C81-435F-BF1E-A605ACD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B0543-F6B2-4B9A-9D9F-5018BBF0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4D031-F914-46FF-86B7-E4ADCC39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WHITEBOARD AO VIVO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C1062-99C2-4A12-805E-F9652978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Desenhar o schema atual e identificar PKs e FKs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72540-068D-4338-967E-8B05D799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Esboce as 4 tabelas, peça ao grupo para identificar chaves e relacionamentos.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8E743-C927-423F-A46B-61769BC5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65A9C-6EF0-4849-93E6-E8F75633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92F82-FFED-4D30-9D0C-A7B14DB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SCHEMA DO dados.db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30A7C-52BE-4A80-AE14-93442A0C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categorias       produtos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----------       --------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categoria_id     produto_id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nome             nome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categoria_id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     preco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clientes        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--------         ------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cliente_id       venda_id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nome            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email            produto_id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cidade           quantidade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estado           data_venda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data_cadastro    valor_total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1A9F3-4071-4BDF-A847-E93EBF46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83A16-B1CE-4763-9A15-67C776BD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F70DB-8936-45EA-BCF0-A161034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CARDINALIDADES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13028-828C-48A8-BEE9-DF37CDBE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categorias (1) ──&lt; (N) produtos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clientes   (1) ──&lt; (N) vendas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produtos   (1) ──&lt; (N) vendas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Pergunta ao grupo: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"vendas é diferente.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 que ela representa?"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Resposta: evento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(as outras: entidades)</a:t>
            </a:r>
          </a:p>
        </p:txBody>
      </p:sp>
    </p:spTree>
    <p:extLst>
      <p:ext uri="{BB962C8B-B14F-4D97-AF65-F5344CB8AC3E}">
        <p14:creationId xmlns:p14="http://schemas.microsoft.com/office/powerpoint/2010/main" val="20527849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3F9979-33D7-49C2-9008-827C08DA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7bde12fcd4a81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40835-88F3-4402-9D89-2F3B4E5E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0CC82-03D6-4ACF-8267-AD53A6A6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FB36B-D038-4E3F-832F-ECA5D0AA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704C9-29B9-4D12-879D-A4669AEC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9C67F-C7B2-4F85-AFD4-CEC41D06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ENTIDADE vs EVENTO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17DBEC-0F86-4F18-BBF6-CCCDA278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vendas é uma tabela fato em essência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D4192-909B-426D-899B-9131DCE4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Entender essa distinção é a porta de entrada para o modelo dimensional.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48894-217A-49D6-912B-FCECE0D3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DF89D0-E4DE-43EA-95DD-C4BFE540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7D493-74F0-43EB-8126-7DD78CD2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Entidades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2C4026-88CE-40B1-BBB0-73DBAD55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categorias, produtos, clientes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— descrevem coisas que existem.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Mudam pouco. Viram dimensões no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C9A73-0EC4-4F9E-A8EF-71654D2C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F7B72-A6B4-4E8F-9EA0-DC779AC1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659773-9BAB-408D-AD43-D6B30F31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Eventos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3D00F-4176-4012-B06A-9DE62C51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vendas — representa algo que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aconteceu. Tem data, mede algo.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Vira tabela fato no DW.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C2A04C-0760-45B5-AA89-3B102664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4863AF-ED0B-4C21-AC3D-A7CE3C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8B55F-A17E-406E-A32B-6C10F088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 que falta?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D5D34-F48E-4CFB-B11A-75949370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Uma dim_tempo. Sem ela, não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conseguimos analisar por mês,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trimestre, dia da semana ou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feriados.</a:t>
            </a:r>
          </a:p>
        </p:txBody>
      </p:sp>
    </p:spTree>
    <p:extLst>
      <p:ext uri="{BB962C8B-B14F-4D97-AF65-F5344CB8AC3E}">
        <p14:creationId xmlns:p14="http://schemas.microsoft.com/office/powerpoint/2010/main" val="6918424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C8F743-CC85-4FE5-A27A-6AA094B9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20a0f5e7343f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D5241-ADD4-48E3-8771-99C41304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C6161-240A-4EBD-A277-A62C62E8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ACAED-1E22-4EEB-8930-0B31691D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D2394-2179-402E-BD83-D5632F16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9fca4203f41e8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C6DFB0-518E-417F-A1BE-F1DD4952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23A76-8D38-40F7-A12C-E490A53D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Exercício em Grupo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A362C-9163-4D0C-AFB0-CFC12087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Ex 2.3 ao vivo: modelar o star schema do dados.db colaborativamente.</a:t>
            </a:r>
          </a:p>
        </p:txBody>
      </p:sp>
    </p:spTree>
    <p:extLst>
      <p:ext uri="{BB962C8B-B14F-4D97-AF65-F5344CB8AC3E}">
        <p14:creationId xmlns:p14="http://schemas.microsoft.com/office/powerpoint/2010/main" val="165802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7FD5BC-F6D1-4087-B91C-3E7C3259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3575bf62942c6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72142-E655-4730-9883-12627DCD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29FF9-1DCF-4D16-9406-EBAB1EDA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65D43-EBE9-4FA0-958F-034A3C07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E2107-9128-457F-B727-DF6F7557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6E71E-F339-40B3-BEEB-1F11CA03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ESTRUTURA DO EXERCÍCIO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342877-7F9B-4E34-8BE4-87FB9A29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Três fases para construir o modelo coletivamente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85687-DBE6-41CE-9FD0-F0693918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Cada um propõe primeiro. Depois discutimos divergências. Por fim, consenso.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D6ABB-74BA-4437-8E54-468E2182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89FC9-9D31-4982-BF13-13B85A21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6C86B-1468-4C4C-9458-0583591F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027F9B-BC26-4588-B97E-ADB4FAA2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Individual — 20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24460-601E-46D5-B2E1-78E6C22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Cada participante esboça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fato_vendas + dim_cliente,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dim_produto, dim_tempo.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059575-64F1-421C-A8FA-B278597F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ED775-2B32-40DA-BA49-F6A6F716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B37FC5-A406-40C1-8C4F-90F252C7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FDCB95-4C7E-4650-A5BF-CCBA4ED8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Discussão — 30 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74E83-8807-49F6-B1DC-C41E509F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2-3 voluntários apresentam seu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modelo. Discutimos as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divergências em grupo.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1B483-AA98-4D08-A6B1-1383ECB1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1EB34-F3C9-47C2-9FEA-EFA18FEB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527423-1C11-4BC4-9E4D-900AFAF2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6CDCD4-2E3E-400A-AAA3-143BCEA2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Consenso — 20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D9E860-0721-4081-8BA4-31BF9E4C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Desenhar o modelo final no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whiteboard incorporando 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melhor de cada proposta.</a:t>
            </a:r>
          </a:p>
        </p:txBody>
      </p:sp>
    </p:spTree>
    <p:extLst>
      <p:ext uri="{BB962C8B-B14F-4D97-AF65-F5344CB8AC3E}">
        <p14:creationId xmlns:p14="http://schemas.microsoft.com/office/powerpoint/2010/main" val="15619514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8D66B5-C2CA-45C2-B0C4-01A46E9B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a822c92584324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46201B-3214-4414-ADA5-B78B2C1B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357F4-F731-40B6-AA4E-FBC15876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A5D98-AD1C-4B73-877A-5B3158DD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9F1C3-78AE-4123-91A6-1760126B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E15C0-4842-47B4-9DCF-85F8E2F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DE DISCUSSÃO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F8635-B417-4040-824B-E15E2B92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Provocações para guiar a apresentação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CC416E-4233-40E6-8B46-D16CDD07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Use essas perguntas durante as apresentações para extrair as decisões de design.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80A26-0D5D-406A-8753-58398A9A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027FDA-5617-404A-86F5-409471CC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C324F0-3E2F-438C-A6D1-F9555AC6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email em dim_cliente?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AC9BE-CF22-4B17-B71B-0556C1D5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Bom para sistema transacional, raramente útil em análise.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Pode omitir.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313EB-C257-45DD-9F62-02ACB21C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F4F266-304F-4A7B-90C4-B2FB8478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2EBDE-730F-4C08-A755-4A34A719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nome_categoria desnormalizado?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FB1DA-70FD-4DB2-9564-72E3F8F9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Star schema é mais simples. Snowflake é mais correto mas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adiciona JOINs.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ABC3B-4615-445E-874F-E481D7F5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9CA3F-D3C7-4795-843D-02F0DD8D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D17D0F-CE03-4A11-A0A2-73CFFF9D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eh_fimdesemana em dim_tempo?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B9B1C8-A260-4ABC-9609-3D54AFAF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Campo calculado mas muito útil — padrão de compra muda na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semana vs final de semana.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ACB2B6-60C1-4710-B3D6-B1BC3C26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FD1C4C-3A25-4107-8F2E-B4FF7CB0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3587D7-8916-4D13-A5A4-AEDC0A51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 o preco que muda?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A9C0FA-2C0D-46DA-A704-74BD686E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Onde guardar o preço vigente na data da venda? Abre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discussão de SCD.</a:t>
            </a:r>
          </a:p>
        </p:txBody>
      </p:sp>
    </p:spTree>
    <p:extLst>
      <p:ext uri="{BB962C8B-B14F-4D97-AF65-F5344CB8AC3E}">
        <p14:creationId xmlns:p14="http://schemas.microsoft.com/office/powerpoint/2010/main" val="5393873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D9D431-4917-450A-BFF5-737EEAE5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010145d2f4c0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78CF1-6899-4162-8C5F-5125EBDA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91D95-D3C1-44DD-8ECC-ED53DE95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18C8E-EF6D-4509-A683-8777053A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F8F00-6673-4013-A3F6-D94C2712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30D5C-F97E-4F6D-8E28-64169D6A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MODELO DE REFERÊNCIA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4BF0C-2318-4A0A-A4A7-353B698A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Star schema consensuado — adapte conforme a discussão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27179-9D43-43C3-A045-639928DA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Surrogate keys (sk) desacoplam o DW das PKs da origem. Use como referência, não receita fixa.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0B581-711B-4CD1-8F01-5CF06560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AF5662-2118-4472-8257-79C18033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28115-BAE5-4F4C-AC5A-A7538163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FATO + DIMENSÕES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2D2ED-ABBF-4BC6-8543-391D3BB5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fato_vendas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venda_sk (PK)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cliente_sk (FK)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produto_sk (FK)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tempo_sk (FK)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quantidade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valor_total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dim_cliente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cliente_sk (PK)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 nome, cidade, estado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D1995-860A-4655-8A6A-86E85EC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A2594-203F-43F5-A31A-F4D2FA96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25C87-B595-43BF-9555-2EB258E2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DIMENSÕES (CONT.)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93C53-E5D0-4E72-82AA-25744046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dim_produto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produto_sk (PK)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produto_id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nome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nome_categoria (desnorm.)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preco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dim_tempo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tempo_sk (PK)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data, dia, mes, trimestre, ano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dia_da_semana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 eh_fimdesemana</a:t>
            </a:r>
          </a:p>
        </p:txBody>
      </p:sp>
    </p:spTree>
    <p:extLst>
      <p:ext uri="{BB962C8B-B14F-4D97-AF65-F5344CB8AC3E}">
        <p14:creationId xmlns:p14="http://schemas.microsoft.com/office/powerpoint/2010/main" val="3438983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1ACE0B-5523-421C-852D-627B1547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ecd469bd4415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EDCC4-7E01-40A6-AE12-EC65DAFD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CCC09-60E3-4BF9-9C51-B1664C58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02EDD-DF4A-443B-A1A1-5CDF32BF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8923F-E860-4295-BA65-72FC63B6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4848B0-CAD2-4099-A01E-0E2EA528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 PROVOCATIVA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1F813-C35C-45FE-B179-8C09945A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E se quiséssemos rastrear preço ao longo do tempo?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E238-9F63-4954-BA09-B3A41F03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precisa resolver completamente — plantar a semente de que dimensões mudam ao longo do tempo.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9575C9-4BD9-4CAB-B2F2-AF8036AE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C0093-6B19-4217-865E-455C50FA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E7F43-58C6-4D76-82F9-1C782220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Opção A — Preço na fato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2EB89C-37B1-4703-89C3-BA7789C7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Colocar preco_unitario 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fato_vendas (preço no momento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da venda). Simples e suficiente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para esse caso.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B861D-FE03-412A-8750-B4B6ABAF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15318-8F9D-49BA-A6DE-BCC1FADE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328156-1ECE-4BA1-8C2B-64A9F0A0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Opção B — SCD Tipo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22F76-6A24-4185-9827-9756FB9C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Múltiplos registros em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dim_produto com datas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vigência. Quando o preço muda,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fecha o registro atual e cria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 novo.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5C1AFB-5C74-42BC-970B-5893C543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8329DF-8672-44E6-A5D2-2B01AE72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1EC3C-DE9A-4BE7-A284-7BA2889F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Quando aprofundar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D8296-8092-415D-A72F-1FCA3442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SCD é tópico de pipeline.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Voltaremos no Módulo 5 — Lógica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 ETL/ELT, quando virmos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estratégias de carga.</a:t>
            </a:r>
          </a:p>
        </p:txBody>
      </p:sp>
    </p:spTree>
    <p:extLst>
      <p:ext uri="{BB962C8B-B14F-4D97-AF65-F5344CB8AC3E}">
        <p14:creationId xmlns:p14="http://schemas.microsoft.com/office/powerpoint/2010/main" val="697160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14084A-3F3A-44B8-B01B-38D8B82A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e6f83788042f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F601A-F2C8-4CEE-9109-A664F213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C5D04-CC40-4EBC-8AFB-6B6B7DE2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1E33C-2E16-48E8-9BEA-85C2D083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19044-E951-4629-B16D-0077D788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561ed22494a6e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9608B-2200-428A-B511-E2B9545E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61ADDA-6755-4F0B-B602-68AE050F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BDC71-2319-438A-9DC5-A56DCA9D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Consolidar o aprendizado e criar antecipação para o Módulo 3.</a:t>
            </a:r>
          </a:p>
        </p:txBody>
      </p:sp>
    </p:spTree>
    <p:extLst>
      <p:ext uri="{BB962C8B-B14F-4D97-AF65-F5344CB8AC3E}">
        <p14:creationId xmlns:p14="http://schemas.microsoft.com/office/powerpoint/2010/main" val="21190580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5A3032-F011-4EA5-B997-4C86214D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9f33d2b7a461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01072-7907-42E9-B405-714AC8B4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59350-7563-476C-8490-5776BA82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2F54A-1E97-4FC4-827F-A1C24D99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04987-CFEE-4EC9-9F55-9A8127E1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D896F-BA91-4BE8-A7C1-850594B9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8DD8F-811E-40B1-945B-A75F5123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cobrimos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78565-98B9-4E5B-B2A4-1CCA4855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Todos os objetivos foram trabalhados no conteúdo, exercícios e diagrama ao vivo.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B8097-51EB-4141-8AB2-FD5BA4BC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9A49D-00FD-40A7-BDB0-C195282F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C45C94-5701-4F47-93B0-51003DB5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Entidades, atributos, relacionamentos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78C54-8F9C-4E2C-8CA8-85DAF8EF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Diagrama ao vivo no Bloco 2 sobre o schema do dados.db.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C365B-0BD9-470A-A3CE-4B254101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8BD11-0314-47D7-86FF-EBA6C6B4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EED63A-5ECC-4F2B-AF9F-4CD7614E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Normalização — 1FN, 2FN, 3FN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A4034-2AE1-4EEF-B712-6E512E9D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Conteúdo + Ex 2.1. Quando desnormalizar visto no Ex 2.4.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D9BB09-CEC5-46BD-B2AC-6CAF826C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2DDE83-318C-4221-ADD3-30B69E11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0FB332-154F-4CCC-ADA6-21C87A05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Modelo Dimensional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AE67A0-2B84-45C6-9102-C2A318CE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fato_vendas + dim_cliente + dim_produto + dim_tempo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construído juntos.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39825A-7A5D-4066-9EF8-17D575FD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251CD-F9D6-4A47-8726-9FAE2E95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DA0946-1818-42A5-AC4C-C2A717C5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Star vs Snowflake — quando usar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C51FBF-32D3-4784-996B-9CBC3FBE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Star para BI (simples, performático). Snowflake quando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armazenamento é crítico.</a:t>
            </a:r>
          </a:p>
        </p:txBody>
      </p:sp>
    </p:spTree>
    <p:extLst>
      <p:ext uri="{BB962C8B-B14F-4D97-AF65-F5344CB8AC3E}">
        <p14:creationId xmlns:p14="http://schemas.microsoft.com/office/powerpoint/2010/main" val="14610188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3363C6-F9AC-4A8C-B28A-A2F44D6F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e442e3f9944a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FC85C-5A53-482F-AF7D-5E4F0C02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E021E-89F5-4C29-BC80-B1B84B1F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7428A-CB8E-4B5B-ADD2-332605D9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CEC78-CC92-4616-8D30-5AEE5E92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732B-F5E0-4D98-8335-5D056FF9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663C3-F4A2-423C-B5DA-6D049ACB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 3 — Formatos de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73F39-0592-420A-A797-F8B02213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Como mover e armazenar os dados que modelamos. Antes do pipeline, o formato certo.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68838-5B91-4617-9DC0-937793A0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77633-6E07-4F1C-AEF4-3F652122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8D8D0-2630-4502-B514-9435902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CSV vs JSON vs Parquet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E649AE-07A4-43DC-AF0E-8B8D796E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Quando usar cada um.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Compressão, schema, leitura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colunar vs por linha.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9179C-259A-4B49-BF84-620D90A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808E0-37D9-494B-A787-BA061628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07571C-9287-42A2-AD02-413206B5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Delta Lake e Avro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EBE7A9-0355-4961-8C40-1C10C579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Formatos modernos para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lakehouse e streaming. ACID 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schema evolution.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1C7E6A-278F-4BFE-8EED-C54536F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50D23-0348-4DBD-8AA1-E297D8FD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E0E4C7-9B14-4844-8FE0-33A1C125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Decidir por cenário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30AEE-53D8-4AF6-8C17-1BB5DD0C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5 cenários reais — você escolhe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formato e justifica em grupo.</a:t>
            </a:r>
          </a:p>
        </p:txBody>
      </p:sp>
    </p:spTree>
    <p:extLst>
      <p:ext uri="{BB962C8B-B14F-4D97-AF65-F5344CB8AC3E}">
        <p14:creationId xmlns:p14="http://schemas.microsoft.com/office/powerpoint/2010/main" val="4106712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4E2DB7-44B4-4D97-9A49-60FC5722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645de1114495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DBEF5-8747-4749-ACFE-4C85C7FE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C6B29-48E1-4606-804A-2CAEC21B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E63A5-775A-409E-9D36-586374EA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6b31f027a4d2c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B2833-B92F-4FB7-8474-EF4DB71B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7780A-EB1B-4451-A130-3A6F7C3E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2: Modelagem de Dados</a:t>
            </a:r>
          </a:p>
        </p:txBody>
      </p:sp>
    </p:spTree>
    <p:extLst>
      <p:ext uri="{BB962C8B-B14F-4D97-AF65-F5344CB8AC3E}">
        <p14:creationId xmlns:p14="http://schemas.microsoft.com/office/powerpoint/2010/main" val="9756149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2026-05-11T15:09:49.9210000Z</dcterms:created>
  <dcterms:modified xsi:type="dcterms:W3CDTF">2026-05-11T15:09:49.9210000Z</dcterms:modified>
</coreProperties>
</file>