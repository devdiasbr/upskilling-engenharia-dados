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bdcb06e4f04fb3" /><Relationship Type="http://schemas.openxmlformats.org/officeDocument/2006/relationships/extended-properties" Target="/docProps/app.xml" Id="R8de5f528c90a4458" /><Relationship Type="http://schemas.openxmlformats.org/officeDocument/2006/relationships/officeDocument" Target="/ppt/presentation.xml" Id="R2c19b2a01ae54e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475ac891d44944"/>
  </p:sldMasterIdLst>
  <p:notesMasterIdLst>
    <p:notesMasterId xmlns:r="http://schemas.openxmlformats.org/officeDocument/2006/relationships" r:id="R11f1f83b5bf64ce9"/>
  </p:notesMasterIdLst>
  <p:sldIdLst>
    <p:sldId xmlns:r="http://schemas.openxmlformats.org/officeDocument/2006/relationships" id="256" r:id="R2f8e644591754cee"/>
    <p:sldId xmlns:r="http://schemas.openxmlformats.org/officeDocument/2006/relationships" id="257" r:id="R8bb79368136943e0"/>
    <p:sldId xmlns:r="http://schemas.openxmlformats.org/officeDocument/2006/relationships" id="258" r:id="R45d49c17d90b4340"/>
    <p:sldId xmlns:r="http://schemas.openxmlformats.org/officeDocument/2006/relationships" id="259" r:id="R698c7ce20a184ea7"/>
    <p:sldId xmlns:r="http://schemas.openxmlformats.org/officeDocument/2006/relationships" id="260" r:id="R736d4f2a7e264751"/>
    <p:sldId xmlns:r="http://schemas.openxmlformats.org/officeDocument/2006/relationships" id="261" r:id="R05aa2cff85b4434e"/>
    <p:sldId xmlns:r="http://schemas.openxmlformats.org/officeDocument/2006/relationships" id="262" r:id="R3275f1831d134479"/>
    <p:sldId xmlns:r="http://schemas.openxmlformats.org/officeDocument/2006/relationships" id="263" r:id="R7dc45e30e33a418c"/>
    <p:sldId xmlns:r="http://schemas.openxmlformats.org/officeDocument/2006/relationships" id="264" r:id="R71ae0ef716fe4184"/>
    <p:sldId xmlns:r="http://schemas.openxmlformats.org/officeDocument/2006/relationships" id="265" r:id="Rc727f9a843f64fa1"/>
    <p:sldId xmlns:r="http://schemas.openxmlformats.org/officeDocument/2006/relationships" id="266" r:id="Re2175e8185ef466c"/>
    <p:sldId xmlns:r="http://schemas.openxmlformats.org/officeDocument/2006/relationships" id="267" r:id="Rf0403fcc8a554366"/>
    <p:sldId xmlns:r="http://schemas.openxmlformats.org/officeDocument/2006/relationships" id="268" r:id="R97540c415c934058"/>
    <p:sldId xmlns:r="http://schemas.openxmlformats.org/officeDocument/2006/relationships" id="269" r:id="Rf644a6a02cb54dba"/>
    <p:sldId xmlns:r="http://schemas.openxmlformats.org/officeDocument/2006/relationships" id="270" r:id="R55ba7b753ba74256"/>
    <p:sldId xmlns:r="http://schemas.openxmlformats.org/officeDocument/2006/relationships" id="271" r:id="R50264947538343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75ac891d44944" /><Relationship Type="http://schemas.openxmlformats.org/officeDocument/2006/relationships/theme" Target="/ppt/theme/theme1.xml" Id="Rcd3644c980ad4dea" /><Relationship Type="http://schemas.openxmlformats.org/officeDocument/2006/relationships/notesMaster" Target="/ppt/notesMasters/notesMaster1.xml" Id="R11f1f83b5bf64ce9" /><Relationship Type="http://schemas.openxmlformats.org/officeDocument/2006/relationships/presProps" Target="/ppt/presProps.xml" Id="R4b1794b493c4407e" /><Relationship Type="http://schemas.openxmlformats.org/officeDocument/2006/relationships/viewProps" Target="/ppt/viewProps.xml" Id="R64ff7851033e4b9f" /><Relationship Type="http://schemas.openxmlformats.org/officeDocument/2006/relationships/tableStyles" Target="/ppt/tableStyles.xml" Id="Rb8fbaaf26aa74a00" /><Relationship Type="http://schemas.openxmlformats.org/officeDocument/2006/relationships/slide" Target="/ppt/slides/slide1.xml" Id="R2f8e644591754cee" /><Relationship Type="http://schemas.openxmlformats.org/officeDocument/2006/relationships/slide" Target="/ppt/slides/slide2.xml" Id="R8bb79368136943e0" /><Relationship Type="http://schemas.openxmlformats.org/officeDocument/2006/relationships/slide" Target="/ppt/slides/slide3.xml" Id="R45d49c17d90b4340" /><Relationship Type="http://schemas.openxmlformats.org/officeDocument/2006/relationships/slide" Target="/ppt/slides/slide4.xml" Id="R698c7ce20a184ea7" /><Relationship Type="http://schemas.openxmlformats.org/officeDocument/2006/relationships/slide" Target="/ppt/slides/slide5.xml" Id="R736d4f2a7e264751" /><Relationship Type="http://schemas.openxmlformats.org/officeDocument/2006/relationships/slide" Target="/ppt/slides/slide6.xml" Id="R05aa2cff85b4434e" /><Relationship Type="http://schemas.openxmlformats.org/officeDocument/2006/relationships/slide" Target="/ppt/slides/slide7.xml" Id="R3275f1831d134479" /><Relationship Type="http://schemas.openxmlformats.org/officeDocument/2006/relationships/slide" Target="/ppt/slides/slide8.xml" Id="R7dc45e30e33a418c" /><Relationship Type="http://schemas.openxmlformats.org/officeDocument/2006/relationships/slide" Target="/ppt/slides/slide9.xml" Id="R71ae0ef716fe4184" /><Relationship Type="http://schemas.openxmlformats.org/officeDocument/2006/relationships/slide" Target="/ppt/slides/slide10.xml" Id="Rc727f9a843f64fa1" /><Relationship Type="http://schemas.openxmlformats.org/officeDocument/2006/relationships/slide" Target="/ppt/slides/slide11.xml" Id="Re2175e8185ef466c" /><Relationship Type="http://schemas.openxmlformats.org/officeDocument/2006/relationships/slide" Target="/ppt/slides/slide12.xml" Id="Rf0403fcc8a554366" /><Relationship Type="http://schemas.openxmlformats.org/officeDocument/2006/relationships/slide" Target="/ppt/slides/slide13.xml" Id="R97540c415c934058" /><Relationship Type="http://schemas.openxmlformats.org/officeDocument/2006/relationships/slide" Target="/ppt/slides/slide14.xml" Id="Rf644a6a02cb54dba" /><Relationship Type="http://schemas.openxmlformats.org/officeDocument/2006/relationships/slide" Target="/ppt/slides/slide15.xml" Id="R55ba7b753ba74256" /><Relationship Type="http://schemas.openxmlformats.org/officeDocument/2006/relationships/slide" Target="/ppt/slides/slide16.xml" Id="R50264947538343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772832d1a684a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0ea9e195b047d6" /><Relationship Type="http://schemas.openxmlformats.org/officeDocument/2006/relationships/notesMaster" Target="/ppt/notesMasters/notesMaster1.xml" Id="R3c2c49b07d8845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258c1d203b4e40" /><Relationship Type="http://schemas.openxmlformats.org/officeDocument/2006/relationships/notesMaster" Target="/ppt/notesMasters/notesMaster1.xml" Id="R52a88ea14f3444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64699d75374a69" /><Relationship Type="http://schemas.openxmlformats.org/officeDocument/2006/relationships/notesMaster" Target="/ppt/notesMasters/notesMaster1.xml" Id="R9d92aff96ec24b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62ec5a17414c3a" /><Relationship Type="http://schemas.openxmlformats.org/officeDocument/2006/relationships/notesMaster" Target="/ppt/notesMasters/notesMaster1.xml" Id="Re1f78c5985da41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186e7dfc1f4897" /><Relationship Type="http://schemas.openxmlformats.org/officeDocument/2006/relationships/notesMaster" Target="/ppt/notesMasters/notesMaster1.xml" Id="R6ff5d340ad7d4d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c9d4f2ce10484a" /><Relationship Type="http://schemas.openxmlformats.org/officeDocument/2006/relationships/notesMaster" Target="/ppt/notesMasters/notesMaster1.xml" Id="R8f24f57b89e24e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c9c27768ea4b68" /><Relationship Type="http://schemas.openxmlformats.org/officeDocument/2006/relationships/notesMaster" Target="/ppt/notesMasters/notesMaster1.xml" Id="Ra50709bbba3545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8f6b86e8344843" /><Relationship Type="http://schemas.openxmlformats.org/officeDocument/2006/relationships/notesMaster" Target="/ppt/notesMasters/notesMaster1.xml" Id="R3e47c882a44d4f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fb6e91ba864793" /><Relationship Type="http://schemas.openxmlformats.org/officeDocument/2006/relationships/notesMaster" Target="/ppt/notesMasters/notesMaster1.xml" Id="Rba6dce3b7a1f4f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04f9d70a114a6c" /><Relationship Type="http://schemas.openxmlformats.org/officeDocument/2006/relationships/notesMaster" Target="/ppt/notesMasters/notesMaster1.xml" Id="R2b895cd480524b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587966caa74029" /><Relationship Type="http://schemas.openxmlformats.org/officeDocument/2006/relationships/notesMaster" Target="/ppt/notesMasters/notesMaster1.xml" Id="R102e2fab6fdf4e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04ca1b0be5458e" /><Relationship Type="http://schemas.openxmlformats.org/officeDocument/2006/relationships/notesMaster" Target="/ppt/notesMasters/notesMaster1.xml" Id="Rec792e6b9a064e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34d2f0de004a18" /><Relationship Type="http://schemas.openxmlformats.org/officeDocument/2006/relationships/notesMaster" Target="/ppt/notesMasters/notesMaster1.xml" Id="Re1f5db7cacc940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3fbf4ec1414e1a" /><Relationship Type="http://schemas.openxmlformats.org/officeDocument/2006/relationships/notesMaster" Target="/ppt/notesMasters/notesMaster1.xml" Id="R9f5c9c86c1f047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ec00cb61e44a1a" /><Relationship Type="http://schemas.openxmlformats.org/officeDocument/2006/relationships/notesMaster" Target="/ppt/notesMasters/notesMaster1.xml" Id="R3bf4303eded747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4e828f2f2a4d48" /><Relationship Type="http://schemas.openxmlformats.org/officeDocument/2006/relationships/notesMaster" Target="/ppt/notesMasters/notesMaster1.xml" Id="R1a48cb3ed5df4a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139e9dda2482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8b59ad663de45de" /><Relationship Type="http://schemas.openxmlformats.org/officeDocument/2006/relationships/slideLayout" Target="/ppt/slideLayouts/slideLayout2.xml" Id="R516597dce58041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6597dce58041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07c8a4256846f0" /><Relationship Type="http://schemas.openxmlformats.org/officeDocument/2006/relationships/image" Target="/ppt/media/image.png" Id="R0485f9be467e4051" /><Relationship Type="http://schemas.openxmlformats.org/officeDocument/2006/relationships/image" Target="/ppt/media/image2.png" Id="Ra87a749db6864ffb" /><Relationship Type="http://schemas.openxmlformats.org/officeDocument/2006/relationships/notesSlide" Target="/ppt/notesSlides/notesSlide1.xml" Id="R7f32954c704045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17d88e1784a7d" /><Relationship Type="http://schemas.openxmlformats.org/officeDocument/2006/relationships/image" Target="/ppt/media/image3.png" Id="R17bc6d13acfb487a" /><Relationship Type="http://schemas.openxmlformats.org/officeDocument/2006/relationships/notesSlide" Target="/ppt/notesSlides/notesSlide2.xml" Id="R9d4e02470cc347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749706cb8949de" /><Relationship Type="http://schemas.openxmlformats.org/officeDocument/2006/relationships/image" Target="/ppt/media/image4.png" Id="Rd1bbf2de872f4aef" /><Relationship Type="http://schemas.openxmlformats.org/officeDocument/2006/relationships/image" Target="/ppt/media/image5.png" Id="R1c9072ec7dbb4421" /><Relationship Type="http://schemas.openxmlformats.org/officeDocument/2006/relationships/notesSlide" Target="/ppt/notesSlides/notesSlide3.xml" Id="R7d67d943e6074e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cfbed4ba1f48ae" /><Relationship Type="http://schemas.openxmlformats.org/officeDocument/2006/relationships/image" Target="/ppt/media/image6.png" Id="Rcfc5520a3d9542b5" /><Relationship Type="http://schemas.openxmlformats.org/officeDocument/2006/relationships/notesSlide" Target="/ppt/notesSlides/notesSlide4.xml" Id="Ree5203fb305c4e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3a4857baa14776" /><Relationship Type="http://schemas.openxmlformats.org/officeDocument/2006/relationships/image" Target="/ppt/media/image7.png" Id="Rec38275308db4c56" /><Relationship Type="http://schemas.openxmlformats.org/officeDocument/2006/relationships/image" Target="/ppt/media/image8.png" Id="R9494a683a5144d45" /><Relationship Type="http://schemas.openxmlformats.org/officeDocument/2006/relationships/notesSlide" Target="/ppt/notesSlides/notesSlide5.xml" Id="R149042ec9a5041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dbdf92f5d746c8" /><Relationship Type="http://schemas.openxmlformats.org/officeDocument/2006/relationships/image" Target="/ppt/media/image9.png" Id="R7302c040365b4d5a" /><Relationship Type="http://schemas.openxmlformats.org/officeDocument/2006/relationships/notesSlide" Target="/ppt/notesSlides/notesSlide6.xml" Id="Rea2bd2fb504940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35b051bb014921" /><Relationship Type="http://schemas.openxmlformats.org/officeDocument/2006/relationships/image" Target="/ppt/media/image10.png" Id="R923852674ed94daf" /><Relationship Type="http://schemas.openxmlformats.org/officeDocument/2006/relationships/notesSlide" Target="/ppt/notesSlides/notesSlide7.xml" Id="Rd1aa57a5d9084b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2f2f1a789a43dc" /><Relationship Type="http://schemas.openxmlformats.org/officeDocument/2006/relationships/image" Target="/ppt/media/image11.png" Id="R90b6d6755b19476e" /><Relationship Type="http://schemas.openxmlformats.org/officeDocument/2006/relationships/image" Target="/ppt/media/image12.png" Id="R99687f12f9294375" /><Relationship Type="http://schemas.openxmlformats.org/officeDocument/2006/relationships/notesSlide" Target="/ppt/notesSlides/notesSlide8.xml" Id="Rda1571ebe70b45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a272b4bd38472f" /><Relationship Type="http://schemas.openxmlformats.org/officeDocument/2006/relationships/image" Target="/ppt/media/image13.png" Id="R3ca45f00768d413e" /><Relationship Type="http://schemas.openxmlformats.org/officeDocument/2006/relationships/notesSlide" Target="/ppt/notesSlides/notesSlide9.xml" Id="R3da72c8f4e2f45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84c658b6ee4224" /><Relationship Type="http://schemas.openxmlformats.org/officeDocument/2006/relationships/image" Target="/ppt/media/image14.png" Id="Raddf9302fbb64ed3" /><Relationship Type="http://schemas.openxmlformats.org/officeDocument/2006/relationships/notesSlide" Target="/ppt/notesSlides/notesSlide10.xml" Id="Rf1018279210b4b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f46711a8624425" /><Relationship Type="http://schemas.openxmlformats.org/officeDocument/2006/relationships/image" Target="/ppt/media/image15.png" Id="Rf81e4c6b9c6d4746" /><Relationship Type="http://schemas.openxmlformats.org/officeDocument/2006/relationships/notesSlide" Target="/ppt/notesSlides/notesSlide11.xml" Id="R73b05672a8f84d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2f3651c3084e4d" /><Relationship Type="http://schemas.openxmlformats.org/officeDocument/2006/relationships/image" Target="/ppt/media/image16.png" Id="R7449233bdcc849a5" /><Relationship Type="http://schemas.openxmlformats.org/officeDocument/2006/relationships/notesSlide" Target="/ppt/notesSlides/notesSlide12.xml" Id="R8070415ed8884a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276ad45e2a4787" /><Relationship Type="http://schemas.openxmlformats.org/officeDocument/2006/relationships/image" Target="/ppt/media/image17.png" Id="R1756e6d79f8d4bb8" /><Relationship Type="http://schemas.openxmlformats.org/officeDocument/2006/relationships/image" Target="/ppt/media/image18.png" Id="Rda6b75aa11eb4a5f" /><Relationship Type="http://schemas.openxmlformats.org/officeDocument/2006/relationships/notesSlide" Target="/ppt/notesSlides/notesSlide13.xml" Id="R4e7d3261a95541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4ebc52cf24a02" /><Relationship Type="http://schemas.openxmlformats.org/officeDocument/2006/relationships/image" Target="/ppt/media/image19.png" Id="Rd59bfa5ce28f4f6b" /><Relationship Type="http://schemas.openxmlformats.org/officeDocument/2006/relationships/notesSlide" Target="/ppt/notesSlides/notesSlide14.xml" Id="R0881f363484140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a07c6438924eee" /><Relationship Type="http://schemas.openxmlformats.org/officeDocument/2006/relationships/image" Target="/ppt/media/image20.png" Id="R7195be963fa94881" /><Relationship Type="http://schemas.openxmlformats.org/officeDocument/2006/relationships/notesSlide" Target="/ppt/notesSlides/notesSlide15.xml" Id="R59156b84b4e140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dd30b34ffe4d51" /><Relationship Type="http://schemas.openxmlformats.org/officeDocument/2006/relationships/image" Target="/ppt/media/image21.png" Id="R5f134a8a035d4c45" /><Relationship Type="http://schemas.openxmlformats.org/officeDocument/2006/relationships/image" Target="/ppt/media/image22.png" Id="Rcf8bece9cd194590" /><Relationship Type="http://schemas.openxmlformats.org/officeDocument/2006/relationships/notesSlide" Target="/ppt/notesSlides/notesSlide16.xml" Id="Rb0e1b3a62d7f42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A6A36-8A93-41A3-A0B2-8CCFD113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5f9be467e4051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12E80-04E2-4CC3-B8FB-20D88E6D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BA5F1-4E7A-4BC9-94E0-BA0B12C4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AF9AA-2208-43A1-93D9-684B9261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a749db6864ffb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53963-8E11-4881-8E74-E302ABE9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TRILHA DE ENGENHARIA DE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3127A-9C8E-4B49-8CC9-C8714E03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FFFFF"/>
                </a:solidFill>
              </a:defRPr>
            </a:pPr>
            <a:r>
              <a:rPr sz="4500" b="0">
                <a:solidFill>
                  <a:srgbClr val="FFFFFF"/>
                </a:solidFill>
              </a:rPr>
              <a:t>Modelagem de 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D567E-8074-49AE-8363-E0B6DE49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Módulo 2  •  Sessão ao Vivo  •  2 horas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FCF30-0DA4-4485-BF1A-2AD970BF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A5685-9C14-42D5-A1E4-6D1FC99C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Modelo certo facilita toda análise futura.</a:t>
            </a:r>
          </a:p>
        </p:txBody>
      </p:sp>
    </p:spTree>
    <p:extLst>
      <p:ext uri="{BB962C8B-B14F-4D97-AF65-F5344CB8AC3E}">
        <p14:creationId xmlns:p14="http://schemas.microsoft.com/office/powerpoint/2010/main" val="1066325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A8225-AC4F-45ED-9959-A7B85EAE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c6d13acfb487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91F2D-87A6-4439-A2F5-8E532AAC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021E2-0F89-4235-A3BA-C1939DF5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C4B0B-C70D-47B4-9D71-56510A96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539B8-F4A2-445C-B3C3-5667386E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6EF2F-728A-4228-A156-566CCF04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A5008-98DE-455F-AD13-0C4EE318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 que vamos fazer hoje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4CC0B-14BF-4414-A582-CA5C9A9F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Sessão interativa com whiteboard e exercício colaborativo de modelagem.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1925E-F4BA-42F9-958A-CB922414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6EDB2-338B-4311-884B-91BEF4B0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BDEBC-C06F-42C6-A6D0-AD0A5945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Abertura — 10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EB413-7C54-4713-87DC-88DD344E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Dúvidas rápidas do conteúdo: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2FN, 3FN, surrogate keys.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9006F-CB70-44E1-9E0E-1F1D1847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39097-3728-4AC1-8AE3-7395F750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F99F-AF6A-4496-8D6B-3F5B9238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Conceitual — 20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FCE5C-7CE4-4988-83E5-ED0EBF0A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Diagrama ao vivo conectando 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schema do dados.db aos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conceitos.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F4E77-70ED-43D4-AEE4-4197F2E4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55484-4ECA-4B61-A941-C301D345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97A04-AAFA-469E-BF4B-91C5F0B2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Exercício — 70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95523-C00A-4062-99C0-9F0F78B5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Modelo dimensional ao vivo: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cada um propõe, discutimos,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consensuamos.</a:t>
            </a:r>
          </a:p>
        </p:txBody>
      </p:sp>
    </p:spTree>
    <p:extLst>
      <p:ext uri="{BB962C8B-B14F-4D97-AF65-F5344CB8AC3E}">
        <p14:creationId xmlns:p14="http://schemas.microsoft.com/office/powerpoint/2010/main" val="815845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EE9CAF-CEF0-4589-B593-2F4D7F15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bf2de872f4ae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145C7-FBF5-4018-BABA-71D3058E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2EC36-655B-44EA-9114-E0036B7C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EDD5B-0AB7-4997-9CF7-604FD43A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A33C8-7455-43A7-A7E5-16260547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072ec7dbb4421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3A9CE-B56D-47AE-AC0B-E1F1360F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4D97E-1C60-411F-A80D-D20A364F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Abertura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A0E62-8192-4D24-988E-582428FF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Eliminar dúvidas conceituais antes de entrar no exercício.</a:t>
            </a:r>
          </a:p>
        </p:txBody>
      </p:sp>
    </p:spTree>
    <p:extLst>
      <p:ext uri="{BB962C8B-B14F-4D97-AF65-F5344CB8AC3E}">
        <p14:creationId xmlns:p14="http://schemas.microsoft.com/office/powerpoint/2010/main" val="1857522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E84DA3-F73B-445D-8B09-BACA97E6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5520a3d9542b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22063-B7B4-4054-8A1C-45C61803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D6730-C70B-4CB2-A99A-F8EE2043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39E0C-6274-4B9A-93FF-45CAABD5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4A1FF-7AE6-427C-A6CE-6EF5B175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1F099-2130-43A1-A0AB-46C29E2B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DÚVIDAS FREQUENTES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5CB17-EA77-4A8D-8AB6-1C4A89E3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Pontos que costumam gerar confusão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49E02-6149-4C34-934C-16A0D1D1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Aquecimento: comece com uma pergunta aberta. Use estes pontos para preencher o tempo.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EB11F-A0C7-4EFA-BFA7-666A765E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8C2BB-4498-4065-8D57-72A369F6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8DBFC-D2EB-42FE-B0FC-ED8750D5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2FN vs 3FN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129AA-2489-4F82-8BD2-04A49287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2FN trata de dependência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parcial em PK composta. 3FN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trata de dependência entre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não-chaves. Problemas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diferentes, mesmo efeito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prático: separar tabelas.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84E2C-E5D7-4E19-ADC5-69DDCB0B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D23B9-3091-48A2-BB60-722C5FAA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45F82-84C6-42EB-8A7D-39E38A26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clientes viola 3FN?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731EE-6257-49B7-8067-EDD6E966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Tecnicamente sim — estado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depende de cidade. Em produção,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extrairíamos para dim_cidade.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Aqui mantemos simplificado.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Decisão de design, não erro.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A1582-4480-4583-8727-9361285E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33E8C-DACA-4478-9858-91C559D6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6380E-CBF0-441B-BF92-C86D89DB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Surrogate key sempre?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94585-D81A-46AE-BA39-BDBBBC4B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Boa prática mas não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obrigatório. Desacopla o DW das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PKs da origem (que podem mudar,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ser reusadas, ou não serem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numéricas).</a:t>
            </a:r>
          </a:p>
        </p:txBody>
      </p:sp>
    </p:spTree>
    <p:extLst>
      <p:ext uri="{BB962C8B-B14F-4D97-AF65-F5344CB8AC3E}">
        <p14:creationId xmlns:p14="http://schemas.microsoft.com/office/powerpoint/2010/main" val="1450750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A8BB1D-18E7-4872-AE7F-FC64D697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8275308db4c5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0FDB5-EC2B-4FA0-8D88-17647AFE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1A461-BA66-4167-AF3C-763378FC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7C54A-5F95-4150-BCA8-CC2A5BA3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37503-FCF0-4FA6-BC6D-6629680B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4a683a5144d45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3D124-EA02-4455-A464-1B734911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CA6B6-7353-440F-8185-232E66E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Conceitual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B9582-1910-4C30-B517-DD7B2418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Diagrama ao vivo: como o schema atual se encaixa nos conceitos de modelagem.</a:t>
            </a:r>
          </a:p>
        </p:txBody>
      </p:sp>
    </p:spTree>
    <p:extLst>
      <p:ext uri="{BB962C8B-B14F-4D97-AF65-F5344CB8AC3E}">
        <p14:creationId xmlns:p14="http://schemas.microsoft.com/office/powerpoint/2010/main" val="1493571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2EBBBF-98E8-4A27-9687-A1CC9B70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2c040365b4d5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3503F-EF83-4AB2-A90F-FD689662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96E0C-DD96-46D1-B1DF-225B551B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0CA86-6976-43ED-B50F-F267F16A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BCEC8-E483-4C1A-834A-C31D6647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8F556-92AA-426B-839C-CB2A4EFE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WHITEBOARD AO VIVO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B808D-4359-4840-962F-2D72B36D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Desenhar o schema atual e identificar PKs e FKs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AB673-85F5-4D49-80BC-6F2A9E66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Esboce as 4 tabelas, peça ao grupo para identificar chaves e relacionamentos.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FA27E-3E2F-4209-9AFE-3F83B317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5BBDF-62A0-42E6-A11B-19619339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54CF2-19E5-4FA8-91E4-804E848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SCHEMA DO dados.db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CBD33-ADC1-452C-8D64-4E6D3D43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categorias       produtos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----------       --------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categoria_id     produto_id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nome             nome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     categoria_id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     preco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clientes         vendas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--------         ------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cliente_id       venda_id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nome             cliente_id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email            produto_id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cidade           quantidade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estado           data_venda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data_cadastro    valor_total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5BB00-2B91-4A7D-8FA3-202DE902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052EC-02AD-450D-858A-F5FE1207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25A91-0DED-4B5D-8D2E-6B9C36A8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CARDINALIDADES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F5854-A913-4136-89BC-FE15F2A3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categorias (1) ──&lt; (N) produtos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clientes   (1) ──&lt; (N) vendas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produtos   (1) ──&lt; (N) vendas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Pergunta ao grupo: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"vendas é diferente.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O que ela representa?"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Resposta: evento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(as outras: entidades)</a:t>
            </a:r>
          </a:p>
        </p:txBody>
      </p:sp>
    </p:spTree>
    <p:extLst>
      <p:ext uri="{BB962C8B-B14F-4D97-AF65-F5344CB8AC3E}">
        <p14:creationId xmlns:p14="http://schemas.microsoft.com/office/powerpoint/2010/main" val="1187752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50E25-B13D-4BEE-9170-48B76F6E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852674ed94da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E46B5-1984-4FEE-9799-3B639FD4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3356A-6BC0-4A8A-B556-1E180999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AB667-187D-4F6C-A329-A5C87756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69FCC-A2BB-4820-8D10-0F5141F5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93A31-3469-4F3D-BEE2-90899749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ENTIDADE vs EVENTO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2A7C3-FE26-4BD3-9C9B-9DF90879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vendas é uma tabela fato em essência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3911F-A693-4394-9905-384DDA29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Entender essa distinção é a porta de entrada para o modelo dimensional.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50221-B7EB-42D3-8895-3FF2958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CAACC-9FE2-436D-B757-07477F20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C5CC8-AA42-4BE5-AD11-4812FBFB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Entidades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1C110-2D60-409E-8EF2-7B5305C3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categorias, produtos, clientes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— descrevem coisas que existem.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Mudam pouco. Viram dimensões no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8DF98-96E3-4DDA-9F23-D0092A8A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CEC36-8E00-4316-BA07-D311DFFC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A706C-D2A3-43B0-B8E5-D77F022F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Eventos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C7B12-F0F4-4EE0-9FB4-82FD5F77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vendas — representa algo que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aconteceu. Tem data, mede algo.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Vira tabela fato no DW.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279E2-8EB7-4BBA-AACF-43E85AC5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FBB59-69F6-4AEE-B9AB-ED69F2FE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4BB4D-3F89-4624-850D-BECF8E34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O que falta?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C96D4-3EA4-438A-9D35-A78B7BCD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Uma dim_tempo. Sem ela, não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conseguimos analisar por mês,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trimestre, dia da semana ou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feriados.</a:t>
            </a:r>
          </a:p>
        </p:txBody>
      </p:sp>
    </p:spTree>
    <p:extLst>
      <p:ext uri="{BB962C8B-B14F-4D97-AF65-F5344CB8AC3E}">
        <p14:creationId xmlns:p14="http://schemas.microsoft.com/office/powerpoint/2010/main" val="1657394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D4F25C-D9F5-40FA-B800-9FB396D2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6d6755b19476e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C1737-9B11-4A24-9B82-44CC5BCF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060D6-8213-459C-9405-DEA82111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F1F51-5AB9-4D55-83A7-5EBCED3A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C19D6-EEF9-4C9A-98F9-34B9233D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87f12f9294375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063DC-8975-430B-BFCC-C5956817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20CD6-5AE7-4F00-9E44-4F3EDCBA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Exercício em 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F00A7-C690-4B57-B03D-8C402EC7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Ex 2.3 ao vivo: modelar o star schema do dados.db colaborativamente.</a:t>
            </a:r>
          </a:p>
        </p:txBody>
      </p:sp>
    </p:spTree>
    <p:extLst>
      <p:ext uri="{BB962C8B-B14F-4D97-AF65-F5344CB8AC3E}">
        <p14:creationId xmlns:p14="http://schemas.microsoft.com/office/powerpoint/2010/main" val="91588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492AB5-AA0C-47A2-9022-A32D2A7B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45f00768d413e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FDD0E-2795-4F85-8B66-66802617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01CCF-FA0F-436B-B069-2B34C614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93023-91D2-447C-B195-664D51FB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ACCC8-0F76-4949-BE81-B05D7889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F1BE4-1614-4336-A569-38681B04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ESTRUTURA DO EXERCÍCIO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A87BE-CF30-478C-85A5-D7CCC650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Três fases para construir o modelo coletivamente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32568-258B-4000-87EB-FA3AF655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Cada um propõe primeiro. Depois discutimos divergências. Por fim, consenso.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7751F-4EA7-4FA3-A023-CB70552E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B4290-EC16-4C8A-9595-234C15BB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26987-4FCC-4D02-80AA-1BDC91FB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85E95-5D87-4259-AFE5-0FE504DA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Individual — 20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BB785-8A4A-48FA-A1DE-8962F5E3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Cada participante esboça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fato_vendas + dim_cliente,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dim_produto, dim_tempo.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84208-A0EF-46FC-AE1B-A47C0879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15E19-E378-435F-B54B-C69AE914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E63A4-C008-46AD-822D-2607F3BD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1839B-DB57-4276-AFBB-7192A99C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Discussão — 30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9A8BB-D329-4BDE-809B-EB7A5E37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2-3 voluntários apresentam seu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modelo. Discutimos as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divergências em grupo.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DFB44-9F96-402B-A644-561DE463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23892-ADE5-4E02-86B4-47B2AA74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9420C-8E24-4C32-A7ED-C64A3D0F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59728-4501-4B8E-98E2-30673CBD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Consenso — 20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888BB-6FD8-4564-84DB-511EB15D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Desenhar o modelo final no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whiteboard incorporando o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melhor de cada proposta.</a:t>
            </a:r>
          </a:p>
        </p:txBody>
      </p:sp>
    </p:spTree>
    <p:extLst>
      <p:ext uri="{BB962C8B-B14F-4D97-AF65-F5344CB8AC3E}">
        <p14:creationId xmlns:p14="http://schemas.microsoft.com/office/powerpoint/2010/main" val="19938355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2072E-1CE6-4948-A166-494FC975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f9302fbb64ed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1CEE1-387D-4DAE-B5EB-3CEE971B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8A4C8-DA1D-46B8-82DD-FDA0115A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2F120-598B-4821-ADC7-CEAEB21A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55AC6-DCDE-4B1D-8EA0-C31A3B1D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3A6F0-46FB-4891-8145-42EF753F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PERGUNTAS DE DISCUSSÃO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63E76-6B9B-431E-9BC7-B95BD718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Provocações para guiar a apresentação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3F6AC-EC9E-48DF-80AE-879C2078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Use essas perguntas durante as apresentações para extrair as decisões de design.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9113F-6FE2-4220-9714-3B565733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12CB9-D6F8-4138-A879-D3244A50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8F2AB-915D-4730-BA2B-AC6DB8A2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email em dim_cliente?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DD4C1-D515-446A-8A12-395C44FC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Bom para sistema transacional, raramente útil em análise.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Pode omitir.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C04C0-0462-4DD4-A06C-F31C0DE0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FE310-B8ED-4E8A-94B6-803331C2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48C10-9E75-4EC4-A326-129417B9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nome_categoria desnormalizado?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F35B5-162D-41D2-B35D-DEBFEFE8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Star schema é mais simples. Snowflake é mais correto mas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adiciona JOINs.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01EBA-9411-451C-8D2C-98DA0D96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25D98-3DBE-4529-8E22-3D36E336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9AF76-6DE1-4A00-ACC6-D1AB6518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eh_fimdesemana em dim_tempo?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CAA57-B70D-49E9-8891-8C51BEF4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Campo calculado mas muito útil — padrão de compra muda na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semana vs final de semana.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0FDEFB-E29C-4761-AD7E-8EF89420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697945-CF09-4546-8422-65A7CC75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E1D27-A04A-43C1-91AE-6C4FBAC6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 o preco que muda?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CF118-7401-47EB-AAE6-A2F671F6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Onde guardar o preço vigente na data da venda? Abre 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discussão de SCD.</a:t>
            </a:r>
          </a:p>
        </p:txBody>
      </p:sp>
    </p:spTree>
    <p:extLst>
      <p:ext uri="{BB962C8B-B14F-4D97-AF65-F5344CB8AC3E}">
        <p14:creationId xmlns:p14="http://schemas.microsoft.com/office/powerpoint/2010/main" val="13154581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2A5FDF-02CC-4908-BE20-24E7E17D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e4c6b9c6d474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E5FA8-B16F-46C4-98E6-6BE5261A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4CEF8-B2F7-415C-8C50-B0F316B3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B37D4-20CF-4164-8682-084E3125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AFF30-5CD6-4688-9E7A-F4C8E507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A001B-0C5B-4297-AFE8-AA503FDF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MODELO DE REFERÊNCIA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A85A0-C140-4182-8D9F-A716D7FE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Star schema consensuado — adapte conforme a discussão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D21C9-22F5-4EE9-A478-96FCBB41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Surrogate keys (sk) desacoplam o DW das PKs da origem. Use como referência, não receita fixa.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09A7F-A3F2-4625-B412-14AB20C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DDA79-C367-4324-A1AE-00130BE5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8DEC7-8A65-4620-B907-E0DFECE8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FATO + DIMENSÕES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B2DA6-DFBA-4B8A-8897-9D2334BD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fato_vendas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venda_sk (PK)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cliente_sk (FK)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produto_sk (FK)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tempo_sk (FK)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quantidade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valor_total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dim_cliente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cliente_sk (PK)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cliente_id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- nome, cidade, estado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168B5-4BFD-44C7-AC17-0A7D1641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0C8EF-3FF8-4887-A729-AEAF020C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7B5DE-CB59-491D-AA6E-908C89B4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DIMENSÕES (CONT.)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4C968-AFBA-4203-B94D-8428CCEA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dim_produto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 produto_sk (PK)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 produto_id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 nome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 nome_categoria (desnorm.)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 preco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dim_tempo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 tempo_sk (PK)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 data, dia, mes, trimestre, ano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 dia_da_semana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- eh_fimdesemana</a:t>
            </a:r>
          </a:p>
        </p:txBody>
      </p:sp>
    </p:spTree>
    <p:extLst>
      <p:ext uri="{BB962C8B-B14F-4D97-AF65-F5344CB8AC3E}">
        <p14:creationId xmlns:p14="http://schemas.microsoft.com/office/powerpoint/2010/main" val="4501287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8728A-A010-461B-B280-B6C78D25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9233bdcc849a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B09AF-9DB0-43D5-9C4D-725C10FB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0EE28-8F30-4D80-8B3E-D63ED369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B84EE-7856-4650-894A-666128E4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BD700-6FE8-48EF-919D-D3534998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737F7-BF7B-4C0E-B301-8545005B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PERGUNTA PROVOCATIVA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A2626-F3E9-4392-87D8-F1DBFE0D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E se quiséssemos rastrear preço ao longo do tempo?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C3ACF-368C-4850-BADD-511E7645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Não precisa resolver completamente — plantar a semente de que dimensões mudam ao longo do tempo.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1E79F-81C7-43FB-B2EE-89B6D84F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87646-E2C5-484A-BB23-FB8866FB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EEFFF-D45C-48D3-960B-13B79428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Opção A — Preço na fato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921A4-6373-4DFC-A8C4-7C392D21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Colocar preco_unitario em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fato_vendas (preço no momento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 venda). Simples e suficiente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para esse caso.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F6E92-C1F7-4018-81B2-BBDB58B5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65CFA-D2F4-4BA2-864E-DDCB9D76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B523D-8184-409A-9BF9-194582F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Opção B — SCD Tipo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A3ACC-8D2F-4B0C-82F3-A6E31EED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Múltiplos registros em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dim_produto com datas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vigência. Quando o preço muda,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fecha o registro atual e cria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um novo.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D86EF-C022-4714-9061-DD372004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A73D0-AE1F-44C7-BD1C-58D5B892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89EED-FEAF-4FE7-A265-FAF02B38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Quando aprofundar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50963D-FFF3-40EF-9D53-7BE22166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SCD é tópico de pipeline.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Voltaremos no Módulo 5 — Lógica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 ETL/ELT, quando virmos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estratégias de carga.</a:t>
            </a:r>
          </a:p>
        </p:txBody>
      </p:sp>
    </p:spTree>
    <p:extLst>
      <p:ext uri="{BB962C8B-B14F-4D97-AF65-F5344CB8AC3E}">
        <p14:creationId xmlns:p14="http://schemas.microsoft.com/office/powerpoint/2010/main" val="18537639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F17631-6500-4017-8A3C-B483CE2F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6e6d79f8d4bb8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E004C-3A15-44B7-A3BA-350E7E67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E488B-235C-4C72-BB7C-06DD1CBC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507F3-5027-402D-802A-C740DD4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034D6-3100-420A-B970-5AAF91A8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b75aa11eb4a5f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FE5FC-BA41-4360-9157-762118EB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F6EA8-F9FF-445C-A2C4-86F435AC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Fechamento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580F0-C6FE-4A50-81D0-D909DE85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Consolidar o aprendizado e criar antecipação para o Módulo 3.</a:t>
            </a:r>
          </a:p>
        </p:txBody>
      </p:sp>
    </p:spTree>
    <p:extLst>
      <p:ext uri="{BB962C8B-B14F-4D97-AF65-F5344CB8AC3E}">
        <p14:creationId xmlns:p14="http://schemas.microsoft.com/office/powerpoint/2010/main" val="389844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AE4416-0F10-4332-98DF-1178AE43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bfa5ce28f4f6b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BFD8A-E2B3-4C76-863E-AF09B8D4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7C662-CE31-4F39-BB0B-8E8DAF63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5D61F-8C35-4B41-9A20-EFDD27EC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7A413-C732-4AAD-8472-F8549CF3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F2DC3-CB42-4EDC-873F-902FAD36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OBJETIVOS DO MÓDULO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B3A69-43E5-4BD0-AC9F-E58F8544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 que cobrimos hoje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9A4C4-C24C-4AE0-882C-E168439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Todos os objetivos foram trabalhados no conteúdo, exercícios e diagrama ao vivo.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ABF64-518D-44C0-8395-06234FEF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7B8CB-ECF1-42B3-A116-04E8CBF4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A4107-297E-4861-9A54-6B38FFD8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Entidades, atributos, relacionamentos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D4CDE-9D53-43A6-9963-56803CC8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Diagrama ao vivo no Bloco 2 sobre o schema do dados.db.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0E5FE-C6B1-4229-9328-ABE4DD9F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03010-1187-401D-9E90-3FBD0C7F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759D6-8D4A-4D61-A83D-B7B749DD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Normalização — 1FN, 2FN, 3FN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12413-8FEA-41CF-874C-A7B68FB5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Conteúdo + Ex 2.1. Quando desnormalizar visto no Ex 2.4.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652E7-1173-410D-88F5-16C19C2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A9742-DA26-4F2F-BCBA-BF9ADDCD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F39F4-2FF9-472D-97BD-610597E3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Modelo Dimensional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CA2B1-ACA9-47F3-A14C-C410963E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fato_vendas + dim_cliente + dim_produto + dim_tempo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construído juntos.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88F27-4C4E-4048-A4BF-A408D5B2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09E26-D40A-44B7-ACF2-3EA0165E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30763-CCAD-42A0-9888-3A92C8E2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Star vs Snowflake — quando usar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2B39ED-8AA8-4B2B-B187-F2370D38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Star para BI (simples, performático). Snowflake quando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armazenamento é crítico.</a:t>
            </a:r>
          </a:p>
        </p:txBody>
      </p:sp>
    </p:spTree>
    <p:extLst>
      <p:ext uri="{BB962C8B-B14F-4D97-AF65-F5344CB8AC3E}">
        <p14:creationId xmlns:p14="http://schemas.microsoft.com/office/powerpoint/2010/main" val="3423037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B188A8-42C3-4B57-B510-C2443A7F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5be963fa94881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5C7D6-0328-4363-95B9-F54ACAF8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4A5C7-6A9D-4A60-8050-1588DF44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E41D8-C4EF-46A1-A0F1-1EF23E18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AA957-5489-4CD1-8B76-8BE95E24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AD206-230F-4489-AB0D-DBBF09B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PRÓXIMO MÓDULO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D603F-348D-46A0-891F-C785857B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Módulo 3 — Formatos de 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198BB-33CE-4BE2-8D7B-183503B2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Como mover e armazenar os dados que modelamos. Antes do pipeline, o formato certo.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B3337-ED34-4115-8008-2C0A700B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E8226-8A60-4185-8687-376FE035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8D1F5-E5FE-474C-BACB-D37FE9C7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CSV vs JSON vs Parquet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41352-669C-4675-BB01-AF356C21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Quando usar cada um.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Compressão, schema, leitura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colunar vs por linha.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F3AED-DF98-4446-B30F-7A6527B7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594A4-2753-4406-B007-2F8F8029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DA4C7-2FFE-4C90-A4EE-49067A1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Delta Lake e Avro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420E1-3EB4-4E40-85B3-2F669C8B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Formatos modernos para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lakehouse e streaming. ACID 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schema evolution.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E3A42-F7FC-427D-87B1-2304D154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0A566-DE3F-41B5-884F-13BA6B55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C18B9-D155-4F42-9633-2B05E44F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Decidir por cenário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0F92F3-B58E-40CD-88B8-DF9A9584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5 cenários reais — você escolhe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 formato e justifica em grupo.</a:t>
            </a:r>
          </a:p>
        </p:txBody>
      </p:sp>
    </p:spTree>
    <p:extLst>
      <p:ext uri="{BB962C8B-B14F-4D97-AF65-F5344CB8AC3E}">
        <p14:creationId xmlns:p14="http://schemas.microsoft.com/office/powerpoint/2010/main" val="2472719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D9FCE-2448-4DCC-AF2B-92DBBC01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34a8a035d4c4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0B294-C2CB-4935-9014-6D82FFD9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A4027-5C7E-4805-9009-94191F34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FC052-A7D5-4D2A-BF98-7A56A92B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bece9cd194590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BA92B-7A8A-4FD3-A8F6-B3888CE9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9D158-64D6-40BC-9034-CCE3B624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ADBE"/>
                </a:solidFill>
              </a:defRPr>
            </a:pPr>
            <a:r>
              <a:rPr sz="1200" b="0">
                <a:solidFill>
                  <a:srgbClr val="A4ADBE"/>
                </a:solidFill>
              </a:rPr>
              <a:t>Trilha de Engenharia de Dados  •  Módulo 2: Modelagem de Dados</a:t>
            </a:r>
          </a:p>
        </p:txBody>
      </p:sp>
    </p:spTree>
    <p:extLst>
      <p:ext uri="{BB962C8B-B14F-4D97-AF65-F5344CB8AC3E}">
        <p14:creationId xmlns:p14="http://schemas.microsoft.com/office/powerpoint/2010/main" val="537492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2026-05-12T16:42:44.3750000Z</dcterms:created>
  <dcterms:modified xsi:type="dcterms:W3CDTF">2026-05-12T16:42:44.3750000Z</dcterms:modified>
</coreProperties>
</file>