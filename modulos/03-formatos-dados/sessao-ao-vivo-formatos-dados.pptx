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991cd7d4ab4ef0" /><Relationship Type="http://schemas.openxmlformats.org/officeDocument/2006/relationships/extended-properties" Target="/docProps/app.xml" Id="R5d60b90fe8eb4614" /><Relationship Type="http://schemas.openxmlformats.org/officeDocument/2006/relationships/officeDocument" Target="/ppt/presentation.xml" Id="Reb91b79a19f245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98c36351eb4266"/>
  </p:sldMasterIdLst>
  <p:notesMasterIdLst>
    <p:notesMasterId xmlns:r="http://schemas.openxmlformats.org/officeDocument/2006/relationships" r:id="R6d14b143d24548b8"/>
  </p:notesMasterIdLst>
  <p:sldIdLst>
    <p:sldId xmlns:r="http://schemas.openxmlformats.org/officeDocument/2006/relationships" id="256" r:id="R3f6f9c8a81784ecc"/>
    <p:sldId xmlns:r="http://schemas.openxmlformats.org/officeDocument/2006/relationships" id="257" r:id="Rc3a1419332ff438a"/>
    <p:sldId xmlns:r="http://schemas.openxmlformats.org/officeDocument/2006/relationships" id="258" r:id="Ref22383bab2746a4"/>
    <p:sldId xmlns:r="http://schemas.openxmlformats.org/officeDocument/2006/relationships" id="259" r:id="R6085f5fe522c4a6e"/>
    <p:sldId xmlns:r="http://schemas.openxmlformats.org/officeDocument/2006/relationships" id="260" r:id="Rc2e96efcbfd44fb8"/>
    <p:sldId xmlns:r="http://schemas.openxmlformats.org/officeDocument/2006/relationships" id="261" r:id="R2308cd56d7b044e9"/>
    <p:sldId xmlns:r="http://schemas.openxmlformats.org/officeDocument/2006/relationships" id="262" r:id="R9431cf46e2884a6c"/>
    <p:sldId xmlns:r="http://schemas.openxmlformats.org/officeDocument/2006/relationships" id="263" r:id="R57e03ff31f244932"/>
    <p:sldId xmlns:r="http://schemas.openxmlformats.org/officeDocument/2006/relationships" id="264" r:id="R5b31f52cdcac4f1d"/>
    <p:sldId xmlns:r="http://schemas.openxmlformats.org/officeDocument/2006/relationships" id="265" r:id="R759d9f42aac44c7b"/>
    <p:sldId xmlns:r="http://schemas.openxmlformats.org/officeDocument/2006/relationships" id="266" r:id="Re0929087906043a0"/>
    <p:sldId xmlns:r="http://schemas.openxmlformats.org/officeDocument/2006/relationships" id="267" r:id="Rf2f5f76c7627463f"/>
    <p:sldId xmlns:r="http://schemas.openxmlformats.org/officeDocument/2006/relationships" id="268" r:id="Rf025e013f8c441c9"/>
    <p:sldId xmlns:r="http://schemas.openxmlformats.org/officeDocument/2006/relationships" id="269" r:id="R3b6269182541441f"/>
    <p:sldId xmlns:r="http://schemas.openxmlformats.org/officeDocument/2006/relationships" id="270" r:id="Rc1ad1cc34a1546bf"/>
    <p:sldId xmlns:r="http://schemas.openxmlformats.org/officeDocument/2006/relationships" id="271" r:id="Re03043fb18c14c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8c36351eb4266" /><Relationship Type="http://schemas.openxmlformats.org/officeDocument/2006/relationships/theme" Target="/ppt/theme/theme1.xml" Id="R505f3e933fff4650" /><Relationship Type="http://schemas.openxmlformats.org/officeDocument/2006/relationships/notesMaster" Target="/ppt/notesMasters/notesMaster1.xml" Id="R6d14b143d24548b8" /><Relationship Type="http://schemas.openxmlformats.org/officeDocument/2006/relationships/presProps" Target="/ppt/presProps.xml" Id="Rb645ed0b368740d1" /><Relationship Type="http://schemas.openxmlformats.org/officeDocument/2006/relationships/viewProps" Target="/ppt/viewProps.xml" Id="Rb1457a6f08464869" /><Relationship Type="http://schemas.openxmlformats.org/officeDocument/2006/relationships/tableStyles" Target="/ppt/tableStyles.xml" Id="Rbad47f89642c4eb4" /><Relationship Type="http://schemas.openxmlformats.org/officeDocument/2006/relationships/slide" Target="/ppt/slides/slide1.xml" Id="R3f6f9c8a81784ecc" /><Relationship Type="http://schemas.openxmlformats.org/officeDocument/2006/relationships/slide" Target="/ppt/slides/slide2.xml" Id="Rc3a1419332ff438a" /><Relationship Type="http://schemas.openxmlformats.org/officeDocument/2006/relationships/slide" Target="/ppt/slides/slide3.xml" Id="Ref22383bab2746a4" /><Relationship Type="http://schemas.openxmlformats.org/officeDocument/2006/relationships/slide" Target="/ppt/slides/slide4.xml" Id="R6085f5fe522c4a6e" /><Relationship Type="http://schemas.openxmlformats.org/officeDocument/2006/relationships/slide" Target="/ppt/slides/slide5.xml" Id="Rc2e96efcbfd44fb8" /><Relationship Type="http://schemas.openxmlformats.org/officeDocument/2006/relationships/slide" Target="/ppt/slides/slide6.xml" Id="R2308cd56d7b044e9" /><Relationship Type="http://schemas.openxmlformats.org/officeDocument/2006/relationships/slide" Target="/ppt/slides/slide7.xml" Id="R9431cf46e2884a6c" /><Relationship Type="http://schemas.openxmlformats.org/officeDocument/2006/relationships/slide" Target="/ppt/slides/slide8.xml" Id="R57e03ff31f244932" /><Relationship Type="http://schemas.openxmlformats.org/officeDocument/2006/relationships/slide" Target="/ppt/slides/slide9.xml" Id="R5b31f52cdcac4f1d" /><Relationship Type="http://schemas.openxmlformats.org/officeDocument/2006/relationships/slide" Target="/ppt/slides/slide10.xml" Id="R759d9f42aac44c7b" /><Relationship Type="http://schemas.openxmlformats.org/officeDocument/2006/relationships/slide" Target="/ppt/slides/slide11.xml" Id="Re0929087906043a0" /><Relationship Type="http://schemas.openxmlformats.org/officeDocument/2006/relationships/slide" Target="/ppt/slides/slide12.xml" Id="Rf2f5f76c7627463f" /><Relationship Type="http://schemas.openxmlformats.org/officeDocument/2006/relationships/slide" Target="/ppt/slides/slide13.xml" Id="Rf025e013f8c441c9" /><Relationship Type="http://schemas.openxmlformats.org/officeDocument/2006/relationships/slide" Target="/ppt/slides/slide14.xml" Id="R3b6269182541441f" /><Relationship Type="http://schemas.openxmlformats.org/officeDocument/2006/relationships/slide" Target="/ppt/slides/slide15.xml" Id="Rc1ad1cc34a1546bf" /><Relationship Type="http://schemas.openxmlformats.org/officeDocument/2006/relationships/slide" Target="/ppt/slides/slide16.xml" Id="Re03043fb18c14c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2642993d7754f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4c84c204954997" /><Relationship Type="http://schemas.openxmlformats.org/officeDocument/2006/relationships/notesMaster" Target="/ppt/notesMasters/notesMaster1.xml" Id="R9656ccdfa5b946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a2858a2d2340bc" /><Relationship Type="http://schemas.openxmlformats.org/officeDocument/2006/relationships/notesMaster" Target="/ppt/notesMasters/notesMaster1.xml" Id="Rf1c1e18a1b4843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1ba22c96024559" /><Relationship Type="http://schemas.openxmlformats.org/officeDocument/2006/relationships/notesMaster" Target="/ppt/notesMasters/notesMaster1.xml" Id="R101c91263f3849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742493a32b4020" /><Relationship Type="http://schemas.openxmlformats.org/officeDocument/2006/relationships/notesMaster" Target="/ppt/notesMasters/notesMaster1.xml" Id="R723765b159614a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ca8dc527204d59" /><Relationship Type="http://schemas.openxmlformats.org/officeDocument/2006/relationships/notesMaster" Target="/ppt/notesMasters/notesMaster1.xml" Id="R79fb89737acb47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5887adfb4d492f" /><Relationship Type="http://schemas.openxmlformats.org/officeDocument/2006/relationships/notesMaster" Target="/ppt/notesMasters/notesMaster1.xml" Id="R7e47377864ed42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b14114cfb24faf" /><Relationship Type="http://schemas.openxmlformats.org/officeDocument/2006/relationships/notesMaster" Target="/ppt/notesMasters/notesMaster1.xml" Id="R996a643d888c4c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e62089d56b4ecc" /><Relationship Type="http://schemas.openxmlformats.org/officeDocument/2006/relationships/notesMaster" Target="/ppt/notesMasters/notesMaster1.xml" Id="Rac32684afbbc49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3d359813fd47f7" /><Relationship Type="http://schemas.openxmlformats.org/officeDocument/2006/relationships/notesMaster" Target="/ppt/notesMasters/notesMaster1.xml" Id="Rab9e806c68004d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ec0cf5d3cd43ea" /><Relationship Type="http://schemas.openxmlformats.org/officeDocument/2006/relationships/notesMaster" Target="/ppt/notesMasters/notesMaster1.xml" Id="R1df5fa0cbeeb4d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be151e7c474168" /><Relationship Type="http://schemas.openxmlformats.org/officeDocument/2006/relationships/notesMaster" Target="/ppt/notesMasters/notesMaster1.xml" Id="Re0342e0087a844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b4e5fadb7b4c51" /><Relationship Type="http://schemas.openxmlformats.org/officeDocument/2006/relationships/notesMaster" Target="/ppt/notesMasters/notesMaster1.xml" Id="Rb5ff45a56f9f4b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43b654fee24f8f" /><Relationship Type="http://schemas.openxmlformats.org/officeDocument/2006/relationships/notesMaster" Target="/ppt/notesMasters/notesMaster1.xml" Id="R9eda01a60e3a41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09a8584a021462d" /><Relationship Type="http://schemas.openxmlformats.org/officeDocument/2006/relationships/notesMaster" Target="/ppt/notesMasters/notesMaster1.xml" Id="R3c42f9ef92fa47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d281accfa04261" /><Relationship Type="http://schemas.openxmlformats.org/officeDocument/2006/relationships/notesMaster" Target="/ppt/notesMasters/notesMaster1.xml" Id="R8a258c9cc73f44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fa66e7cc884cbf" /><Relationship Type="http://schemas.openxmlformats.org/officeDocument/2006/relationships/notesMaster" Target="/ppt/notesMasters/notesMaster1.xml" Id="Rab33994689c047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66d227ec141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302ee59d9d2497f" /><Relationship Type="http://schemas.openxmlformats.org/officeDocument/2006/relationships/slideLayout" Target="/ppt/slideLayouts/slideLayout2.xml" Id="Rbe8037a87aed4b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8037a87aed4b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deaf242a2e4556" /><Relationship Type="http://schemas.openxmlformats.org/officeDocument/2006/relationships/image" Target="/ppt/media/image.png" Id="Readd80dcfe95484b" /><Relationship Type="http://schemas.openxmlformats.org/officeDocument/2006/relationships/image" Target="/ppt/media/image2.png" Id="R99f588a19af74740" /><Relationship Type="http://schemas.openxmlformats.org/officeDocument/2006/relationships/notesSlide" Target="/ppt/notesSlides/notesSlide1.xml" Id="R1bbcb1b7967e41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9262d39784449c" /><Relationship Type="http://schemas.openxmlformats.org/officeDocument/2006/relationships/image" Target="/ppt/media/image3.png" Id="Rbc651d3849d94277" /><Relationship Type="http://schemas.openxmlformats.org/officeDocument/2006/relationships/notesSlide" Target="/ppt/notesSlides/notesSlide2.xml" Id="Rec7be38662b641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f162b61b3d4fd3" /><Relationship Type="http://schemas.openxmlformats.org/officeDocument/2006/relationships/image" Target="/ppt/media/image4.png" Id="Raf23eedef6764b37" /><Relationship Type="http://schemas.openxmlformats.org/officeDocument/2006/relationships/image" Target="/ppt/media/image5.png" Id="R000f059ee88a4d7c" /><Relationship Type="http://schemas.openxmlformats.org/officeDocument/2006/relationships/notesSlide" Target="/ppt/notesSlides/notesSlide3.xml" Id="Ra9e87c4aeb6544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f2529fb7f74ab5" /><Relationship Type="http://schemas.openxmlformats.org/officeDocument/2006/relationships/image" Target="/ppt/media/image6.png" Id="R2ade65ae47f64e20" /><Relationship Type="http://schemas.openxmlformats.org/officeDocument/2006/relationships/notesSlide" Target="/ppt/notesSlides/notesSlide4.xml" Id="R511048004cdc46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d9fafd700a4ea6" /><Relationship Type="http://schemas.openxmlformats.org/officeDocument/2006/relationships/image" Target="/ppt/media/image7.png" Id="R319aebb7766e44d1" /><Relationship Type="http://schemas.openxmlformats.org/officeDocument/2006/relationships/image" Target="/ppt/media/image8.png" Id="Rb18519d142264157" /><Relationship Type="http://schemas.openxmlformats.org/officeDocument/2006/relationships/notesSlide" Target="/ppt/notesSlides/notesSlide5.xml" Id="Rb9c286c573bb48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8e241bd0654770" /><Relationship Type="http://schemas.openxmlformats.org/officeDocument/2006/relationships/image" Target="/ppt/media/image9.png" Id="R42d75ea0b73f42fc" /><Relationship Type="http://schemas.openxmlformats.org/officeDocument/2006/relationships/notesSlide" Target="/ppt/notesSlides/notesSlide6.xml" Id="R0f5b1566a5114f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32eb442cb94be3" /><Relationship Type="http://schemas.openxmlformats.org/officeDocument/2006/relationships/image" Target="/ppt/media/image10.png" Id="Ra781f5783c1d4b33" /><Relationship Type="http://schemas.openxmlformats.org/officeDocument/2006/relationships/notesSlide" Target="/ppt/notesSlides/notesSlide7.xml" Id="R0a8e90a1395746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50b037b294f33" /><Relationship Type="http://schemas.openxmlformats.org/officeDocument/2006/relationships/image" Target="/ppt/media/image11.png" Id="Rd6cfcf4efc714db0" /><Relationship Type="http://schemas.openxmlformats.org/officeDocument/2006/relationships/image" Target="/ppt/media/image12.png" Id="R7f13cac40f544065" /><Relationship Type="http://schemas.openxmlformats.org/officeDocument/2006/relationships/notesSlide" Target="/ppt/notesSlides/notesSlide8.xml" Id="R9cd0f62e151942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fe8fb6d76b4236" /><Relationship Type="http://schemas.openxmlformats.org/officeDocument/2006/relationships/image" Target="/ppt/media/image13.png" Id="R4bdb89172c2648c0" /><Relationship Type="http://schemas.openxmlformats.org/officeDocument/2006/relationships/notesSlide" Target="/ppt/notesSlides/notesSlide9.xml" Id="R6c4d071c547046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4143567671437c" /><Relationship Type="http://schemas.openxmlformats.org/officeDocument/2006/relationships/image" Target="/ppt/media/image14.png" Id="R3766b1aef5be4b73" /><Relationship Type="http://schemas.openxmlformats.org/officeDocument/2006/relationships/notesSlide" Target="/ppt/notesSlides/notesSlide10.xml" Id="Refcc343eb6124b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e3e37c98674476" /><Relationship Type="http://schemas.openxmlformats.org/officeDocument/2006/relationships/image" Target="/ppt/media/image15.png" Id="R54045f1b112a4f54" /><Relationship Type="http://schemas.openxmlformats.org/officeDocument/2006/relationships/notesSlide" Target="/ppt/notesSlides/notesSlide11.xml" Id="R01af103a0b0544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0fe47d3cf849ae" /><Relationship Type="http://schemas.openxmlformats.org/officeDocument/2006/relationships/image" Target="/ppt/media/image16.png" Id="R443adcfe8eee4db7" /><Relationship Type="http://schemas.openxmlformats.org/officeDocument/2006/relationships/image" Target="/ppt/media/image17.png" Id="R4981fae5bef7426a" /><Relationship Type="http://schemas.openxmlformats.org/officeDocument/2006/relationships/notesSlide" Target="/ppt/notesSlides/notesSlide12.xml" Id="R3d6f79d3310844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5654653b4342b0" /><Relationship Type="http://schemas.openxmlformats.org/officeDocument/2006/relationships/image" Target="/ppt/media/image18.png" Id="R3591dffbd714452d" /><Relationship Type="http://schemas.openxmlformats.org/officeDocument/2006/relationships/notesSlide" Target="/ppt/notesSlides/notesSlide13.xml" Id="R3e2e16e2606647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33a3c135434ff7" /><Relationship Type="http://schemas.openxmlformats.org/officeDocument/2006/relationships/image" Target="/ppt/media/image19.png" Id="Rcf22b50481744d75" /><Relationship Type="http://schemas.openxmlformats.org/officeDocument/2006/relationships/notesSlide" Target="/ppt/notesSlides/notesSlide14.xml" Id="Rf66d00ec620b49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754d34d8b04898" /><Relationship Type="http://schemas.openxmlformats.org/officeDocument/2006/relationships/image" Target="/ppt/media/image20.png" Id="R16afd03f79c64106" /><Relationship Type="http://schemas.openxmlformats.org/officeDocument/2006/relationships/notesSlide" Target="/ppt/notesSlides/notesSlide15.xml" Id="Re5b9441b25de43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1fdd206d54432a" /><Relationship Type="http://schemas.openxmlformats.org/officeDocument/2006/relationships/image" Target="/ppt/media/image21.png" Id="R1ecd06c32ce248fe" /><Relationship Type="http://schemas.openxmlformats.org/officeDocument/2006/relationships/image" Target="/ppt/media/image22.png" Id="R630601776c3a4a65" /><Relationship Type="http://schemas.openxmlformats.org/officeDocument/2006/relationships/notesSlide" Target="/ppt/notesSlides/notesSlide16.xml" Id="Rc4fe78bdbdc34f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11AED-3BC8-458E-B4FA-73DD5AAE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d80dcfe95484b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D359D-9F58-45E9-BB5C-1FD8B2B0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7F5DA-7EDC-410D-8E08-F70DA3DA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F06D7-8C91-409F-9C4A-C31EFD7D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588a19af74740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8F6D2-A509-4941-9680-974AFDD0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TRILHA DE ENGENHARIA DE DADOS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190C9-D9DF-4629-BC61-364F1F6B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FFFFFF"/>
                </a:solidFill>
              </a:defRPr>
            </a:pPr>
            <a:r>
              <a:rPr sz="4500" b="0">
                <a:solidFill>
                  <a:srgbClr val="FFFFFF"/>
                </a:solidFill>
              </a:rPr>
              <a:t>Formatos de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3CE7D-96B6-4BD1-AF7C-A65181FE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666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Módulo 3  •  Sessão ao Vivo  •  2 horas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39B9E-42FA-4D84-A80E-7B69E03C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7197E-31F8-42B5-B444-358CD443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O formato certo paga seu próprio custo.</a:t>
            </a:r>
          </a:p>
        </p:txBody>
      </p:sp>
    </p:spTree>
    <p:extLst>
      <p:ext uri="{BB962C8B-B14F-4D97-AF65-F5344CB8AC3E}">
        <p14:creationId xmlns:p14="http://schemas.microsoft.com/office/powerpoint/2010/main" val="1371403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007547-6130-4FAC-86AE-6FC6A5C1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51d3849d9427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891D3-9881-40B7-B785-ACC788F2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95DD3-37BD-48B1-844C-DC63A978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3A728-CA23-4449-854F-372A9CCF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6ADB0-2008-4AC0-A126-181C4C84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36F9A-7452-4DE2-8B21-631AC806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AGENDA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9F4F9-7140-45A0-9725-39A351CC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Hoje vamos debater decisões — não sintaxe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14EDE-536A-4869-9018-E828E95C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Sessão prática com demo ao vivo e exercício colaborativo de escolha de formato.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4FFA1-4AEA-4BD7-97DD-E66C740D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FF8A8-22F6-446D-8F10-6A6264A1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E97CE-AA36-4D27-A35F-EAD84F2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Abertura — 10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D2A63-46D4-4907-896B-8AF06F2C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Verificação de ambiente: pandas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+ pyarrow funcionando.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8DE90-C47A-4B76-BFFF-8A62B45F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99C0A-0DDA-4E51-97CD-7F7C3561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9B9F3-59F5-46F1-989D-78E69BBF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Demo — 20 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FA43D-C8C4-46E2-B6A8-C589AE26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Comparar tamanhos e tempo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leitura entre CSV, JSON 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Parquet ao vivo.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CE3B2-ECAF-4683-AA14-1D44A448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08003-FBE3-4EF5-9E85-DF64469F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C24EF-791D-4987-B7BD-CCC2C88B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Exercício — 70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DD6157-00CD-422E-B47F-D95C8F7A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 3.3: 5 cenários reais — você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escolhe o formato e defende em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grupo.</a:t>
            </a:r>
          </a:p>
        </p:txBody>
      </p:sp>
    </p:spTree>
    <p:extLst>
      <p:ext uri="{BB962C8B-B14F-4D97-AF65-F5344CB8AC3E}">
        <p14:creationId xmlns:p14="http://schemas.microsoft.com/office/powerpoint/2010/main" val="744458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E77C36-3F0F-425C-99F0-6C960491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3eedef6764b3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EACAA-6690-43ED-8F5B-FFF35C11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EBE0D-E85B-44A0-B00F-0BA0BB88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9D2CC-E29B-4BE2-8234-3F7C1BBE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C979E-9376-438A-AA2D-F3178C82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f059ee88a4d7c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F58A50-3AC0-46E5-95BE-4254757E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2BDCB-DCB4-482F-A712-D44965C3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Abertura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4884F-3AEB-41A9-B655-8A9E9EF5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Garantir que todos têm pandas e pyarrow instalados antes da demo.</a:t>
            </a:r>
          </a:p>
        </p:txBody>
      </p:sp>
    </p:spTree>
    <p:extLst>
      <p:ext uri="{BB962C8B-B14F-4D97-AF65-F5344CB8AC3E}">
        <p14:creationId xmlns:p14="http://schemas.microsoft.com/office/powerpoint/2010/main" val="2408437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51C88-D138-4908-838B-539FE9E8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e65ae47f64e20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EAA58-6BB2-4EF6-8401-B0D87042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5F4BE-CE2B-4541-BAB2-26CF81C7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3840E-8EAE-45D9-AA18-12C51300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8CDF4-56BC-41A8-A4A0-52AD8FD0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CCA61-18A2-4674-AAAD-B02B2CA8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VERIFICAÇÃO DE AMBIENTE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F6EDB-94B5-4080-B592-BDADED7D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Rode o snippet abaixo. Deve carregar 3000 linhas.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58D40-EC65-4F47-993D-23832A1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Se faltar dependência: pip install pandas pyarrow.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88183-30F3-47FA-9686-9140420E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34747-79C8-4872-AA88-4B314A05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69386-7161-42C4-9E6D-15D619A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SNIPPET DE VERIFICAÇÃO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DF26C-99AC-4A87-83D1-E6B7E822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import pandas as pd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import pyarrow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df = pd.read_csv(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'recursos/exports/vendas.csv'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print(f"pandas {pd.__version__}")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print(f"pyarrow {pyarrow.__version__}")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print(f"{len(df)} linhas")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08936-5F8F-4879-AD8A-B723427A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DB7D0-E7D7-46DD-91F6-9C7D9193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434CB-1D41-41C8-AE87-36088FEA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RESULTADO ESPERADO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321D7-FA8F-4398-B7A0-7A695222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pandas 2.x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pyarrow 14.x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3000 linhas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Não funcionou?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$ pip install pandas pyarrow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Sondagem rápida: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"Quem já usou Parquet?"</a:t>
            </a:r>
          </a:p>
        </p:txBody>
      </p:sp>
    </p:spTree>
    <p:extLst>
      <p:ext uri="{BB962C8B-B14F-4D97-AF65-F5344CB8AC3E}">
        <p14:creationId xmlns:p14="http://schemas.microsoft.com/office/powerpoint/2010/main" val="1052698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CF990-ACE9-4537-90AE-760086D6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aebb7766e44d1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507F7-28D1-4891-A2A1-2AC4C399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57B08-BE8F-4AFB-BC82-7A0DDF91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F58EB-8CE9-40BC-9347-124A5F46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0435E-B0AE-43E0-A312-2B533DC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519d142264157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47CB2-7C94-45B8-9FA5-DF719C5B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7263E-62B0-4EB7-A173-A49893CA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Demo ao Vivo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E1E73-4E3B-4DC1-92AB-6F2ABACB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Tornar concreto o que o conteúdo descreveu em texto. Os números têm mais impacto que explicações.</a:t>
            </a:r>
          </a:p>
        </p:txBody>
      </p:sp>
    </p:spTree>
    <p:extLst>
      <p:ext uri="{BB962C8B-B14F-4D97-AF65-F5344CB8AC3E}">
        <p14:creationId xmlns:p14="http://schemas.microsoft.com/office/powerpoint/2010/main" val="504630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61BE0E-F83F-4044-87AE-D978699A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75ea0b73f42fc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2C30BF-E41C-4736-9D22-1A4CF15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85036-1114-4DFE-9678-65F9F191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C7E8B-8CDF-42F1-847B-E69F4F93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367A5-A842-44B5-AA3A-A9D4F44F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4BFC8-5D8F-4734-9027-2BCA4E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DEMO — PARTE 1 DE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29429-CB9B-48B4-9F24-FD054616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Comparação de tamanhos — CSV vs JSON vs Parquet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FA3CD-2806-433A-AEAA-BCAEBAD6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Execute ao vivo. Pause e pergunte ao grupo antes de explicar os números.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20287-FD54-409E-92FB-C06CA61A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855E8-2B9D-4983-B77B-20021047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D34FA-F60A-4CF0-92EF-93122A19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GERAR OS TRÊS FORMATOS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31D90-11CE-4184-BA8D-646D10B6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import os, pandas as pd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os.makedirs('saida', exist_ok=True)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df = pd.read_csv(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'recursos/exports/vendas.csv'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df['data_venda'] = pd.to_datetime(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df['data_venda']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df.to_json('saida/vendas.json',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orient='records', indent=2,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force_ascii=False)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df.to_parquet('saida/vendas.parquet',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compression='snappy', index=False)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92C08-F9AA-482D-9502-BB175EDD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4979E-CB83-446B-8D44-E1622DCE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F48A9-CCC0-499E-9E9F-3E72D2C9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PERGUNTAS AO GRUPO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2360D-3EE4-488C-B2E8-375461A0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1. JSON ficou MAIOR que o CSV.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Alguém esperava isso?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2. Parquet ficou ~5x menor.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O que o motor do Parquet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fez que o CSV não faz?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3. Dar 2 minutos para o grupo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 responder antes de explicar.</a:t>
            </a:r>
          </a:p>
        </p:txBody>
      </p:sp>
    </p:spTree>
    <p:extLst>
      <p:ext uri="{BB962C8B-B14F-4D97-AF65-F5344CB8AC3E}">
        <p14:creationId xmlns:p14="http://schemas.microsoft.com/office/powerpoint/2010/main" val="1111324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0380A-52F9-4E3B-A250-226F7053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1f5783c1d4b3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C579A-668A-4428-9296-CA037995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E79CA-6D83-4503-BFD2-F5623CFF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46328-A027-48ED-A099-56CF8732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220AD-457C-4DF4-979F-65683ACC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DF722-4764-48ED-8F5C-BEBDAEBA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DEMO — PARTE 2 DE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5A763-DEFD-48A7-8567-559CF44D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Leitura seletiva de colunas — onde o Parquet brilha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729E1-3F95-4FD5-AAA1-166AF6E0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Com 3 mil linhas a diferença é ms. Em 500 milhões de linhas, a diferença vira minutos vs horas.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1A377-BA5C-46E6-8DDA-4464383A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C23D7-D55B-4FC7-A6F8-EB1CA541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5F135-C0C3-4562-8269-7ED9118A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0A1EA-2815-492C-8B0E-CE8415E9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import time, pandas as pd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N = 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t0 = time.time()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for _ in range(N):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pd.read_parquet(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'saida/vendas.parquet',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columns=['data_venda', 'valor_total']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t_parquet = time.time() - t0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t0 = time.time()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for _ in range(N):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pd.read_csv(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'recursos/exports/vendas.csv',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    usecols=['data_venda', 'valor_total']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    )</a:t>
            </a:r>
          </a:p>
          <a:p xmlns:a="http://schemas.openxmlformats.org/drawingml/2006/main">
            <a:pPr algn="l">
              <a:defRPr sz="900" b="0">
                <a:solidFill>
                  <a:srgbClr val="1A2440"/>
                </a:solidFill>
              </a:defRPr>
            </a:pPr>
            <a:r>
              <a:rPr sz="900" b="0">
                <a:solidFill>
                  <a:srgbClr val="1A2440"/>
                </a:solidFill>
              </a:rPr>
              <a:t>t_csv = time.time() - t0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BF510-B0D6-4D4E-9C94-21ACFB84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748"/>
          </a:solidFill>
          <a:ln xmlns:a="http://schemas.openxmlformats.org/drawingml/2006/main" w="9525">
            <a:solidFill>
              <a:srgbClr val="2A36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6FBB3-56A7-4D16-A9C7-C9EB50E6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03AD7-8F60-45C7-B4CF-B1E692A1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51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MENSAGEM PARA O GRUPO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CD659-81BB-4BF9-94CA-ABC626E6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5148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Speedup esperado: 2-5x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Mas o ponto não é a velocidade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absoluta — é o que muda quando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escala: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• 3.000 linhas → ms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• 500M linhas, 50 colunas →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Parquet lê 2/50 colunas.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CSV lê tudo.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  Minutos vs horas.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O preço da eficiência é a</a:t>
            </a:r>
          </a:p>
          <a:p xmlns:a="http://schemas.openxmlformats.org/drawingml/2006/main">
            <a:pPr algn="l">
              <a:defRPr sz="900" b="0">
                <a:solidFill>
                  <a:srgbClr val="D9DFEC"/>
                </a:solidFill>
              </a:defRPr>
            </a:pPr>
            <a:r>
              <a:rPr sz="900" b="0">
                <a:solidFill>
                  <a:srgbClr val="D9DFEC"/>
                </a:solidFill>
              </a:rPr>
              <a:t>legibilidade humana.</a:t>
            </a:r>
          </a:p>
        </p:txBody>
      </p:sp>
    </p:spTree>
    <p:extLst>
      <p:ext uri="{BB962C8B-B14F-4D97-AF65-F5344CB8AC3E}">
        <p14:creationId xmlns:p14="http://schemas.microsoft.com/office/powerpoint/2010/main" val="1441274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7A0A5E-F4A4-46DD-AE7B-A77D17DD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fcf4efc714db0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A01D4-A658-43BC-B869-DAF57E7B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FFF50-C088-4E67-818B-FC152BBC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9E232-5565-42E8-84F2-D81019FD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A6619-11F3-430B-94C7-A7C3302D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3cac40f544065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44090-40A8-4C38-9B78-56B21689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660C5-ECC2-4695-995D-C1122107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Exercício em Grupo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3A788-668F-482A-9073-40129A41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Ex 3.3 — 5 cenários reais. Não há sempre resposta única; o que importa é a qualidade da argumentação.</a:t>
            </a:r>
          </a:p>
        </p:txBody>
      </p:sp>
    </p:spTree>
    <p:extLst>
      <p:ext uri="{BB962C8B-B14F-4D97-AF65-F5344CB8AC3E}">
        <p14:creationId xmlns:p14="http://schemas.microsoft.com/office/powerpoint/2010/main" val="132221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DDD6FF-A083-4E45-85FB-F758A2A5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b89172c2648c0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EDB40-F3FD-44A6-8F11-98ACED48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215FF-583D-4153-A774-2B930EA3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26D5D-33DE-406C-A48C-36A249EB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BE71C-7F74-4229-93AA-41F8E232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A780C-239B-423D-979F-95CF51B1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ESTRUTURA DO EXERCÍCIO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492D2-504C-47CD-A227-9F024A79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Quatro etapas — do silêncio ao consenso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83498-5058-44F5-88EA-FEFDA13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Cada um forma sua opinião primeiro, depois discutimos as divergências.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6E673-84EC-4F1C-802B-4DBECC94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0D76B-8CDA-4046-B72C-438BE961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4433A-456E-4C13-83F7-4E5B8831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757BF-A667-4508-9E19-0D4F9358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Individual — 15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C20D9-592C-4074-83D2-6C9ECB25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Cada um lê os 5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cenários e anota suas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respostas em silêncio.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EC926-485F-4DC5-9473-0618F5D2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820D6-C70E-4F53-98CB-10D4EE27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E72AA-3F8F-4737-95D2-F34E7A32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67029-E409-47F4-8206-11DB7A9E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Coleta — 10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43C8C-CE79-4007-90AB-DE1F9B2C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"Quem escolheu X? Quem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escolheu Y?" Anote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divergências.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C567AC-2577-4B37-9673-1D50D94A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447BE-703F-4924-A01E-97EE3415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877AF-1D4C-4FD3-BD33-B17B7E2C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0DA25-7BA4-4716-9EE1-E359008A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Discussão — 30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2B9854-B48B-4CD9-B46B-14CFC49E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Foque nos cenários com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mais divergência.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Sintetize critérios.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A8EBA-920B-4EAD-8F65-B63E93BC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457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4AF13-4C2D-4C5D-97DB-4D953400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457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84B37F-6390-4407-8CFB-8F8E3494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571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5811F"/>
                </a:solidFill>
              </a:defRPr>
            </a:pPr>
            <a:r>
              <a:rPr sz="2700" b="1">
                <a:solidFill>
                  <a:srgbClr val="F5811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1F24E8-F909-45C7-B3CA-0362BFD1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F26"/>
                </a:solidFill>
              </a:defRPr>
            </a:pPr>
            <a:r>
              <a:rPr sz="1050" b="1">
                <a:solidFill>
                  <a:srgbClr val="070F26"/>
                </a:solidFill>
              </a:rPr>
              <a:t>Fechamento — 15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A6C6A4-148D-4A07-A103-EE1973CB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2076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Apresentar o gabarito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focando nos critérios,</a:t>
            </a:r>
          </a:p>
          <a:p xmlns:a="http://schemas.openxmlformats.org/drawingml/2006/main">
            <a:pPr algn="l">
              <a:defRPr sz="900" b="0">
                <a:solidFill>
                  <a:srgbClr val="3F4A5F"/>
                </a:solidFill>
              </a:defRPr>
            </a:pPr>
            <a:r>
              <a:rPr sz="900" b="0">
                <a:solidFill>
                  <a:srgbClr val="3F4A5F"/>
                </a:solidFill>
              </a:rPr>
              <a:t>não na resposta.</a:t>
            </a:r>
          </a:p>
        </p:txBody>
      </p:sp>
    </p:spTree>
    <p:extLst>
      <p:ext uri="{BB962C8B-B14F-4D97-AF65-F5344CB8AC3E}">
        <p14:creationId xmlns:p14="http://schemas.microsoft.com/office/powerpoint/2010/main" val="20719063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B99A92-6161-4407-BFE8-4F1F7311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6b1aef5be4b73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A01E5-9DDF-4386-BD54-D0F5271A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FCCF7-6067-49EA-A582-8EE404FF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C8D43-AF28-4786-9C85-D819C4CD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EB0A2-0BFD-4A70-A705-A8B03165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4366B-AF7A-48CE-AC9F-BDD25F48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OS 5 CENÁRIOS — VISÃO GERAL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40A7D-6B51-4D0B-869E-383DEFD0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Os principais pontos de divergência esperados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A3A4A-75FA-4872-A834-0A08B5DB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Cenário D é o mais aberto. Cenário E é o menos óbvio. Foque tempo neles.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97363-EA64-49C1-939B-50DBF7F1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F0370-FC78-47F4-AFC8-9CEA3876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08184-8CD6-415C-B665-89AE35D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A — Pedidos via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88A44-FC70-45E1-BD77-1389707D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JSON é consenso. Pergunta: como representaria lista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itens em CSV?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787A2-BC56-457E-9CE8-54574CD4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3C92B-C2FB-4077-A85C-0C0B7CB9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0691E-512F-47C2-A4E5-CEF27AF3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B — Logs streaming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E5F7E-2C51-4A81-8379-23F07A98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Broker vs Data Lake têm necessidades diferentes. Dois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sistemas, duas escolhas.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1EF6C-5CE8-4892-9169-16826C7C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2DD5B-2667-427F-ACB8-42814295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0D657-956F-4D9A-9E60-9A935105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C — Sistema com schema evolvendo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3568F-5DEB-4AAD-9D9C-F155DBAC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Alguns vão dizer JSON. Pergunte: como o consumidor sabe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que mudou?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67F40-5E17-46F4-A299-2B3E7C6C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45B31-9685-4B2A-A050-B0921E15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75ECD9-DF5F-4080-91A3-7B52FE3C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 + E — Config + DW versionado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74592-CA49-4C19-81ED-D595E4F8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D: CSV/JSON/YAML — qual o analista edita sozinho? E: Delta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vs SCD em Parquet.</a:t>
            </a:r>
          </a:p>
        </p:txBody>
      </p:sp>
    </p:spTree>
    <p:extLst>
      <p:ext uri="{BB962C8B-B14F-4D97-AF65-F5344CB8AC3E}">
        <p14:creationId xmlns:p14="http://schemas.microsoft.com/office/powerpoint/2010/main" val="646864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1AC03-4BB5-425B-859B-0D74D309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45f1b112a4f54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A0038-B669-4DEF-B19D-66177225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A8C97-4A86-485C-910E-9F4B00D9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03086-6D18-4467-8B75-C6138A77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B986E-F8D5-4281-B64B-F088FC8D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F9922-A4D1-44B8-A51C-08C60246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PONTOS QUE DEVEM EMERGIR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7DAD8-6824-46AA-B832-08329238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Critérios de decisão que o facilitador deve garantir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F59D6-B8F2-4EAA-9C8E-7104FF3B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Não existe formato "melhor" absoluto. Sempre há trade-offs em jogo.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5A277-E91C-4B86-A191-09DC6206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7B39B-17E3-479F-BF68-BE9AECF2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4B77B-0B96-4E82-8834-9103D63A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Trade-off central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F4AD8-F970-4379-A2F4-078BF4F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Legibilidade humana vs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eficiência de máquina é o eixo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principal de toda escolha.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72A7B-AB30-42D0-B702-E59544F5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E05D5-88F6-4381-A5FA-89522BF5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F627D-37C3-4213-B6AD-09B0B1C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Schema evolution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C2C33-0877-436D-AEA6-9998E7DE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Subestimado por quem nunca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sofreu uma quebra de contrato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em produção. Vale ouro.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57767-2B65-4D35-946C-98E4CBD1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A3636-BDC6-4676-9DC8-40BC5D72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1ED33-86DB-4BA3-B972-3B585D82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Delta Lake não é Parquet+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049C9-7190-4496-BF1B-532A8273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É uma camada de confiabilidade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com custo operacional (cluster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Spark ou Delta-rs).</a:t>
            </a:r>
          </a:p>
        </p:txBody>
      </p:sp>
    </p:spTree>
    <p:extLst>
      <p:ext uri="{BB962C8B-B14F-4D97-AF65-F5344CB8AC3E}">
        <p14:creationId xmlns:p14="http://schemas.microsoft.com/office/powerpoint/2010/main" val="958726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A79C67-2206-4BBB-BCF4-E00C40C0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adcfe8eee4db7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6DC8C-98E1-42F7-A8F4-4348EA79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C28FB-69CE-4435-948C-12FAA90C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601C4-D5DE-4229-A975-C0ED0F23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ECBD0-7008-41F0-99B6-0146C14B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NTT DATA UNIVERSITY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1fae5bef7426a"/>
          <a:stretch xmlns:a="http://schemas.openxmlformats.org/drawingml/2006/main"/>
        </p:blipFill>
        <p:spPr>
          <a:xfrm xmlns:a="http://schemas.openxmlformats.org/drawingml/2006/main">
            <a:off x="0" y="1746250"/>
            <a:ext cx="2667000" cy="3556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B58A6-B99C-4794-8EFC-EBC1ACE0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811F"/>
                </a:solidFill>
              </a:defRPr>
            </a:pPr>
            <a:r>
              <a:rPr sz="900" b="1">
                <a:solidFill>
                  <a:srgbClr val="F5811F"/>
                </a:solidFill>
              </a:rPr>
              <a:t>SESSÃO 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3217E-4EC2-464C-BF56-ACC2BFFE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Fechamento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E4D6B-790E-4F93-B375-EAE942F4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4ADBE"/>
                </a:solidFill>
              </a:defRPr>
            </a:pPr>
            <a:r>
              <a:rPr sz="1350" b="0">
                <a:solidFill>
                  <a:srgbClr val="A4ADBE"/>
                </a:solidFill>
              </a:rPr>
              <a:t>Revisar objetivos, demo bônus de Delta Lake e preview do próximo módulo.</a:t>
            </a:r>
          </a:p>
        </p:txBody>
      </p:sp>
    </p:spTree>
    <p:extLst>
      <p:ext uri="{BB962C8B-B14F-4D97-AF65-F5344CB8AC3E}">
        <p14:creationId xmlns:p14="http://schemas.microsoft.com/office/powerpoint/2010/main" val="7732772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8023F5-ABB2-4404-8D09-4CDBC42D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1dffbd714452d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9369F-1F6D-4D91-BEA5-E2E8C9DD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AA023-182E-4DA3-BCD8-0458E0C3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6D03F-B6E0-49FE-8092-A00FAD37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292B2-F8E2-45FA-B4D3-1ECFD80E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9D420-18D1-49F8-951A-0311EA5F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OBJETIVOS DO MÓDULO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FFC92-3BD4-4B9F-B6E1-00C57CB3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O que cobrimos hoje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A73A4-AEA9-4504-AB2A-A330C357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Todos os objetivos foram trabalhados em conteúdo, demo ao vivo e Ex 3.3.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885C6-79E7-46DD-91D6-AAC9795C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D0327-F71E-4CDF-8D4F-87DF4853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AE71B-834B-4FB0-95E4-422659C8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Diferenças entre formatos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BA99F-EDAB-448B-96FF-F9DC832F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CSV, JSON, Parquet, Avro, Delta — tabela comparativa +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demo.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4F86A-04E7-41AE-87B7-14A2CA45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40CF3-51DB-44AE-BDD8-A14CD223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2B9F8-00B2-4B07-9144-F168EE67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337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Escolher formato por cenário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593CD-E40D-46B7-810D-A8BC2E3A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956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Seção 6 + 5 cenários do Ex 3.3 com critérios de decisão.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DAE30-3CE1-402E-A1EA-4E66BBE0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0AFD8-24ED-4360-BBB0-C943FA0C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B7AF4-3183-419C-A233-2D48B45A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Ler/escrever com Python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1FAF9-9A0D-4385-8874-EF3533E1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Seções 2–4 + Ex 3.1 (conversão + comparação de tamanhos).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71B43-6F43-4D1C-BE99-781A4A84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F581F-E6D2-4F06-A74B-9A57DEB2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6E11C-07F7-436E-A3A1-117F0B8D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4820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Por que Parquet e Delta dominam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FB1C5-ED98-4D88-AA93-37DA0856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10150"/>
            <a:ext cx="4629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Demo de leitura seletiva + bônus de time travel.</a:t>
            </a:r>
          </a:p>
        </p:txBody>
      </p:sp>
    </p:spTree>
    <p:extLst>
      <p:ext uri="{BB962C8B-B14F-4D97-AF65-F5344CB8AC3E}">
        <p14:creationId xmlns:p14="http://schemas.microsoft.com/office/powerpoint/2010/main" val="14481205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EE5787-1305-4C47-AFB0-514130D9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2b50481744d75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8D6C4-684D-4C8C-BF64-84D681FC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3EBC8-6B5B-4771-9BDF-30F6377F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CCF67-69AD-4558-82C1-273AFCC1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EC875-3CBB-4CEE-A19B-3891833C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4D3D0-6D70-4A22-AACF-9C1BD46B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BÔNUS — DELTA LAKE AO VIVO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FF725-89A8-4217-A71D-9CDF848F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Se sobrar tempo: time travel em ~10 minutos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7F303-4F3A-4BF0-86A1-43D831B7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Requer pip install deltalake. Mostre que Delta é só Parquet + log de transações.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EF993-C9C2-47D9-904F-236E71B6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FDCB5-F589-4760-AA14-714A38E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7EBD4-C6B7-4567-82F7-7F65BF99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1. Escrever versão inicial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97FB1-FDC5-4C38-ABF5-C12AA2FE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write_deltalake(path, df,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mode='overwrite'). Cria a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versão 0 da tabela.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383EC-5ACE-4452-B793-FE421375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E353D-D66E-433F-983B-E57BA176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91590-54D7-4CCF-B475-48276931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2. Append de novos dados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4D063-FF11-482A-A162-DA93F293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write_deltalake(path, df_novo,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mode='append'). Cria a versão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1.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4F194-07FE-4B7D-BB59-42E41C7E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6782C-3BDB-437F-8C62-86F1B738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E206E-6CDC-46C6-851F-4411FDE5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3. Time travel para versão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09804C-11E2-44DA-995B-9498BC32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DeltaTable(path,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version=0).to_pandas(). Voltou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no tempo — sem mágica.</a:t>
            </a:r>
          </a:p>
        </p:txBody>
      </p:sp>
    </p:spTree>
    <p:extLst>
      <p:ext uri="{BB962C8B-B14F-4D97-AF65-F5344CB8AC3E}">
        <p14:creationId xmlns:p14="http://schemas.microsoft.com/office/powerpoint/2010/main" val="16855544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AB85AB-5927-46F9-ACBA-CD765D2C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fd03f79c64106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B5276-C4E1-4674-B7A1-3686CFE7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70F26"/>
                </a:solidFill>
              </a:defRPr>
            </a:pPr>
            <a:r>
              <a:rPr sz="82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D6A38-BDF6-4678-B00B-7217FAD8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5D88B-A298-4920-89C2-ECCA496E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E8693"/>
                </a:solidFill>
              </a:defRPr>
            </a:pPr>
            <a:r>
              <a:rPr sz="675" b="0">
                <a:solidFill>
                  <a:srgbClr val="7E8693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98BB0-79AF-4303-AF7F-104F9157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70F26"/>
                </a:solidFill>
              </a:defRPr>
            </a:pPr>
            <a:r>
              <a:rPr sz="675" b="1">
                <a:solidFill>
                  <a:srgbClr val="070F26"/>
                </a:solidFill>
              </a:rPr>
              <a:t>NTT DATA UNIVERSITY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97505-C0AA-4F10-BBFB-5CF53444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9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641A"/>
                </a:solidFill>
              </a:defRPr>
            </a:pPr>
            <a:r>
              <a:rPr sz="825" b="1">
                <a:solidFill>
                  <a:srgbClr val="C4641A"/>
                </a:solidFill>
              </a:rPr>
              <a:t>PRÓXIMO MÓDULO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04556-1C4A-4B92-99FC-95728FF8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66800"/>
            <a:ext cx="1028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70F26"/>
                </a:solidFill>
              </a:defRPr>
            </a:pPr>
            <a:r>
              <a:rPr sz="2400" b="0">
                <a:solidFill>
                  <a:srgbClr val="070F26"/>
                </a:solidFill>
              </a:rPr>
              <a:t>Módulo 4 — Python para Dados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3DD5A-B93B-44BA-9520-B413C919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680"/>
                </a:solidFill>
              </a:defRPr>
            </a:pPr>
            <a:r>
              <a:rPr sz="1200" b="0">
                <a:solidFill>
                  <a:srgbClr val="5C6680"/>
                </a:solidFill>
              </a:rPr>
              <a:t>Agora que sabemos modelar e escolher formato, vamos escrever pipelines em Python.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E50D0-2CD5-4FDE-84EC-758DE284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663F0-C5BF-4BC8-8CAF-6DF013F5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609DA-E0C2-49DA-963E-DA0DBE43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Lendo SQLite com Python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68DE4-CFD7-459B-AEAA-06EF942B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sqlite3 puro e pandas com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read_sql para queries diretas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no banco.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1A4C1-6D96-4235-A6D6-33AC3E41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C08F7-DF40-4BB5-A651-75E53427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D1177-7FAB-495C-8274-C86A4B0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Pandas para transformação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8ED12-0FAD-438C-AFCA-638DEF08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Filtros, merges, group-by,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funções reutilizáveis — base de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qualquer ETL.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D9994-C4FE-4C1F-8B7A-761238B1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766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C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62CCE-AEE2-478F-B6A9-A12DD0BF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476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9E4CB-E17C-477A-B124-4CB7D51D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67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41A"/>
                </a:solidFill>
              </a:defRPr>
            </a:pPr>
            <a:r>
              <a:rPr sz="1050" b="1">
                <a:solidFill>
                  <a:srgbClr val="C4641A"/>
                </a:solidFill>
              </a:rPr>
              <a:t>Estrutura de um script ETL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B547F4-80B5-4646-830C-994C92C5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Extrair, transformar, carregar</a:t>
            </a:r>
          </a:p>
          <a:p xmlns:a="http://schemas.openxmlformats.org/drawingml/2006/main">
            <a:pPr algn="l">
              <a:defRPr sz="1050" b="0">
                <a:solidFill>
                  <a:srgbClr val="3F4A5F"/>
                </a:solidFill>
              </a:defRPr>
            </a:pPr>
            <a:r>
              <a:rPr sz="1050" b="0">
                <a:solidFill>
                  <a:srgbClr val="3F4A5F"/>
                </a:solidFill>
              </a:rPr>
              <a:t>— padronizado e idempotente.</a:t>
            </a:r>
          </a:p>
        </p:txBody>
      </p:sp>
    </p:spTree>
    <p:extLst>
      <p:ext uri="{BB962C8B-B14F-4D97-AF65-F5344CB8AC3E}">
        <p14:creationId xmlns:p14="http://schemas.microsoft.com/office/powerpoint/2010/main" val="3506514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F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7EEFAF-FD14-48CD-8BCD-381512C7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F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d06c32ce248fe"/>
          <a:stretch xmlns:a="http://schemas.openxmlformats.org/drawingml/2006/main"/>
        </p:blipFill>
        <p:spPr>
          <a:xfrm xmlns:a="http://schemas.openxmlformats.org/drawingml/2006/main">
            <a:off x="613569" y="0"/>
            <a:ext cx="277813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C3E1E-681D-4BB8-93BB-86857675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5C9DC-FDA1-42AD-8E09-38302F58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72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© 2024 NTT DATA,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6EC86-4D9F-4587-BB73-C5B5C163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572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A4ADBE"/>
                </a:solidFill>
              </a:defRPr>
            </a:pPr>
            <a:r>
              <a:rPr sz="675" b="0">
                <a:solidFill>
                  <a:srgbClr val="A4ADBE"/>
                </a:solidFill>
              </a:rPr>
              <a:t>16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601776c3a4a65"/>
          <a:stretch xmlns:a="http://schemas.openxmlformats.org/drawingml/2006/main"/>
        </p:blipFill>
        <p:spPr>
          <a:xfrm xmlns:a="http://schemas.openxmlformats.org/drawingml/2006/main">
            <a:off x="7683178" y="3638550"/>
            <a:ext cx="4502794" cy="3219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A2DEC-3C8C-455C-9363-B079542F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NTT DATA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E814F-FD25-4740-8935-5F97DF5E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2425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4ADBE"/>
                </a:solidFill>
              </a:defRPr>
            </a:pPr>
            <a:r>
              <a:rPr sz="1200" b="0">
                <a:solidFill>
                  <a:srgbClr val="A4ADBE"/>
                </a:solidFill>
              </a:rPr>
              <a:t>Trilha de Engenharia de Dados  •  Módulo 3: Formatos de Dados</a:t>
            </a:r>
          </a:p>
        </p:txBody>
      </p:sp>
    </p:spTree>
    <p:extLst>
      <p:ext uri="{BB962C8B-B14F-4D97-AF65-F5344CB8AC3E}">
        <p14:creationId xmlns:p14="http://schemas.microsoft.com/office/powerpoint/2010/main" val="272651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2026-05-12T16:42:56.1000000Z</dcterms:created>
  <dcterms:modified xsi:type="dcterms:W3CDTF">2026-05-12T16:42:56.1000000Z</dcterms:modified>
</coreProperties>
</file>