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51ad2751e34829" /><Relationship Type="http://schemas.openxmlformats.org/officeDocument/2006/relationships/extended-properties" Target="/docProps/app.xml" Id="Rbf01fc1e56564a3a" /><Relationship Type="http://schemas.openxmlformats.org/officeDocument/2006/relationships/officeDocument" Target="/ppt/presentation.xml" Id="Re2565626b10149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863cdca9fa4b54"/>
  </p:sldMasterIdLst>
  <p:notesMasterIdLst>
    <p:notesMasterId xmlns:r="http://schemas.openxmlformats.org/officeDocument/2006/relationships" r:id="R4e8835764119403f"/>
  </p:notesMasterIdLst>
  <p:sldIdLst>
    <p:sldId xmlns:r="http://schemas.openxmlformats.org/officeDocument/2006/relationships" id="256" r:id="Rd094cba50afb424c"/>
    <p:sldId xmlns:r="http://schemas.openxmlformats.org/officeDocument/2006/relationships" id="257" r:id="R1863cb5122554fa8"/>
    <p:sldId xmlns:r="http://schemas.openxmlformats.org/officeDocument/2006/relationships" id="258" r:id="Rcab37af5ffdb4e38"/>
    <p:sldId xmlns:r="http://schemas.openxmlformats.org/officeDocument/2006/relationships" id="259" r:id="Rdb28521081fc43b3"/>
    <p:sldId xmlns:r="http://schemas.openxmlformats.org/officeDocument/2006/relationships" id="260" r:id="Re2290e63b2354d67"/>
    <p:sldId xmlns:r="http://schemas.openxmlformats.org/officeDocument/2006/relationships" id="261" r:id="R2dccc79c82ba417c"/>
    <p:sldId xmlns:r="http://schemas.openxmlformats.org/officeDocument/2006/relationships" id="262" r:id="R80abd1ecb6bf4cff"/>
    <p:sldId xmlns:r="http://schemas.openxmlformats.org/officeDocument/2006/relationships" id="263" r:id="Raa340acde4b145b9"/>
    <p:sldId xmlns:r="http://schemas.openxmlformats.org/officeDocument/2006/relationships" id="264" r:id="R2acec9e9d1bc46d7"/>
    <p:sldId xmlns:r="http://schemas.openxmlformats.org/officeDocument/2006/relationships" id="265" r:id="R09dfd98fbd4a4672"/>
    <p:sldId xmlns:r="http://schemas.openxmlformats.org/officeDocument/2006/relationships" id="266" r:id="Rfded864a87684294"/>
    <p:sldId xmlns:r="http://schemas.openxmlformats.org/officeDocument/2006/relationships" id="267" r:id="Re01465928a754663"/>
    <p:sldId xmlns:r="http://schemas.openxmlformats.org/officeDocument/2006/relationships" id="268" r:id="R9e545e7424594f6d"/>
    <p:sldId xmlns:r="http://schemas.openxmlformats.org/officeDocument/2006/relationships" id="269" r:id="R276ddebc4aa34570"/>
    <p:sldId xmlns:r="http://schemas.openxmlformats.org/officeDocument/2006/relationships" id="270" r:id="R3caaf52c1f3f48d8"/>
    <p:sldId xmlns:r="http://schemas.openxmlformats.org/officeDocument/2006/relationships" id="271" r:id="Rffd7f9e24ab9497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863cdca9fa4b54" /><Relationship Type="http://schemas.openxmlformats.org/officeDocument/2006/relationships/theme" Target="/ppt/theme/theme1.xml" Id="R2bf559d1b9d64966" /><Relationship Type="http://schemas.openxmlformats.org/officeDocument/2006/relationships/notesMaster" Target="/ppt/notesMasters/notesMaster1.xml" Id="R4e8835764119403f" /><Relationship Type="http://schemas.openxmlformats.org/officeDocument/2006/relationships/presProps" Target="/ppt/presProps.xml" Id="R0cc331c2afd94c99" /><Relationship Type="http://schemas.openxmlformats.org/officeDocument/2006/relationships/viewProps" Target="/ppt/viewProps.xml" Id="R9d232c9bb4f44fe6" /><Relationship Type="http://schemas.openxmlformats.org/officeDocument/2006/relationships/tableStyles" Target="/ppt/tableStyles.xml" Id="R895ff1a444304efe" /><Relationship Type="http://schemas.openxmlformats.org/officeDocument/2006/relationships/slide" Target="/ppt/slides/slide1.xml" Id="Rd094cba50afb424c" /><Relationship Type="http://schemas.openxmlformats.org/officeDocument/2006/relationships/slide" Target="/ppt/slides/slide2.xml" Id="R1863cb5122554fa8" /><Relationship Type="http://schemas.openxmlformats.org/officeDocument/2006/relationships/slide" Target="/ppt/slides/slide3.xml" Id="Rcab37af5ffdb4e38" /><Relationship Type="http://schemas.openxmlformats.org/officeDocument/2006/relationships/slide" Target="/ppt/slides/slide4.xml" Id="Rdb28521081fc43b3" /><Relationship Type="http://schemas.openxmlformats.org/officeDocument/2006/relationships/slide" Target="/ppt/slides/slide5.xml" Id="Re2290e63b2354d67" /><Relationship Type="http://schemas.openxmlformats.org/officeDocument/2006/relationships/slide" Target="/ppt/slides/slide6.xml" Id="R2dccc79c82ba417c" /><Relationship Type="http://schemas.openxmlformats.org/officeDocument/2006/relationships/slide" Target="/ppt/slides/slide7.xml" Id="R80abd1ecb6bf4cff" /><Relationship Type="http://schemas.openxmlformats.org/officeDocument/2006/relationships/slide" Target="/ppt/slides/slide8.xml" Id="Raa340acde4b145b9" /><Relationship Type="http://schemas.openxmlformats.org/officeDocument/2006/relationships/slide" Target="/ppt/slides/slide9.xml" Id="R2acec9e9d1bc46d7" /><Relationship Type="http://schemas.openxmlformats.org/officeDocument/2006/relationships/slide" Target="/ppt/slides/slide10.xml" Id="R09dfd98fbd4a4672" /><Relationship Type="http://schemas.openxmlformats.org/officeDocument/2006/relationships/slide" Target="/ppt/slides/slide11.xml" Id="Rfded864a87684294" /><Relationship Type="http://schemas.openxmlformats.org/officeDocument/2006/relationships/slide" Target="/ppt/slides/slide12.xml" Id="Re01465928a754663" /><Relationship Type="http://schemas.openxmlformats.org/officeDocument/2006/relationships/slide" Target="/ppt/slides/slide13.xml" Id="R9e545e7424594f6d" /><Relationship Type="http://schemas.openxmlformats.org/officeDocument/2006/relationships/slide" Target="/ppt/slides/slide14.xml" Id="R276ddebc4aa34570" /><Relationship Type="http://schemas.openxmlformats.org/officeDocument/2006/relationships/slide" Target="/ppt/slides/slide15.xml" Id="R3caaf52c1f3f48d8" /><Relationship Type="http://schemas.openxmlformats.org/officeDocument/2006/relationships/slide" Target="/ppt/slides/slide16.xml" Id="Rffd7f9e24ab949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6922e9916514c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d17f0d3b0140ce" /><Relationship Type="http://schemas.openxmlformats.org/officeDocument/2006/relationships/notesMaster" Target="/ppt/notesMasters/notesMaster1.xml" Id="Re91075add27440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c5d8f388524713" /><Relationship Type="http://schemas.openxmlformats.org/officeDocument/2006/relationships/notesMaster" Target="/ppt/notesMasters/notesMaster1.xml" Id="R8a7f51fd02c74f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c562e570f542ac" /><Relationship Type="http://schemas.openxmlformats.org/officeDocument/2006/relationships/notesMaster" Target="/ppt/notesMasters/notesMaster1.xml" Id="Rc6142b03e16643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ba66a9edd94a70" /><Relationship Type="http://schemas.openxmlformats.org/officeDocument/2006/relationships/notesMaster" Target="/ppt/notesMasters/notesMaster1.xml" Id="R93f57bf2876e44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fcf1814e484df8" /><Relationship Type="http://schemas.openxmlformats.org/officeDocument/2006/relationships/notesMaster" Target="/ppt/notesMasters/notesMaster1.xml" Id="R61492576fbb740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06e7b483834eaf" /><Relationship Type="http://schemas.openxmlformats.org/officeDocument/2006/relationships/notesMaster" Target="/ppt/notesMasters/notesMaster1.xml" Id="R9d253b8ea8a34d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a49922404d4cd9" /><Relationship Type="http://schemas.openxmlformats.org/officeDocument/2006/relationships/notesMaster" Target="/ppt/notesMasters/notesMaster1.xml" Id="R100308e5ca0644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0a547b18c945c0" /><Relationship Type="http://schemas.openxmlformats.org/officeDocument/2006/relationships/notesMaster" Target="/ppt/notesMasters/notesMaster1.xml" Id="R5c3ba79bca2a48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2d80277be94efa" /><Relationship Type="http://schemas.openxmlformats.org/officeDocument/2006/relationships/notesMaster" Target="/ppt/notesMasters/notesMaster1.xml" Id="R89e3750333e64c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37c10c5aec40d3" /><Relationship Type="http://schemas.openxmlformats.org/officeDocument/2006/relationships/notesMaster" Target="/ppt/notesMasters/notesMaster1.xml" Id="R69740b8575fb4c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020eeeb2be4fd0" /><Relationship Type="http://schemas.openxmlformats.org/officeDocument/2006/relationships/notesMaster" Target="/ppt/notesMasters/notesMaster1.xml" Id="R375c1efb745843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a494333ac543d2" /><Relationship Type="http://schemas.openxmlformats.org/officeDocument/2006/relationships/notesMaster" Target="/ppt/notesMasters/notesMaster1.xml" Id="Rf61db4de93f2432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8af3b77089471b" /><Relationship Type="http://schemas.openxmlformats.org/officeDocument/2006/relationships/notesMaster" Target="/ppt/notesMasters/notesMaster1.xml" Id="Rbfa704ad67ec4f2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c0db4a396564562" /><Relationship Type="http://schemas.openxmlformats.org/officeDocument/2006/relationships/notesMaster" Target="/ppt/notesMasters/notesMaster1.xml" Id="Rc8c84a93ba284cb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cbcf1282de4e0a" /><Relationship Type="http://schemas.openxmlformats.org/officeDocument/2006/relationships/notesMaster" Target="/ppt/notesMasters/notesMaster1.xml" Id="R1156cf6168dc4a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6e1f75fdd50461a" /><Relationship Type="http://schemas.openxmlformats.org/officeDocument/2006/relationships/notesMaster" Target="/ppt/notesMasters/notesMaster1.xml" Id="R85696c21c85e4f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6eb67416734c1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7e89bf54fbb4a80" /><Relationship Type="http://schemas.openxmlformats.org/officeDocument/2006/relationships/slideLayout" Target="/ppt/slideLayouts/slideLayout2.xml" Id="R28656ea597014c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656ea597014c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c641904eae4902" /><Relationship Type="http://schemas.openxmlformats.org/officeDocument/2006/relationships/image" Target="/ppt/media/image.png" Id="R9b89c621af2a46d5" /><Relationship Type="http://schemas.openxmlformats.org/officeDocument/2006/relationships/image" Target="/ppt/media/image2.png" Id="R4130f9c12aab4907" /><Relationship Type="http://schemas.openxmlformats.org/officeDocument/2006/relationships/notesSlide" Target="/ppt/notesSlides/notesSlide1.xml" Id="Rdda4238deca14a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de36d608af4494" /><Relationship Type="http://schemas.openxmlformats.org/officeDocument/2006/relationships/image" Target="/ppt/media/image3.png" Id="Raaa5b0e1ca31404f" /><Relationship Type="http://schemas.openxmlformats.org/officeDocument/2006/relationships/notesSlide" Target="/ppt/notesSlides/notesSlide2.xml" Id="R7028620c2c0340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e1749f4ae6498e" /><Relationship Type="http://schemas.openxmlformats.org/officeDocument/2006/relationships/image" Target="/ppt/media/image4.png" Id="R0e59aa3c7b15427c" /><Relationship Type="http://schemas.openxmlformats.org/officeDocument/2006/relationships/image" Target="/ppt/media/image5.png" Id="R34adb8013ae04ea6" /><Relationship Type="http://schemas.openxmlformats.org/officeDocument/2006/relationships/notesSlide" Target="/ppt/notesSlides/notesSlide3.xml" Id="Rf6951d9bf6c041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575772cebf4645" /><Relationship Type="http://schemas.openxmlformats.org/officeDocument/2006/relationships/image" Target="/ppt/media/image6.png" Id="R207dad0fc5514329" /><Relationship Type="http://schemas.openxmlformats.org/officeDocument/2006/relationships/notesSlide" Target="/ppt/notesSlides/notesSlide4.xml" Id="Ra5f7f7da66314a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96c0ce35e242ae" /><Relationship Type="http://schemas.openxmlformats.org/officeDocument/2006/relationships/image" Target="/ppt/media/image7.png" Id="R6f298004f9e0483a" /><Relationship Type="http://schemas.openxmlformats.org/officeDocument/2006/relationships/image" Target="/ppt/media/image8.png" Id="R7b8e857e231a4df1" /><Relationship Type="http://schemas.openxmlformats.org/officeDocument/2006/relationships/notesSlide" Target="/ppt/notesSlides/notesSlide5.xml" Id="R3a90312dd17c45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06673da9404a7a" /><Relationship Type="http://schemas.openxmlformats.org/officeDocument/2006/relationships/image" Target="/ppt/media/image9.png" Id="R7b24733dcb004199" /><Relationship Type="http://schemas.openxmlformats.org/officeDocument/2006/relationships/notesSlide" Target="/ppt/notesSlides/notesSlide6.xml" Id="Rc04fe15c5c9147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1f628f0ea641f4" /><Relationship Type="http://schemas.openxmlformats.org/officeDocument/2006/relationships/image" Target="/ppt/media/image10.png" Id="Rb6807f45fa734ea4" /><Relationship Type="http://schemas.openxmlformats.org/officeDocument/2006/relationships/notesSlide" Target="/ppt/notesSlides/notesSlide7.xml" Id="Rcc51a13ef01c47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93f0d056114f88" /><Relationship Type="http://schemas.openxmlformats.org/officeDocument/2006/relationships/image" Target="/ppt/media/image11.png" Id="Raeabfb003fb44daf" /><Relationship Type="http://schemas.openxmlformats.org/officeDocument/2006/relationships/image" Target="/ppt/media/image12.png" Id="R26a6a2ae364a4e39" /><Relationship Type="http://schemas.openxmlformats.org/officeDocument/2006/relationships/notesSlide" Target="/ppt/notesSlides/notesSlide8.xml" Id="R5169b143ee8649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ed4d6cf53049fd" /><Relationship Type="http://schemas.openxmlformats.org/officeDocument/2006/relationships/image" Target="/ppt/media/image13.png" Id="R51aa9d9c08e040fd" /><Relationship Type="http://schemas.openxmlformats.org/officeDocument/2006/relationships/notesSlide" Target="/ppt/notesSlides/notesSlide9.xml" Id="R5b94caf97a344e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0c0b0318274130" /><Relationship Type="http://schemas.openxmlformats.org/officeDocument/2006/relationships/image" Target="/ppt/media/image14.png" Id="R5268136a2da541f2" /><Relationship Type="http://schemas.openxmlformats.org/officeDocument/2006/relationships/notesSlide" Target="/ppt/notesSlides/notesSlide10.xml" Id="R6e412f106c204a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27c914e19b45cb" /><Relationship Type="http://schemas.openxmlformats.org/officeDocument/2006/relationships/image" Target="/ppt/media/image15.png" Id="R5cdb3638162f4382" /><Relationship Type="http://schemas.openxmlformats.org/officeDocument/2006/relationships/notesSlide" Target="/ppt/notesSlides/notesSlide11.xml" Id="R0c900cc26af244c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d2e13c971246f4" /><Relationship Type="http://schemas.openxmlformats.org/officeDocument/2006/relationships/image" Target="/ppt/media/image16.png" Id="R263f3e8f99174838" /><Relationship Type="http://schemas.openxmlformats.org/officeDocument/2006/relationships/image" Target="/ppt/media/image17.png" Id="R12426b52d1274e84" /><Relationship Type="http://schemas.openxmlformats.org/officeDocument/2006/relationships/notesSlide" Target="/ppt/notesSlides/notesSlide12.xml" Id="Re7eb5903109e4d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6e428e989c4aeb" /><Relationship Type="http://schemas.openxmlformats.org/officeDocument/2006/relationships/image" Target="/ppt/media/image18.png" Id="R5f070f26114645ff" /><Relationship Type="http://schemas.openxmlformats.org/officeDocument/2006/relationships/notesSlide" Target="/ppt/notesSlides/notesSlide13.xml" Id="Rc252277f6c9843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c917a1a1a346d9" /><Relationship Type="http://schemas.openxmlformats.org/officeDocument/2006/relationships/image" Target="/ppt/media/image19.png" Id="Rf8e6a966a75946d2" /><Relationship Type="http://schemas.openxmlformats.org/officeDocument/2006/relationships/notesSlide" Target="/ppt/notesSlides/notesSlide14.xml" Id="R94b095c5af0e487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f71067e29d455f" /><Relationship Type="http://schemas.openxmlformats.org/officeDocument/2006/relationships/image" Target="/ppt/media/image20.png" Id="Rb26ea6f1509f48a4" /><Relationship Type="http://schemas.openxmlformats.org/officeDocument/2006/relationships/notesSlide" Target="/ppt/notesSlides/notesSlide15.xml" Id="Ra3787cf20faf4e7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dd9b439df0488e" /><Relationship Type="http://schemas.openxmlformats.org/officeDocument/2006/relationships/image" Target="/ppt/media/image21.png" Id="Raaa2882edf4c4c1d" /><Relationship Type="http://schemas.openxmlformats.org/officeDocument/2006/relationships/image" Target="/ppt/media/image22.png" Id="Rfb4bdced3fcc4f14" /><Relationship Type="http://schemas.openxmlformats.org/officeDocument/2006/relationships/notesSlide" Target="/ppt/notesSlides/notesSlide16.xml" Id="R7f4424fd897f4d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14779C-6A19-4644-A2FE-5CBBD04D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89c621af2a46d5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2A8E6-8314-417D-A6C4-4CDDE844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A20F2-39AD-4962-A988-B946974A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42904-386C-416F-8C4C-053DAE02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0f9c12aab4907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B2A0A-A29B-470F-A021-747A63FD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TRILHA DE ENGENHARIA DE DADOS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D0A18-7C86-4FA2-B12F-D5183C87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FFFFFF"/>
                </a:solidFill>
              </a:defRPr>
            </a:pPr>
            <a:r>
              <a:rPr sz="4500" b="0">
                <a:solidFill>
                  <a:srgbClr val="FFFFFF"/>
                </a:solidFill>
              </a:rPr>
              <a:t>Formatos de Dados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F2466-4E3C-44BA-A6C3-2261B60B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Módulo 3  •  Sessão ao Vivo  •  2 horas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DB8216-E1E1-4FD2-85F1-87198C82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02155-B8C8-4E95-B8DB-1BB1BD28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52950"/>
            <a:ext cx="571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O formato certo paga seu próprio custo.</a:t>
            </a:r>
          </a:p>
        </p:txBody>
      </p:sp>
    </p:spTree>
    <p:extLst>
      <p:ext uri="{BB962C8B-B14F-4D97-AF65-F5344CB8AC3E}">
        <p14:creationId xmlns:p14="http://schemas.microsoft.com/office/powerpoint/2010/main" val="12569424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6B98C9-EA5E-4643-9039-9249F990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5b0e1ca31404f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A4644-44D3-45CF-981E-8A00450A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B0EC1-72A6-432A-94D6-33C233CF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86920-2497-4558-9B63-2CC4EA48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BD8D1-C4DF-4462-B500-B168C23F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65F66-2015-417D-A700-9E82084E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6BECB8-9A29-4733-A235-FFC35572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Hoje vamos debater decisões — não sintaxe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30FF2-7440-4668-8C25-0AB199E4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Sessão prática com demo ao vivo e exercício colaborativo de escolha de formato.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CA1F13-0ADC-4B75-A013-09FB68A3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21C630-9453-4225-978D-4EB84869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FD44C-CB17-4824-AF83-4FB6888A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Abertura — 10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C56FDA-9D68-4EA6-8259-DA7CFE03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Verificação de ambiente: pandas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+ pyarrow funcionando.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E27441-8FE2-458F-A481-F70C4585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0059D-1B80-49C4-A0E2-255666F8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ADFFB5-8CAC-4594-B231-0665E8DE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Demo — 20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2A17F6-4FBB-4EF5-AD47-F814E4C6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Comparar tamanhos e tempo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leitura entre CSV, JSON 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Parquet ao vivo.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FB585D-832C-462B-A1C0-B20E3B2D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39530A-D559-4222-B7EF-A2A5C662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AD398F-2AAF-4B87-8691-C5711438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Exercício — 70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9490AA-4B74-4D63-AD8F-AD765281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 3.3: 5 cenários reais — você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escolhe o formato e defende em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grupo.</a:t>
            </a:r>
          </a:p>
        </p:txBody>
      </p:sp>
    </p:spTree>
    <p:extLst>
      <p:ext uri="{BB962C8B-B14F-4D97-AF65-F5344CB8AC3E}">
        <p14:creationId xmlns:p14="http://schemas.microsoft.com/office/powerpoint/2010/main" val="18569188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D2AC7E-FB32-416C-9821-69226076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a3c7b15427c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B48BD-F2CF-4982-BB23-754241D2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9B2EF-0A6F-4645-BAC1-0744CE64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E8357-8D36-4B7B-AAD5-FF56046D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83F3A-7CB9-497C-915D-F472BF68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adb8013ae04ea6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D2796-18EA-4A82-92DE-15BD91BA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A9EC0-20C6-4531-B96A-F16CC328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Abertura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FB77C3-6ABC-4D80-9263-75E198E5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Garantir que todos têm pandas e pyarrow instalados antes da demo.</a:t>
            </a:r>
          </a:p>
        </p:txBody>
      </p:sp>
    </p:spTree>
    <p:extLst>
      <p:ext uri="{BB962C8B-B14F-4D97-AF65-F5344CB8AC3E}">
        <p14:creationId xmlns:p14="http://schemas.microsoft.com/office/powerpoint/2010/main" val="12096539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F2E170-B1EA-4046-B9F7-3DFA8B20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dad0fc551432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E80901-0F27-4333-9490-B0F3D7C4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D8372-D5C3-4D85-A346-5831C0C2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5F80D5-4491-4946-AA96-02BE158A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80BF9-5FE3-4067-B57A-6DCA4C49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D2712F-E9E2-47A9-9407-504FD2EB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VERIFICAÇÃO DE AMBIENTE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58F3B-4A32-44CC-B40B-E298C4A6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Rode o snippet abaixo. Deve carregar 3000 linhas.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B8168-6604-4B15-A7A0-D3495202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Se faltar dependência: pip install pandas pyarrow.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7F5FE-D459-4EE9-A974-2136C524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D1D446-CE0F-4A5A-B5B2-A84FD96E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87DB4B-D7A7-4C4A-AE44-D256557F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SNIPPET DE VERIFICAÇÃO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257895-C3E5-48C3-8510-9718232F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import pandas as pd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import pyarrow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df = pd.read_csv(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'recursos/exports/vendas.csv'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print(f"pandas {pd.__version__}")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print(f"pyarrow {pyarrow.__version__}")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print(f"{len(df)} linhas")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074A2-1984-45B2-B1C2-3A3E4962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90C881-C2F7-487E-93B6-39847815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27620D-A0FF-4AE4-867F-19DD69C0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RESULTADO ESPERADO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8D86C9-5B84-4AB9-9E32-12B7CBE0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pandas 2.x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pyarrow 14.x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3000 linhas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Não funcionou?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$ pip install pandas pyarrow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Sondagem rápida: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"Quem já usou Parquet?"</a:t>
            </a:r>
          </a:p>
        </p:txBody>
      </p:sp>
    </p:spTree>
    <p:extLst>
      <p:ext uri="{BB962C8B-B14F-4D97-AF65-F5344CB8AC3E}">
        <p14:creationId xmlns:p14="http://schemas.microsoft.com/office/powerpoint/2010/main" val="20316489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975B80-AEB6-46B9-8637-E0D32C7D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298004f9e0483a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A1D6BC-009E-45FC-B43A-EF97F267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E70AA0-1AB7-4A36-82B0-77ECF700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7ED857-5138-45A4-AAE6-A448CCEA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5859B-50D8-446B-AD9C-631D8F99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e857e231a4df1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6232B-AD47-4731-88C6-5F70E3E0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EA9CC-8A75-48AE-A944-C531501D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Demo ao Vivo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D0048A-A812-4AE3-9B16-6F1D6D4E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Tornar concreto o que o conteúdo descreveu em texto. Os números têm mais impacto que explicações.</a:t>
            </a:r>
          </a:p>
        </p:txBody>
      </p:sp>
    </p:spTree>
    <p:extLst>
      <p:ext uri="{BB962C8B-B14F-4D97-AF65-F5344CB8AC3E}">
        <p14:creationId xmlns:p14="http://schemas.microsoft.com/office/powerpoint/2010/main" val="10395745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69111D-FA81-4350-8E61-4CA11D72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4733dcb00419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674B06-04F7-435D-9DC9-6B790AEE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86E9BB-30ED-4217-934A-1DF91D64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089A6-8042-4E75-B46C-CA537A0C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E7193-EEA3-4C8D-B7DB-E7BE1A0B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161773-9B1E-448D-89BC-5F01A8C5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DEMO — PARTE 1 DE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7E212-614E-490C-8D7D-D1D71D09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Comparação de tamanhos — CSV vs JSON vs Parquet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642EA8-6AC8-40F9-9F72-0DB505B5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Execute ao vivo. Pause e pergunte ao grupo antes de explicar os números.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BE531F-3DC7-4D42-9047-632E4111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99E1C-AB5B-46B9-A9B0-8349C9B2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B37849-8F97-402F-B2E0-87E2A8C6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GERAR OS TRÊS FORMATOS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5F46FF-1202-424C-A200-647BD31C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import os, pandas as pd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os.makedirs('saida', exist_ok=True)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df = pd.read_csv(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'recursos/exports/vendas.csv'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df['data_venda'] = pd.to_datetime(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df['data_venda']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df.to_json('saida/vendas.json',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orient='records', indent=2,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force_ascii=False)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df.to_parquet('saida/vendas.parquet',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compression='snappy', index=False)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4979F3-FBD4-4AF7-8859-6262BF4F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9F56D2-7732-42E0-8E6C-C6E60FED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331391-EF82-415A-835A-DA78CB9C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PERGUNTAS AO GRUPO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765DFF-8CBE-4732-8902-7F94D203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1. JSON ficou MAIOR que o CSV.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Alguém esperava isso?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2. Parquet ficou ~5x menor.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O que o motor do Parquet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fez que o CSV não faz?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3. Dar 2 minutos para o grupo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responder antes de explicar.</a:t>
            </a:r>
          </a:p>
        </p:txBody>
      </p:sp>
    </p:spTree>
    <p:extLst>
      <p:ext uri="{BB962C8B-B14F-4D97-AF65-F5344CB8AC3E}">
        <p14:creationId xmlns:p14="http://schemas.microsoft.com/office/powerpoint/2010/main" val="20179270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3A268F-AEF0-409C-AB90-B0DC8A6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807f45fa734ea4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E32F7B-95EF-4601-A7FA-EFC132C4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6BB18-03CA-45AB-B80F-963EEA0C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B597B-CF58-4C2B-B012-2587BF1C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3AA5C-82FC-4FC9-BB33-63FBD454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54753-AB11-41F2-A20B-57BB2F94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DEMO — PARTE 2 DE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D3DC2F-0984-414D-BF82-63486E6F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Leitura seletiva de colunas — onde o Parquet brilha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25C525-3B85-44E3-947C-7FDF9B31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Com 3 mil linhas a diferença é ms. Em 500 milhões de linhas, a diferença vira minutos vs horas.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91378E-D4AD-4E71-B2C2-327E294A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87110-C85F-4820-A3CE-5741D34B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1C9981-AAA8-4A17-9888-2FC8A7FF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BENCHMARK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4B6026-6612-4AEC-AE19-17597F7F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import time, pandas as pd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N = 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t0 = time.time()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for _ in range(N):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pd.read_parquet(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'saida/vendas.parquet',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columns=['data_venda', 'valor_total']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t_parquet = time.time() - t0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t0 = time.time()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for _ in range(N):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pd.read_csv(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'recursos/exports/vendas.csv',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usecols=['data_venda', 'valor_total']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t_csv = time.time() - t0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92047A-6878-4DBB-A198-2A7A33F6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297D4E-D3C8-44BE-9954-44EA239A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20ACF6-F54A-476D-866E-A2B69DA9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MENSAGEM PARA O GRUPO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851C45-0194-456B-A8D6-76AF873F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Speedup esperado: 2-5x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Mas o ponto não é a velocidade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absoluta — é o que muda quando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escala: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• 3.000 linhas → ms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• 500M linhas, 50 colunas →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Parquet lê 2/50 colunas.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CSV lê tudo.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Minutos vs horas.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O preço da eficiência é a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legibilidade humana.</a:t>
            </a:r>
          </a:p>
        </p:txBody>
      </p:sp>
    </p:spTree>
    <p:extLst>
      <p:ext uri="{BB962C8B-B14F-4D97-AF65-F5344CB8AC3E}">
        <p14:creationId xmlns:p14="http://schemas.microsoft.com/office/powerpoint/2010/main" val="2443629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829661-2F90-496F-AC80-A990E48C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abfb003fb44daf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4D54E-68D2-460E-AAF6-8BF2AC2E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60569-5BCB-4789-8F19-8360E56A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6CF87E-3BE8-4674-9EEB-E2FB9F77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14D49-A34E-48C2-9E8C-88AC4817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a6a2ae364a4e39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60F48-235C-4AED-BB84-64F69A7C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9EB41C-EC0E-4A2B-922E-060CE324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Exercício em Grupo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9E1418-2C36-42E9-9898-B0CB0525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Ex 3.3 — 5 cenários reais. Não há sempre resposta única; o que importa é a qualidade da argumentação.</a:t>
            </a:r>
          </a:p>
        </p:txBody>
      </p:sp>
    </p:spTree>
    <p:extLst>
      <p:ext uri="{BB962C8B-B14F-4D97-AF65-F5344CB8AC3E}">
        <p14:creationId xmlns:p14="http://schemas.microsoft.com/office/powerpoint/2010/main" val="20459233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39D799-5464-4BC8-89F1-CF78FA32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a9d9c08e040fd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B43C36-F8E9-454F-B5B4-8D952775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41C38-FED3-4FA7-8957-62384296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BF8C8-BD03-4B33-BCAA-0059B2A8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44926E-811D-4777-9136-E670095B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FC9B1-F2E5-42CD-87F8-26F7C0BB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ESTRUTURA DO EXERCÍCIO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BCAE0C-11FB-4171-BB68-B892F563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Quatro etapas — do silêncio ao consenso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F3535E-A40A-4DD9-A4F5-CC760729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Cada um forma sua opinião primeiro, depois discutimos as divergências.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9462F-9551-4C6C-BA44-65C65DAE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C3225-1C0C-4B35-AED5-A400617B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23F59-805D-4813-8F09-AB26A3F9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435D25-461E-4EF0-8B18-A0C5509F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Individual — 15 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EDD8D1-8CC2-45B4-8317-B55B3C79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Cada um lê os 5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cenários e anota suas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respostas em silêncio.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F0F6A-4596-40C1-87A7-24E86073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376872-D3F9-4852-A85C-0A5FD7F9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BD9D65-770B-4AF0-B998-98A7ADDD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01E13B-9C4A-4FA7-BC39-DAA9BD58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Coleta — 10 min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0689EE-16AA-4FC2-8C74-E0302B26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"Quem escolheu X? Quem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escolheu Y?" Anote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divergências.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19DEAB-CC8A-4AC3-AC28-C47D6238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9FFF78-5B34-4A8A-9D81-DAA84BE1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46180A-9E02-4E84-BB27-1D8CE80F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8EA817-6E70-4CB8-BF7D-23AC1C30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Discussão — 30 min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ECA6AA-EBE2-4B9F-A0AF-B7F71CAD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Foque nos cenários com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mais divergência.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Sintetize critérios.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C15E5A-E10F-4C2F-9B7D-6547377C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6B1716-9006-4915-9B85-4A5D7FB0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28445E-796B-447A-B8AF-428297D3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CBCFFB-305E-4C1A-8734-050C8C73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Fechamento — 15 min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BE5E6A-4275-469C-86EC-292901FB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Apresentar o gabarito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focando nos critérios,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não na resposta.</a:t>
            </a:r>
          </a:p>
        </p:txBody>
      </p:sp>
    </p:spTree>
    <p:extLst>
      <p:ext uri="{BB962C8B-B14F-4D97-AF65-F5344CB8AC3E}">
        <p14:creationId xmlns:p14="http://schemas.microsoft.com/office/powerpoint/2010/main" val="14005066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4EBA76-C9AC-4246-996C-2E5FFBB8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8136a2da541f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76A95-BAF1-41AD-B5B3-4FFE230A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D975D-FEC1-4DB0-BC5B-0DFCECD0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3AC2B-E670-4EDF-9E24-A28A897F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BA54AD-E85E-46D9-B666-E0C48228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523A27-9482-4A4C-BD12-DCA5B250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OS 5 CENÁRIOS — VISÃO GERAL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E516B8-36F5-45A1-B34B-887AD45B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Os principais pontos de divergência esperados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C3E563-FFFE-4CB9-9038-4206DB39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Cenário D é o mais aberto. Cenário E é o menos óbvio. Foque tempo neles.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6AFCC3-638F-4C6B-AAD4-DB204F49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A5CC2C-6C64-474A-B34D-2DA21D09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5410D-25CF-4CE6-ABDF-98B3ABE4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 — Pedidos via 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D3EF0-7209-4338-BD16-21A6E867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JSON é consenso. Pergunta: como representaria lista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itens em CSV?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AC1509-6045-4F6B-B9A7-DEB88285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252E5D-22F1-4EE2-A2D8-FCA11D8E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9632E8-FDC1-455F-8B87-B1D28C7F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B — Logs streaming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BC8FDE-5ECB-4C48-80E5-88363D61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Broker vs Data Lake têm necessidades diferentes. Dois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sistemas, duas escolhas.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233C32-A83F-4550-8DC5-44E9969C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D5D59D-5634-4EFB-B7E0-3DC59770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C84478-844B-4874-9C06-E955BE84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 — Sistema com schema evolvendo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CBF46-034B-45B5-82C4-858D0BB2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Alguns vão dizer JSON. Pergunte: como o consumidor sabe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que mudou?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3A9245-EAB8-49D5-B851-4B2D5E03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BBC6FC-6DBC-4002-81DA-14F813FB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1C989-22DC-4F98-B21B-3F498D8B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 + E — Config + DW versionado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778EBD-36B3-4F99-9CD7-E569D5C4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D: CSV/JSON/YAML — qual o analista edita sozinho? E: Delta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vs SCD em Parquet.</a:t>
            </a:r>
          </a:p>
        </p:txBody>
      </p:sp>
    </p:spTree>
    <p:extLst>
      <p:ext uri="{BB962C8B-B14F-4D97-AF65-F5344CB8AC3E}">
        <p14:creationId xmlns:p14="http://schemas.microsoft.com/office/powerpoint/2010/main" val="3702769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2B2AA4-2501-4F33-B2CC-916AEF3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b3638162f438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C674DE-BA0E-49A6-95B7-B321E1628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920A54-C7F5-4D7A-91B8-90B8B33A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BDDAA-D37D-46D9-92D6-8A3CB86B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86D368-B9C5-4C15-BA64-6BF06ED2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3B44E-8DAB-4384-8027-FD852627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PONTOS QUE DEVEM EMERGIR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BD032-5F46-41E0-A8DD-07B79EA1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Critérios de decisão que o facilitador deve garantir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F965A-B9B3-4558-91F2-BBE4900C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Não existe formato "melhor" absoluto. Sempre há trade-offs em jogo.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E27334-0F53-4799-86BD-1F521B9C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D40F83-8EF5-4B82-A93C-0B3D72C1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3FB8B-6BCF-4EEE-9EB5-0BC4B453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Trade-off central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AB05C6-860D-480E-8EC4-D0869268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Legibilidade humana vs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eficiência de máquina é o eixo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principal de toda escolha.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D95FA2-05EB-4BE1-A90E-9B399689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0395A4-A244-47A0-B8AA-9F29D978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88BFC-A04E-4BE4-9581-1A085488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Schema evolution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765622-1837-4ABE-84F9-25322109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Subestimado por quem nunca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sofreu uma quebra de contrato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em produção. Vale ouro.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9ECCD6-B70D-4B51-AF35-958CD981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B55395-246D-43FE-8A73-1606440E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E23F19-2B92-468C-8FB4-FE325A5E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Delta Lake não é Parquet+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A6E2E7-954D-4411-B58E-37B27600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É uma camada de confiabilidade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 custo operacional (cluster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Spark ou Delta-rs).</a:t>
            </a:r>
          </a:p>
        </p:txBody>
      </p:sp>
    </p:spTree>
    <p:extLst>
      <p:ext uri="{BB962C8B-B14F-4D97-AF65-F5344CB8AC3E}">
        <p14:creationId xmlns:p14="http://schemas.microsoft.com/office/powerpoint/2010/main" val="1308970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62652A-D065-405D-8E73-11F8157F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3f3e8f99174838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B0C53-C0D8-4748-8E99-B42600A0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42B5A-F4E7-4541-93DE-8110DF42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B271B-9736-467F-80A7-2DE0417E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67D22-70BE-453B-A406-84FE6080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26b52d1274e84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7CB898-E1CD-4036-83EA-EA827121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D524D-383A-406A-A679-BB44FCB5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Fechamento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D694DD-CBE2-4A91-B5DC-8EC97B05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Revisar objetivos, demo bônus de Delta Lake e preview do próximo módulo.</a:t>
            </a:r>
          </a:p>
        </p:txBody>
      </p:sp>
    </p:spTree>
    <p:extLst>
      <p:ext uri="{BB962C8B-B14F-4D97-AF65-F5344CB8AC3E}">
        <p14:creationId xmlns:p14="http://schemas.microsoft.com/office/powerpoint/2010/main" val="3760115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148E29-E429-4DF5-A741-6E714E07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70f26114645ff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28DC1-D2F9-4B25-AD40-48C2B228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7CBB0-217A-4BCB-B8E5-86F12B92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FF72D9-1AA1-4FD7-8850-E9377E20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339C08-BC00-406B-9D73-98A3A5FB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F969A8-F079-4C13-AA4D-A1EDA0DC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OBJETIVOS DO MÓDULO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C6761-5BC8-4BE0-A1EB-B171EECA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cobrimos hoje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2867C-1C5D-454E-BE00-42FC1219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Todos os objetivos foram trabalhados em conteúdo, demo ao vivo e Ex 3.3.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FDBE28-8460-47A6-9B06-3BF06EB7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BDEF25-98E2-412A-98CD-4A8A2912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08909A-5445-400B-B4C0-C67CF233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Diferenças entre formatos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C7766-27CC-44EB-B933-1152C291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CSV, JSON, Parquet, Avro, Delta — tabela comparativa +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demo.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7B4CF3-02C9-4CD3-A787-4984B5BA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56FC77-9212-45C6-92ED-931213F8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3F26ED-04B1-41FC-A713-0D87D048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Escolher formato por cenário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B5FD42-1B20-436E-ABDB-1F73BB1C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Seção 6 + 5 cenários do Ex 3.3 com critérios de decisão.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53E5FF-8E0E-4BCB-BB51-B732A4D1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6EC1FA-7A7F-4295-A7C2-0F2734F3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11F35A-1166-4D8F-8B1D-22F6E351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Ler/escrever com Python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01C3BF-3408-4264-8AEF-EF35B8C2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Seções 2–4 + Ex 3.1 (conversão + comparação de tamanhos).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9DCC8-5244-4BC6-9550-1725CDF2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43D244-7F6B-4A79-A0E8-01803382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F509BC-D783-4301-9347-7C9A7E38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Por que Parquet e Delta dominam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BB52FB-55F4-4D54-A626-92F89CC1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Demo de leitura seletiva + bônus de time travel.</a:t>
            </a:r>
          </a:p>
        </p:txBody>
      </p:sp>
    </p:spTree>
    <p:extLst>
      <p:ext uri="{BB962C8B-B14F-4D97-AF65-F5344CB8AC3E}">
        <p14:creationId xmlns:p14="http://schemas.microsoft.com/office/powerpoint/2010/main" val="9084782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0DA2DF-0F37-4312-B19C-AD954780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e6a966a75946d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E1B30-22F9-4FEB-AA9B-FF4D66B4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A714D-9B46-46D6-8008-E4A8D969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CCA64E-E379-49C8-B4CE-25E53A3B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5D8AD-AC62-433D-940A-C31944C3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E4B126-973F-4770-BF9C-8386F9FC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BÔNUS — DELTA LAKE AO VIVO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4A77F9-7D42-4F06-B204-EAD988F4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Se sobrar tempo: time travel em ~10 minutos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21CED-7C00-4B38-B8F6-ACFA1AA0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Requer pip install deltalake. Mostre que Delta é só Parquet + log de transações.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2439D3-6AEF-4EBB-96B3-CC3EF975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87751-7E50-4761-8F99-D8527878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4A5B0-64B7-4208-8BE0-F60CB72F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1. Escrever versão inicial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069B0-05A4-4135-8328-DC8D4CF8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write_deltalake(path, df,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mode='overwrite'). Cria 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versão 0 da tabela.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86F03-3CD5-46DE-9300-3839A179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7E1C28-0AB3-41FD-AA5D-243328B6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A3AC7F-3849-408C-8252-FC76F61B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2. Append de novos dados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AD4C33-E32A-45BE-87AD-55F17D7F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write_deltalake(path, df_novo,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mode='append'). Cria a versão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1.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881B3C-9D17-4114-95F2-E8435DC4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D48B09-4C15-4FAD-B6C4-9031D8D5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252A64-D90C-4846-90F7-70967D1C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3. Time travel para versão 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85362-B8E6-403F-9A2D-A491E210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DeltaTable(path,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version=0).to_pandas(). Voltou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no tempo — sem mágica.</a:t>
            </a:r>
          </a:p>
        </p:txBody>
      </p:sp>
    </p:spTree>
    <p:extLst>
      <p:ext uri="{BB962C8B-B14F-4D97-AF65-F5344CB8AC3E}">
        <p14:creationId xmlns:p14="http://schemas.microsoft.com/office/powerpoint/2010/main" val="68077236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EA1E70-FBB1-48A5-93E6-567521B5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6ea6f1509f48a4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2EACB-593F-444F-BBFC-40DE5DD3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BBAC1-0740-43FD-B92F-AD78DA3C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68D8F-31D3-4E06-B3B3-E7DC1807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A14FE-9C1F-48EE-A97B-492A6F84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F7F283-B95D-4F74-B4D6-9C9EBF1F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PRÓXIMO MÓDULO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63389D-5B8F-42C7-AE81-6F4A2E83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Módulo 4 — Python para Dados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FB300-D642-4A07-85AB-31C7B925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Agora que sabemos modelar e escolher formato, vamos escrever pipelines em Python.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19CBE-458D-4D1D-A9B4-AD35CDD3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3CFE2D-6C2F-4866-9EB2-F94735B8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0A3A0-FA61-4B51-BF97-BF129D94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Lendo SQLite com Python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AE2750-2140-411E-89CF-12B54F65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sqlite3 puro e pandas com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read_sql para queries diretas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no banco.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E97EF0-C4C5-46D7-A910-EB914685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BCD375-E5B9-4E7F-A7F0-BC794BB8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220D48-ED6D-4F5B-85A0-36EF74C5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Pandas para transformação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162976-B2BB-44B6-B8C0-0B3DEE18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Filtros, merges, group-by,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funções reutilizáveis — base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qualquer ETL.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B588B3-4DD2-4BF2-A4F1-63354D45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ADD5B4-6DEE-439D-9750-673DE6F4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7890EA-C062-451C-B9BB-D5F9F767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Estrutura de um script ETL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406BE5-0C86-4D8A-BCDC-45E73388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Extrair, transformar, carregar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— padronizado e idempotente.</a:t>
            </a:r>
          </a:p>
        </p:txBody>
      </p:sp>
    </p:spTree>
    <p:extLst>
      <p:ext uri="{BB962C8B-B14F-4D97-AF65-F5344CB8AC3E}">
        <p14:creationId xmlns:p14="http://schemas.microsoft.com/office/powerpoint/2010/main" val="147196302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F206AE-125E-4434-9DB3-DF954294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2882edf4c4c1d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1A7A8B-8395-4C06-B96D-0D88FD29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0A6F9D-DFA8-4584-9FF0-1CA4574E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0BC56-1310-4A5B-A15A-438DB771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16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bdced3fcc4f14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7F10CF-067C-4B87-A692-931EF39F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"/>
            <a:ext cx="12192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2D4CD7-8921-4B9A-961E-3625ADF7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4ADBE"/>
                </a:solidFill>
              </a:defRPr>
            </a:pPr>
            <a:r>
              <a:rPr sz="1200" b="0">
                <a:solidFill>
                  <a:srgbClr val="A4ADBE"/>
                </a:solidFill>
              </a:rPr>
              <a:t>Trilha de Engenharia de Dados  •  Módulo 3: Formatos de Dados</a:t>
            </a:r>
          </a:p>
        </p:txBody>
      </p:sp>
    </p:spTree>
    <p:extLst>
      <p:ext uri="{BB962C8B-B14F-4D97-AF65-F5344CB8AC3E}">
        <p14:creationId xmlns:p14="http://schemas.microsoft.com/office/powerpoint/2010/main" val="20933808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2026-05-11T15:12:38.6790000Z</dcterms:created>
  <dcterms:modified xsi:type="dcterms:W3CDTF">2026-05-11T15:12:38.6790000Z</dcterms:modified>
</coreProperties>
</file>