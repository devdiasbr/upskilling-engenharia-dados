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b5df36ec74413e" /><Relationship Type="http://schemas.openxmlformats.org/officeDocument/2006/relationships/extended-properties" Target="/docProps/app.xml" Id="Rb7a03012f8644623" /><Relationship Type="http://schemas.openxmlformats.org/officeDocument/2006/relationships/officeDocument" Target="/ppt/presentation.xml" Id="R1e0050c26ee34f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e58cba934b4efa"/>
  </p:sldMasterIdLst>
  <p:notesMasterIdLst>
    <p:notesMasterId xmlns:r="http://schemas.openxmlformats.org/officeDocument/2006/relationships" r:id="Ra04d7a4d44724128"/>
  </p:notesMasterIdLst>
  <p:sldIdLst>
    <p:sldId xmlns:r="http://schemas.openxmlformats.org/officeDocument/2006/relationships" id="256" r:id="Rb543367f8eee41c4"/>
    <p:sldId xmlns:r="http://schemas.openxmlformats.org/officeDocument/2006/relationships" id="257" r:id="R2160cd683eae4467"/>
    <p:sldId xmlns:r="http://schemas.openxmlformats.org/officeDocument/2006/relationships" id="258" r:id="Rfcce799420ca4adf"/>
    <p:sldId xmlns:r="http://schemas.openxmlformats.org/officeDocument/2006/relationships" id="259" r:id="R07a8fee6761a4c4e"/>
    <p:sldId xmlns:r="http://schemas.openxmlformats.org/officeDocument/2006/relationships" id="260" r:id="Re131a444e9064121"/>
    <p:sldId xmlns:r="http://schemas.openxmlformats.org/officeDocument/2006/relationships" id="261" r:id="R538df99d525d4c1b"/>
    <p:sldId xmlns:r="http://schemas.openxmlformats.org/officeDocument/2006/relationships" id="262" r:id="R9b774a684d0d4cea"/>
    <p:sldId xmlns:r="http://schemas.openxmlformats.org/officeDocument/2006/relationships" id="263" r:id="Rcc83bdede9c24376"/>
    <p:sldId xmlns:r="http://schemas.openxmlformats.org/officeDocument/2006/relationships" id="264" r:id="R708ecede04a44414"/>
    <p:sldId xmlns:r="http://schemas.openxmlformats.org/officeDocument/2006/relationships" id="265" r:id="Rc696bbd9ca8e4115"/>
    <p:sldId xmlns:r="http://schemas.openxmlformats.org/officeDocument/2006/relationships" id="266" r:id="Rc04161fed4b24ec1"/>
    <p:sldId xmlns:r="http://schemas.openxmlformats.org/officeDocument/2006/relationships" id="267" r:id="Rff0b46bdd35d4abf"/>
    <p:sldId xmlns:r="http://schemas.openxmlformats.org/officeDocument/2006/relationships" id="268" r:id="R686acc73353a46e7"/>
    <p:sldId xmlns:r="http://schemas.openxmlformats.org/officeDocument/2006/relationships" id="269" r:id="Ra82321212a594706"/>
    <p:sldId xmlns:r="http://schemas.openxmlformats.org/officeDocument/2006/relationships" id="270" r:id="Rc0ccc755197247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e58cba934b4efa" /><Relationship Type="http://schemas.openxmlformats.org/officeDocument/2006/relationships/theme" Target="/ppt/theme/theme1.xml" Id="R268b15e603014336" /><Relationship Type="http://schemas.openxmlformats.org/officeDocument/2006/relationships/notesMaster" Target="/ppt/notesMasters/notesMaster1.xml" Id="Ra04d7a4d44724128" /><Relationship Type="http://schemas.openxmlformats.org/officeDocument/2006/relationships/presProps" Target="/ppt/presProps.xml" Id="R312390963c7c4cbd" /><Relationship Type="http://schemas.openxmlformats.org/officeDocument/2006/relationships/viewProps" Target="/ppt/viewProps.xml" Id="R1aac0ab94f574ada" /><Relationship Type="http://schemas.openxmlformats.org/officeDocument/2006/relationships/tableStyles" Target="/ppt/tableStyles.xml" Id="Rac06fbc9bcfa49b7" /><Relationship Type="http://schemas.openxmlformats.org/officeDocument/2006/relationships/slide" Target="/ppt/slides/slide1.xml" Id="Rb543367f8eee41c4" /><Relationship Type="http://schemas.openxmlformats.org/officeDocument/2006/relationships/slide" Target="/ppt/slides/slide2.xml" Id="R2160cd683eae4467" /><Relationship Type="http://schemas.openxmlformats.org/officeDocument/2006/relationships/slide" Target="/ppt/slides/slide3.xml" Id="Rfcce799420ca4adf" /><Relationship Type="http://schemas.openxmlformats.org/officeDocument/2006/relationships/slide" Target="/ppt/slides/slide4.xml" Id="R07a8fee6761a4c4e" /><Relationship Type="http://schemas.openxmlformats.org/officeDocument/2006/relationships/slide" Target="/ppt/slides/slide5.xml" Id="Re131a444e9064121" /><Relationship Type="http://schemas.openxmlformats.org/officeDocument/2006/relationships/slide" Target="/ppt/slides/slide6.xml" Id="R538df99d525d4c1b" /><Relationship Type="http://schemas.openxmlformats.org/officeDocument/2006/relationships/slide" Target="/ppt/slides/slide7.xml" Id="R9b774a684d0d4cea" /><Relationship Type="http://schemas.openxmlformats.org/officeDocument/2006/relationships/slide" Target="/ppt/slides/slide8.xml" Id="Rcc83bdede9c24376" /><Relationship Type="http://schemas.openxmlformats.org/officeDocument/2006/relationships/slide" Target="/ppt/slides/slide9.xml" Id="R708ecede04a44414" /><Relationship Type="http://schemas.openxmlformats.org/officeDocument/2006/relationships/slide" Target="/ppt/slides/slide10.xml" Id="Rc696bbd9ca8e4115" /><Relationship Type="http://schemas.openxmlformats.org/officeDocument/2006/relationships/slide" Target="/ppt/slides/slide11.xml" Id="Rc04161fed4b24ec1" /><Relationship Type="http://schemas.openxmlformats.org/officeDocument/2006/relationships/slide" Target="/ppt/slides/slide12.xml" Id="Rff0b46bdd35d4abf" /><Relationship Type="http://schemas.openxmlformats.org/officeDocument/2006/relationships/slide" Target="/ppt/slides/slide13.xml" Id="R686acc73353a46e7" /><Relationship Type="http://schemas.openxmlformats.org/officeDocument/2006/relationships/slide" Target="/ppt/slides/slide14.xml" Id="Ra82321212a594706" /><Relationship Type="http://schemas.openxmlformats.org/officeDocument/2006/relationships/slide" Target="/ppt/slides/slide15.xml" Id="Rc0ccc755197247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19911c7ab4d42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03793c4bcb4ed6" /><Relationship Type="http://schemas.openxmlformats.org/officeDocument/2006/relationships/notesMaster" Target="/ppt/notesMasters/notesMaster1.xml" Id="Rf21f376100e34f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dde8d443ff4581" /><Relationship Type="http://schemas.openxmlformats.org/officeDocument/2006/relationships/notesMaster" Target="/ppt/notesMasters/notesMaster1.xml" Id="R75bced45800d47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500c8b9f774b21" /><Relationship Type="http://schemas.openxmlformats.org/officeDocument/2006/relationships/notesMaster" Target="/ppt/notesMasters/notesMaster1.xml" Id="R05ca546a6ab84d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e4d918c0c848fe" /><Relationship Type="http://schemas.openxmlformats.org/officeDocument/2006/relationships/notesMaster" Target="/ppt/notesMasters/notesMaster1.xml" Id="R679a68d8404848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ef629f1b084c34" /><Relationship Type="http://schemas.openxmlformats.org/officeDocument/2006/relationships/notesMaster" Target="/ppt/notesMasters/notesMaster1.xml" Id="R15bc1a0c0e7040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62442e68f84c10" /><Relationship Type="http://schemas.openxmlformats.org/officeDocument/2006/relationships/notesMaster" Target="/ppt/notesMasters/notesMaster1.xml" Id="Rb9f2e2ecf9a94d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bb8c31c4ec4601" /><Relationship Type="http://schemas.openxmlformats.org/officeDocument/2006/relationships/notesMaster" Target="/ppt/notesMasters/notesMaster1.xml" Id="R92559bbf16274d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c376eeb98f4db6" /><Relationship Type="http://schemas.openxmlformats.org/officeDocument/2006/relationships/notesMaster" Target="/ppt/notesMasters/notesMaster1.xml" Id="R359cda66d92047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6c390187794a05" /><Relationship Type="http://schemas.openxmlformats.org/officeDocument/2006/relationships/notesMaster" Target="/ppt/notesMasters/notesMaster1.xml" Id="R052740fe7c8e49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372f775a044a1b" /><Relationship Type="http://schemas.openxmlformats.org/officeDocument/2006/relationships/notesMaster" Target="/ppt/notesMasters/notesMaster1.xml" Id="R9272649fd3744e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5d1efa0ae44965" /><Relationship Type="http://schemas.openxmlformats.org/officeDocument/2006/relationships/notesMaster" Target="/ppt/notesMasters/notesMaster1.xml" Id="Ra0e4b76f745a4e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994b96455b4e7d" /><Relationship Type="http://schemas.openxmlformats.org/officeDocument/2006/relationships/notesMaster" Target="/ppt/notesMasters/notesMaster1.xml" Id="R8d8464b7cd8542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46ca73ed174ab4" /><Relationship Type="http://schemas.openxmlformats.org/officeDocument/2006/relationships/notesMaster" Target="/ppt/notesMasters/notesMaster1.xml" Id="R56622c60bc6041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6e8bd2d9444ba3" /><Relationship Type="http://schemas.openxmlformats.org/officeDocument/2006/relationships/notesMaster" Target="/ppt/notesMasters/notesMaster1.xml" Id="R4f1bf850989843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bf3885579c49b4" /><Relationship Type="http://schemas.openxmlformats.org/officeDocument/2006/relationships/notesMaster" Target="/ppt/notesMasters/notesMaster1.xml" Id="Rdc234056f4b64f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9def346174460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cc6575939764e17" /><Relationship Type="http://schemas.openxmlformats.org/officeDocument/2006/relationships/slideLayout" Target="/ppt/slideLayouts/slideLayout2.xml" Id="R8ee466dd599b4d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e466dd599b4d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02eb9140ec4dfb" /><Relationship Type="http://schemas.openxmlformats.org/officeDocument/2006/relationships/image" Target="/ppt/media/image.png" Id="R7acfbf1ca3534c72" /><Relationship Type="http://schemas.openxmlformats.org/officeDocument/2006/relationships/image" Target="/ppt/media/image2.png" Id="Ra1924539961b4a6d" /><Relationship Type="http://schemas.openxmlformats.org/officeDocument/2006/relationships/notesSlide" Target="/ppt/notesSlides/notesSlide1.xml" Id="Ree41f29189fd46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8dab1f0b1e471c" /><Relationship Type="http://schemas.openxmlformats.org/officeDocument/2006/relationships/image" Target="/ppt/media/image3.png" Id="R47e94de9aadb47b5" /><Relationship Type="http://schemas.openxmlformats.org/officeDocument/2006/relationships/notesSlide" Target="/ppt/notesSlides/notesSlide2.xml" Id="R68838d5d2ad64a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335c0041a1497f" /><Relationship Type="http://schemas.openxmlformats.org/officeDocument/2006/relationships/image" Target="/ppt/media/image4.png" Id="Rfc25844e04ed4d9a" /><Relationship Type="http://schemas.openxmlformats.org/officeDocument/2006/relationships/image" Target="/ppt/media/image5.png" Id="Rd9a76070fd9c47b8" /><Relationship Type="http://schemas.openxmlformats.org/officeDocument/2006/relationships/notesSlide" Target="/ppt/notesSlides/notesSlide3.xml" Id="Rb83aa7ddb37747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1368a0aef048e5" /><Relationship Type="http://schemas.openxmlformats.org/officeDocument/2006/relationships/image" Target="/ppt/media/image6.png" Id="Rc01c5ae7cfcf4e64" /><Relationship Type="http://schemas.openxmlformats.org/officeDocument/2006/relationships/notesSlide" Target="/ppt/notesSlides/notesSlide4.xml" Id="Rd1180a636f4141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477e45594349f1" /><Relationship Type="http://schemas.openxmlformats.org/officeDocument/2006/relationships/image" Target="/ppt/media/image7.png" Id="Re3b8bb999e5048c0" /><Relationship Type="http://schemas.openxmlformats.org/officeDocument/2006/relationships/image" Target="/ppt/media/image8.png" Id="R238542f6b58947bf" /><Relationship Type="http://schemas.openxmlformats.org/officeDocument/2006/relationships/notesSlide" Target="/ppt/notesSlides/notesSlide5.xml" Id="R59f0ca547e494b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8b40c277e24e0f" /><Relationship Type="http://schemas.openxmlformats.org/officeDocument/2006/relationships/image" Target="/ppt/media/image9.png" Id="Rcd3568bc82fa49ae" /><Relationship Type="http://schemas.openxmlformats.org/officeDocument/2006/relationships/notesSlide" Target="/ppt/notesSlides/notesSlide6.xml" Id="R7aa185fc51d944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073cbe04924d03" /><Relationship Type="http://schemas.openxmlformats.org/officeDocument/2006/relationships/image" Target="/ppt/media/image10.png" Id="R6eb9bf51ddd9400b" /><Relationship Type="http://schemas.openxmlformats.org/officeDocument/2006/relationships/notesSlide" Target="/ppt/notesSlides/notesSlide7.xml" Id="R2d434a0e066841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1109be4ba44851" /><Relationship Type="http://schemas.openxmlformats.org/officeDocument/2006/relationships/image" Target="/ppt/media/image11.png" Id="R7566e03f8145439a" /><Relationship Type="http://schemas.openxmlformats.org/officeDocument/2006/relationships/image" Target="/ppt/media/image12.png" Id="R5337ee1dbdb84fe8" /><Relationship Type="http://schemas.openxmlformats.org/officeDocument/2006/relationships/notesSlide" Target="/ppt/notesSlides/notesSlide8.xml" Id="R2889fc45901a4d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a194275817462f" /><Relationship Type="http://schemas.openxmlformats.org/officeDocument/2006/relationships/image" Target="/ppt/media/image13.png" Id="Rb59f9a7c8a4f459a" /><Relationship Type="http://schemas.openxmlformats.org/officeDocument/2006/relationships/notesSlide" Target="/ppt/notesSlides/notesSlide9.xml" Id="R8c0bfa1bf07246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0d4fb0a7614704" /><Relationship Type="http://schemas.openxmlformats.org/officeDocument/2006/relationships/image" Target="/ppt/media/image14.png" Id="Reb41f1a829904649" /><Relationship Type="http://schemas.openxmlformats.org/officeDocument/2006/relationships/notesSlide" Target="/ppt/notesSlides/notesSlide10.xml" Id="Ra12f4201445645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cbaab0833d451a" /><Relationship Type="http://schemas.openxmlformats.org/officeDocument/2006/relationships/image" Target="/ppt/media/image15.png" Id="R09deeeceaecd4b9f" /><Relationship Type="http://schemas.openxmlformats.org/officeDocument/2006/relationships/image" Target="/ppt/media/image16.png" Id="R6986b57a367f4c49" /><Relationship Type="http://schemas.openxmlformats.org/officeDocument/2006/relationships/notesSlide" Target="/ppt/notesSlides/notesSlide11.xml" Id="Rfe30cbe01d7246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c530c65a744743" /><Relationship Type="http://schemas.openxmlformats.org/officeDocument/2006/relationships/image" Target="/ppt/media/image17.png" Id="Rcbf4b116e872485f" /><Relationship Type="http://schemas.openxmlformats.org/officeDocument/2006/relationships/notesSlide" Target="/ppt/notesSlides/notesSlide12.xml" Id="R6e8f6a23a0204f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cd6cc3856a4e70" /><Relationship Type="http://schemas.openxmlformats.org/officeDocument/2006/relationships/image" Target="/ppt/media/image18.png" Id="R28a971e9955e403e" /><Relationship Type="http://schemas.openxmlformats.org/officeDocument/2006/relationships/notesSlide" Target="/ppt/notesSlides/notesSlide13.xml" Id="R9681f63d7b184b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82430ca36e4627" /><Relationship Type="http://schemas.openxmlformats.org/officeDocument/2006/relationships/image" Target="/ppt/media/image19.png" Id="Rd54a883b0a1f4257" /><Relationship Type="http://schemas.openxmlformats.org/officeDocument/2006/relationships/notesSlide" Target="/ppt/notesSlides/notesSlide14.xml" Id="Ra7bac7047b1d49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fc36ba6e4e4e39" /><Relationship Type="http://schemas.openxmlformats.org/officeDocument/2006/relationships/image" Target="/ppt/media/image20.png" Id="Ra5fc15c714904dbd" /><Relationship Type="http://schemas.openxmlformats.org/officeDocument/2006/relationships/image" Target="/ppt/media/image21.png" Id="Rd06f8d1c8a914153" /><Relationship Type="http://schemas.openxmlformats.org/officeDocument/2006/relationships/notesSlide" Target="/ppt/notesSlides/notesSlide15.xml" Id="R91cb2b61aea841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6D6A8B-6A1D-4F30-BEF8-8808A37F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fbf1ca3534c72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C2198-A410-40C5-A0A3-1056C55E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EFA6E-070B-49D5-B7EF-B04580B4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51CAD-380C-4678-9154-17C47C93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24539961b4a6d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F8F75-57AA-4FE1-B24D-577E9A35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TRILHA DE ENGENHARIA DE 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48538-CB2D-4F04-A686-89AA1A5F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FFFFFF"/>
                </a:solidFill>
              </a:defRPr>
            </a:pPr>
            <a:r>
              <a:rPr sz="4500" b="0">
                <a:solidFill>
                  <a:srgbClr val="FFFFFF"/>
                </a:solidFill>
              </a:rPr>
              <a:t>Qualidade e Observabilidade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DDBBA-EB5C-4ABA-9D2F-3AD25E04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666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Módulo 8  •  Sessão ao Vivo  •  2 horas  •  Encerramento da Trilha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A8060-4369-4CE1-9D77-6B258E52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FD775-2169-4855-A4B3-2A3E2AAA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571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Dado errado é pior que dado ausente.</a:t>
            </a:r>
          </a:p>
        </p:txBody>
      </p:sp>
    </p:spTree>
    <p:extLst>
      <p:ext uri="{BB962C8B-B14F-4D97-AF65-F5344CB8AC3E}">
        <p14:creationId xmlns:p14="http://schemas.microsoft.com/office/powerpoint/2010/main" val="1523616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F4450D-D7A7-4F9B-848C-77117F5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94de9aadb47b5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A0D98-35F0-4D35-BE42-E1E0A8DB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9D983-CF54-4520-8F59-F6130403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3E349-FD13-4BD9-8BB2-F5F798C4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42855-A553-46DC-A07C-57A9153D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AFA50-6D02-45E8-A9A2-EE426195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AGENDA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71373-2148-4FAB-8514-43584253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Última sessão da trilha — qualidade, TDD e celebração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65214-8132-44D2-9DC9-2C32D98B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Análise coletiva de problemas + TDD na prática + linha do tempo dos 8 módulos.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6FD20-A65A-41C7-A028-E209FF63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A6570-097A-47CD-83A7-3D444903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480DC-7C5D-47F5-84FC-00B443A9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Abertura — 10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6C35A-38A4-486D-B533-96F6A959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Alguém já encontrou dado errado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em produção? Conectar com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experiência real.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D5536-A27B-4C82-BEF0-EB5E77DC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28235-5014-4F36-B8BE-8C132DDF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0FDDA-A0EB-4DD7-B0EC-66B2E45E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Análise — 30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D6A76-89D9-452C-BAA0-5073A38C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Ex 8.1: identificar problemas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no dataset com as 5 dimensões.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2BBB5-CEC5-4900-B76B-443D9B1B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8414E-516C-424E-85FB-6163E12C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DAACB-6986-4854-9FB6-AB94192E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TDD — 40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48E59D-9059-417B-AC29-11A0B1ED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Ex 8.3: ciclo vermelho-verde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com pytest. Testes antes do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código.</a:t>
            </a:r>
          </a:p>
        </p:txBody>
      </p:sp>
    </p:spTree>
    <p:extLst>
      <p:ext uri="{BB962C8B-B14F-4D97-AF65-F5344CB8AC3E}">
        <p14:creationId xmlns:p14="http://schemas.microsoft.com/office/powerpoint/2010/main" val="10973346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5FBA72-2653-46FB-8CED-D018A8F7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5844e04ed4d9a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AF1DA-FE9E-4C80-894B-4FB1B77F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64174-0B0D-4FFC-854D-717EB911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F63ED-4FEA-441B-900F-81C6D86A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BFE5B-A956-4255-85C5-EC173098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76070fd9c47b8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C92FB-D93D-45EF-9F50-F7407F7B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D15ED-549E-4E22-BB14-31E843D0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Já encontrou dado errado em produção?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18BE6-FA4B-4C78-BF69-8EA1C461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Abra com a pergunta direta. Histórias reais conectam com qualquer conceito do módulo.</a:t>
            </a:r>
          </a:p>
        </p:txBody>
      </p:sp>
    </p:spTree>
    <p:extLst>
      <p:ext uri="{BB962C8B-B14F-4D97-AF65-F5344CB8AC3E}">
        <p14:creationId xmlns:p14="http://schemas.microsoft.com/office/powerpoint/2010/main" val="3379108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39FAAD-4F30-47A1-9290-C8E99DC7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c5ae7cfcf4e64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0F1F1-D585-49C3-970A-1EA61C21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37B00-1B32-4A8A-867B-6C56DEDB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D1B08-FFBC-4071-9E31-11C27AC5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1E19C-65DA-470C-85FD-B4E616AC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E1EBE-B6E7-4DA7-957F-E682621B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O QUE COSTUMA APARECER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3DCD4-7B96-47C3-8A16-8D4F761F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Histórias frequentes — use como gancho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CCD76-347D-498A-A8BB-E87E91A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Não force se ninguém compartilhar. O Ex 8.1 vai gerar a conversa naturalmente.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24251-681C-44DD-8FD8-F96E2418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D2FC6-0BFA-4E17-B228-7EE94F7A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BF348-A80E-4792-B0FF-153A9CB8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Arquivo vazio sem alerta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473D9-1332-41A8-A3FC-1BCCD860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Pipeline rodou, salvou parquet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com 0 linhas, ninguém percebeu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por dias.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693B7-A6DA-4EC6-BF56-C6E6A7ED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6B94F-D482-4771-957D-D1B883A4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BF141-9489-4F17-8DD2-27DC0944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Duplicatas no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9D210-EDAF-40CC-85E4-F68EC127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Receita dobrou. Investigação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encontra duplicata na fonte.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Tudo retroativo é refeito.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11207-5A81-409C-B07A-9C009944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EE6002-42F1-43A2-8C07-670EC136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65270-EFEC-460A-B5DF-A48E7B9C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Relatório com dados de ontem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BDABA-7B70-47F9-B82C-95A4E78F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Pipeline atrasou. Relatório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enviado para diretoria com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snapshot do dia anterior.</a:t>
            </a:r>
          </a:p>
        </p:txBody>
      </p:sp>
    </p:spTree>
    <p:extLst>
      <p:ext uri="{BB962C8B-B14F-4D97-AF65-F5344CB8AC3E}">
        <p14:creationId xmlns:p14="http://schemas.microsoft.com/office/powerpoint/2010/main" val="8739386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5A95CD-514D-4A5E-A6E1-1DD68452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8bb999e5048c0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E1F3A-998A-44BC-A010-5FF249D5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DC020-C43A-470E-A0F1-8BC2B42C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A3C6F-443C-4B32-81D6-3E354EB4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43B29-25C5-4D8D-9D3A-C160F418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542f6b58947bf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7C954-56FB-4B34-AC78-DED6B00F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A2EB8-7D82-494D-B7F6-34D1F44F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Análise Coletiva — Ex 8.1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1E9B2-7038-4307-B774-37AC8A55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Vocabulário das 5 dimensões aplicado a um dataset com 6 problemas reais.</a:t>
            </a:r>
          </a:p>
        </p:txBody>
      </p:sp>
    </p:spTree>
    <p:extLst>
      <p:ext uri="{BB962C8B-B14F-4D97-AF65-F5344CB8AC3E}">
        <p14:creationId xmlns:p14="http://schemas.microsoft.com/office/powerpoint/2010/main" val="1694512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766BD5-0EF6-4FAF-8E85-E25A5E4A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568bc82fa49ae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76DD6-5A02-45D6-87D9-07A6DDCC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08159-48F3-410E-8F78-67414043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B2F6E-6F64-4BC3-A02A-24A09D97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EEFAE-7B54-4AD9-9F57-6FFDC343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518D0-2F5E-4FF6-92E5-0F482FCD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AS 5 DIMENSÕES DE QUALIDADE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D8560-6A0D-4A3C-BD4B-28CC9B7C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Vocabulário comum para classificar problemas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BA295-2F4B-49C5-99C4-443E40A3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Não são categorias mutuamente exclusivas. Um problema pode violar mais de uma.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B671B-979C-43DE-8A1A-DB92E079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20F6C-FF4B-4FBC-B3BA-9C6D7EF9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30790-9EA5-490D-978D-1786DC0A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Completude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EE7BE-DBB4-4C6F-85E5-7F7FD09C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Há valores nulos onde não deveria? cliente_id None viola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completude.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F9009-B2CC-4950-A9F9-95B1B6C8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BF9CF-9775-4EDE-B7AD-7C3A14B6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26B9C-891D-470E-B544-8F38C928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Consistência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C52872-B9E3-4517-8BC5-07E1829B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Integridade referencial. produto_id=999 referencia produto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inexistente.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EB1E2-584F-41DF-8C3D-4B1FAC03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4451EB-4B16-4411-AA77-43E4384C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64530-E9AC-4D49-A6EC-F8DB8DF1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Acurácia + Validade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7941C-4CF4-450A-A6D2-F2003A85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Valores fazem sentido? quantidade=0 ou valor_total&lt;0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violam regras de negócio.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9CF63C-9953-493C-B2A1-51FA9E8C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26A88C-87B7-4710-9DAB-A17BCD78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636986-C843-47D9-9D01-BC3D464D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Unicidade + Timeliness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4AC575-7CFB-4564-9159-CE554FD8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Duplicatas, datas inválidas (32-13-2024), dados antigos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demais para o uso.</a:t>
            </a:r>
          </a:p>
        </p:txBody>
      </p:sp>
    </p:spTree>
    <p:extLst>
      <p:ext uri="{BB962C8B-B14F-4D97-AF65-F5344CB8AC3E}">
        <p14:creationId xmlns:p14="http://schemas.microsoft.com/office/powerpoint/2010/main" val="3067667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7C7D27-B2B4-44E4-9E29-3F42DCDC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9bf51ddd9400b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0D65E-4612-414C-8FF8-A29A93BE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14694-D952-4263-9539-C984F03E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51709-7468-43C0-9BF5-C41EFBB7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138A5-053E-43A8-BCC1-53F787FE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81C6A-C02E-4D19-B98E-FBB4A1F4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PONTO DE DISCUSSÃO RICO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81A9D-10B4-4A8F-9051-AD599297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produto_id = 999 — qual dimensão viola?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C100A-3423-46C4-A709-852C894B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Costuma gerar debate. Ambas as classificações estão corretas — o ponto é entender o porquê.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CB357-03B7-4F44-A5D4-37914CE1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55A13-921B-4E5B-840F-3A1EACD8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AF708-94B7-43DB-82B9-E19C2738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Acurácia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CE53E-40E7-4BC6-8377-41314037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999 não é um produto real. 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valor está errado independente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do que outras tabelas dizem.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039A3-9042-4AE2-95AC-6D34FA71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BC623-3FDF-4959-9DDD-3371B17E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C7945-5873-4C32-9DF4-80B0DB5B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Consistência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420ED-385E-439D-858B-26EFD5A0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999 não existe na tabela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produtos. Viola a integridade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referencial entre tabelas.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8DAAE-0B1D-4CE3-9A3A-05CECB0F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71904-1FD8-4905-9889-6393E3CE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7267B-6702-4189-97BF-524107F7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Dimensões não competem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017695-B2B5-4E1E-8B95-CEFE89B3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Destacam aspectos diferentes do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mesmo problema. Escolha a que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comunica melhor.</a:t>
            </a:r>
          </a:p>
        </p:txBody>
      </p:sp>
    </p:spTree>
    <p:extLst>
      <p:ext uri="{BB962C8B-B14F-4D97-AF65-F5344CB8AC3E}">
        <p14:creationId xmlns:p14="http://schemas.microsoft.com/office/powerpoint/2010/main" val="2933221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3048A2-0731-4CA2-91C3-7B27995E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6e03f8145439a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878C3-5A28-4E73-94FF-D2A361FA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90BD5-CC99-4A92-B9D0-121BB3D0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B8AC6-9EA2-4A18-BAF1-9BFAA73E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D56BA-9926-46CA-9C8E-4776330C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7ee1dbdb84fe8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2B241-6BB0-42F3-94F4-88737D09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FE07C-152B-455C-84D8-250E6EDF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TDD na Prática — Ex 8.3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32C07-97B6-4365-A95D-0677605D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Experimentar o ciclo vermelho-verde. Testes antes da implementação.</a:t>
            </a:r>
          </a:p>
        </p:txBody>
      </p:sp>
    </p:spTree>
    <p:extLst>
      <p:ext uri="{BB962C8B-B14F-4D97-AF65-F5344CB8AC3E}">
        <p14:creationId xmlns:p14="http://schemas.microsoft.com/office/powerpoint/2010/main" val="13270091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457EF5-3959-4ECE-B621-EC50C785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f9a7c8a4f459a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065D0-5BEE-4F08-BB01-38319599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30C37-BCA6-43A9-9F0E-CDDD97C3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26D62-BA3C-43D3-B6F7-39E9A93A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F95B5-1828-4917-BB4D-348C4203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1CB14-C7BF-4857-AD19-9B943731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FASE VERMELHA — 15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9AA9F-D83E-49A8-81B6-0A3EC0F6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Escrever os testes primeiro — todos falhando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42308-064C-4B66-BC7E-754680F0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Função transformar ainda vazia. Cada teste rodado retorna vermelho. Celebrar.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95B4D-2900-45B0-AA35-7CE7F776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FA8B8-0F0F-434C-AD7B-F040AA36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AA057-53C8-4D73-99E8-C4FB0D98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PRIMEIRO TESTE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F4F6F-688C-48E7-9A6D-A89EBD63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import pandas as pd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import pytest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def transformar(df):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pass  # ainda não implementado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def make_df(**kwargs):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defaults = {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'venda_id': [1],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'cliente_id': [10],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'valor_total': [100.0],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'quantidade': [2],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}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defaults.update(kwargs)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return pd.DataFrame(defaults)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def test_caso_feliz():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df = make_df()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resultado = transformar(df)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assert len(resultado) ==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DD7EE-572B-49B1-90CF-82DCBBC5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B1F11-A07A-4508-9456-12A23076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EB64B-2FB8-40F3-8337-D5D7BF82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EXECUÇÃO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6A981-73D4-485A-A185-0A9555B6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$ pytest test_pipeline.py -v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FAILED test_caso_feliz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AssertionError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=========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1 failed in 0.02s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Este é o estado correto.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O teste detecta o problema: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a função ainda não existe.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Agora podemos implementar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com confiança.</a:t>
            </a:r>
          </a:p>
        </p:txBody>
      </p:sp>
    </p:spTree>
    <p:extLst>
      <p:ext uri="{BB962C8B-B14F-4D97-AF65-F5344CB8AC3E}">
        <p14:creationId xmlns:p14="http://schemas.microsoft.com/office/powerpoint/2010/main" val="16837226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97A1AC-888D-459F-B884-DABD8217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1f1a829904649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6A0D9-7291-4A98-83B6-6FAC4492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A3B61-9787-4151-A5C3-567B11BD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E2918-48BC-42E3-8587-CCCBA0DC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0B497-2AC5-42E4-86F2-4258AE77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E7169-2153-4885-AF01-A3AD9106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FASE VERDE — 20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C3F09-CE7D-49A9-A7C0-D4380790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Implementar até que todos os testes passem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A1687-DC27-4209-8C02-02E2566B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Sem escrever mais código do que o necessário. Cada teste guia uma decisão.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B3E25-030D-408D-84E1-63D607BB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9F282-476C-49BE-989B-D7EE60B2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46046-A034-4CA6-89BF-877534CC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IMPLEMENTAÇÃO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D5BA3-D474-4559-912A-F2DA8023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def transformar(df):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df = df.copy()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df = df.drop_duplicates(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subset=['venda_id'],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keep='first'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df = df.dropna(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subset=['cliente_id',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        'valor_total',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        'quantidade']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df = df[df['quantidade'] &gt; 0]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df['valor_unitario'] = 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df['valor_total']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/ df['quantidade']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return df.reset_index(drop=True)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5120B-937B-4AD2-9146-FA552FEF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1DDC8-53B4-4E8B-9B00-39B0BEA9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2B1B8-1726-468F-A91D-EEACE9DE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EXECUÇÃO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368D3-2DFF-4A66-A02E-C3ED4EBC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$ pytest test_pipeline.py -v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PASSED test_caso_feliz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PASSED test_duplicatas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PASSED test_nulos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PASSED test_quantidade_zero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=========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4 passed in 0.03s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O que mudou? Apenas o código.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Os testes são o contrato.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Implementação é como atendemos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ao contrato.</a:t>
            </a:r>
          </a:p>
        </p:txBody>
      </p:sp>
    </p:spTree>
    <p:extLst>
      <p:ext uri="{BB962C8B-B14F-4D97-AF65-F5344CB8AC3E}">
        <p14:creationId xmlns:p14="http://schemas.microsoft.com/office/powerpoint/2010/main" val="6456407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C642DA-30D4-4550-93AC-9465E55E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eeeceaecd4b9f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2B0E4-45E6-4CD0-AC0E-B9D97719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A997B-A21A-4349-BBAD-AF67252A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762F6-5B57-4201-8F16-B29031C8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592D8-4F44-4EE3-B98D-13A52203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6b57a367f4c49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C5D5F-C34B-453C-AB47-D8082AED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9F323-3E02-4CB0-B52F-0B430489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Fechamento da Trilha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85A4B-5867-4725-9B25-C88EFD39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Linha do tempo dos 8 módulos. O que fica. Próximos passos com ferramentas específicas.</a:t>
            </a:r>
          </a:p>
        </p:txBody>
      </p:sp>
    </p:spTree>
    <p:extLst>
      <p:ext uri="{BB962C8B-B14F-4D97-AF65-F5344CB8AC3E}">
        <p14:creationId xmlns:p14="http://schemas.microsoft.com/office/powerpoint/2010/main" val="2323570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5A83FA-5EE8-4530-BE31-1E78ACD6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4b116e872485f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DA4C6-D0F1-48ED-B2E9-6673BF40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DE4CC-3493-4AF5-9D8D-B14A1C8F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72091-44F9-4468-B4F3-CC3A0830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A1EE0-C271-4381-A9BB-55F624CF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93618-9BAA-4A42-A79C-E4C6D570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LINHA DO TEMPO — 1ª METADE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5FF5F-DDEF-4F41-AA20-CB20C890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Módulos 1 a 4 — fundação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B7B98-3922-4F37-A0EC-4F0A9F19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Da pergunta "o que eu preciso do dado?" ao primeiro pipeline ETL em Python.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CD0EB-7975-4198-8942-E2FE910B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64640-9187-4C99-9EA1-5562E508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29785-68F1-4AFD-A2DC-B280866D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1 — 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E0698-ED3E-4F77-8D7D-B86B9C0A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SELECT, JOIN, agregações. A pergunta "o que eu preciso do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dado?"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14D8C-0178-48AF-89FF-9187A00B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2FD7F-0EBC-45B6-BCDF-A67F7705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2093E-35E0-443C-83A8-486BDA6A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2 — Modelagem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02945-8045-4473-9014-50914584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Entidades, chaves, normalização. Como pensar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relacionamentos entre dados.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067213-CB2A-4C1F-B7D3-797010E6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D6124-5BD8-4B93-8EE9-1121B912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99348-98CA-4F45-94AA-16E81842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3 — Formatos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C4EEAB-4154-49BB-8C9D-302FE48E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CSV, JSON, Parquet. Por que o formato importa para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performance.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16154-D4FC-4BE9-AC2D-82B90863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0BEE6-A956-4FB8-B094-5569236B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CBEA00-2C28-4ED2-9BAD-2DCA5474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4 — Python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3AA6CF-2AA3-44C1-B108-8497EF54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pandas + sqlite3. Primeiro pipeline ETL funcionando.</a:t>
            </a:r>
          </a:p>
        </p:txBody>
      </p:sp>
    </p:spTree>
    <p:extLst>
      <p:ext uri="{BB962C8B-B14F-4D97-AF65-F5344CB8AC3E}">
        <p14:creationId xmlns:p14="http://schemas.microsoft.com/office/powerpoint/2010/main" val="17748634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F07CC3-FE87-4314-8A11-BF36CA91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971e9955e403e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2778A-7B9F-4AF7-9195-0A566296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E3C85-EA8B-426E-8E19-E9292815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DFDE4-BE0A-4853-84FF-70573B8F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13DB7-FA1F-4A8E-A0C9-391B0B4A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A16F8-A6B4-4384-B602-B3DA5D5C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LINHA DO TEMPO — 2ª METADE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209D7-859A-46B4-BC7A-D5873D21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Módulos 5 a 8 — produção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8D024-CF2A-4087-AFBA-0C1BCB62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Da idempotência aos testes de qualidade. Pipeline robusto e versionado.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EFCD1-ECBC-42D8-9228-225FCA43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0F6C8-F7E4-4CA0-9361-EA599B76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AED79-F607-4097-9EF9-3A60D777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5 — ETL/ELT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2E1E5-3EA6-4297-901F-7625E162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Idempotência, logging, falha explícita. Pipeline que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sobrevive.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B4B29-018B-4737-81EF-FD007D5B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AD01E-F1CC-4E99-88B5-DEFD7BDA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251B6-2A72-4F3E-9A93-8A54F6ED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6 — Pipelines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06AC97-6CEC-4BE9-BDDB-BCBC4B7C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Airflow, DAGs, Git. A diferença entre script e pipeline 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produção.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FCC35-9F26-4262-9C56-D2DF167C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35507F-4614-4FAA-83DA-5AB8C518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4B476B-F32E-4B37-955A-123CE277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7 — Armazenamento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63CBC-216E-4169-82AE-8158AD14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Data Lake, Lakehouse, Spark. Onde os dados vivem e como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escalam.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BD6244-DFE5-4DB4-876F-8BC58F9B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F2B1C0-8619-49C2-82F9-73F8E238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55158C-D4AF-4E3B-89EF-0D9A6C03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8 — Qualidade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59BD0-AD05-4984-B779-1D54B24D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5 dimensões, validações, TDD. Dado ruim é pior que dado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ausente.</a:t>
            </a:r>
          </a:p>
        </p:txBody>
      </p:sp>
    </p:spTree>
    <p:extLst>
      <p:ext uri="{BB962C8B-B14F-4D97-AF65-F5344CB8AC3E}">
        <p14:creationId xmlns:p14="http://schemas.microsoft.com/office/powerpoint/2010/main" val="7914622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5A4D73-8731-478E-A988-B1C9ED04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a883b0a1f4257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55DBE-7430-456A-9ECB-464729E1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9E63B-4345-4AEB-BF78-65393F5B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EDBA2-E49F-45D3-9568-3211C83A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AF93F-5BCF-4C90-9541-C22175DA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314AC-86C4-4FE8-A838-5D0AEAC1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PRÓXIMOS PASSOS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60EEA-5BD2-4990-8643-886BF379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Ferramentas específicas que apoiam o que vocês aprenderam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390B1-D2DA-4F1A-85B6-FBD0F7E9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A diferença entre usar e entender essas ferramentas é ter construído o fundamento na mão.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EB35D-9968-4508-B89D-0CCD05A5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D7F9F-7C24-4A5E-9D46-84A6CB37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F53D7-5E87-4487-B574-43DF0A26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Qualidade declarativa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A7A72-3068-4493-B11A-1BA5DC9C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Great Expectations + dbt tests.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Validações estruturadas,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relatórios automáticos.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921B1-E186-4190-8A27-B98017BA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4D4E7-10F7-46F7-9586-0D267392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C7D33-825A-472A-98B4-4ABC7010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Observabilidade em escala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78F41-B11C-4ACC-BAE0-7DD60929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Monte Carlo + Soda. Detecção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automática de anomalias. SLA 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dados.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8B51E-D154-4D2E-822C-3AC09DC3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C60B1C-8F1D-488F-A9DA-122157CC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93B79-2AC2-4074-9E8E-99085999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Orquestração em produção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809EA-40A8-4C87-BF25-29BF885E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Airflow + Prefect em escala.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Multi-tenancy, RBAC,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observabilidade integrada.</a:t>
            </a:r>
          </a:p>
        </p:txBody>
      </p:sp>
    </p:spTree>
    <p:extLst>
      <p:ext uri="{BB962C8B-B14F-4D97-AF65-F5344CB8AC3E}">
        <p14:creationId xmlns:p14="http://schemas.microsoft.com/office/powerpoint/2010/main" val="1802855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CF17E2-918C-4029-81AF-AD98BEF7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c15c714904dbd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81774-2D2A-457E-853F-5B4F6C06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73B4D-D726-4E7B-944D-B5C9149B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AB79C-B121-465C-9C66-D0FB9687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15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f8d1c8a914153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3A9E0-1138-4759-8E91-69F5F5EC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0014A-7C1F-473D-9657-42B4DFA1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4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4ADBE"/>
                </a:solidFill>
              </a:defRPr>
            </a:pPr>
            <a:r>
              <a:rPr sz="1200" b="0">
                <a:solidFill>
                  <a:srgbClr val="A4ADBE"/>
                </a:solidFill>
              </a:rPr>
              <a:t>Trilha de Engenharia de Dados  •  Módulo 8 — Encerramento  •  Parabéns pelo percurso</a:t>
            </a:r>
          </a:p>
        </p:txBody>
      </p:sp>
    </p:spTree>
    <p:extLst>
      <p:ext uri="{BB962C8B-B14F-4D97-AF65-F5344CB8AC3E}">
        <p14:creationId xmlns:p14="http://schemas.microsoft.com/office/powerpoint/2010/main" val="1453060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2026-05-12T16:43:54.6480000Z</dcterms:created>
  <dcterms:modified xsi:type="dcterms:W3CDTF">2026-05-12T16:43:54.6480000Z</dcterms:modified>
</coreProperties>
</file>