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3433ce19da46c4" /><Relationship Type="http://schemas.openxmlformats.org/officeDocument/2006/relationships/extended-properties" Target="/docProps/app.xml" Id="Rc74f4911bf064c80" /><Relationship Type="http://schemas.openxmlformats.org/officeDocument/2006/relationships/officeDocument" Target="/ppt/presentation.xml" Id="R6772d39425d44e5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e6a0bc933294faa"/>
  </p:sldMasterIdLst>
  <p:notesMasterIdLst>
    <p:notesMasterId xmlns:r="http://schemas.openxmlformats.org/officeDocument/2006/relationships" r:id="R7fadac3e2ea34299"/>
  </p:notesMasterIdLst>
  <p:sldIdLst>
    <p:sldId xmlns:r="http://schemas.openxmlformats.org/officeDocument/2006/relationships" id="256" r:id="R077292e2b01e43b4"/>
    <p:sldId xmlns:r="http://schemas.openxmlformats.org/officeDocument/2006/relationships" id="257" r:id="R2510e50a367b4a1f"/>
    <p:sldId xmlns:r="http://schemas.openxmlformats.org/officeDocument/2006/relationships" id="258" r:id="R5db2978386ca45e5"/>
    <p:sldId xmlns:r="http://schemas.openxmlformats.org/officeDocument/2006/relationships" id="259" r:id="Rda7c4744d3c6468c"/>
    <p:sldId xmlns:r="http://schemas.openxmlformats.org/officeDocument/2006/relationships" id="260" r:id="Rffc7beb6bd514f79"/>
    <p:sldId xmlns:r="http://schemas.openxmlformats.org/officeDocument/2006/relationships" id="261" r:id="Re8e643546557432e"/>
    <p:sldId xmlns:r="http://schemas.openxmlformats.org/officeDocument/2006/relationships" id="262" r:id="Re7b14f7998fd4b3a"/>
    <p:sldId xmlns:r="http://schemas.openxmlformats.org/officeDocument/2006/relationships" id="263" r:id="R3837d3bbb9f14d65"/>
    <p:sldId xmlns:r="http://schemas.openxmlformats.org/officeDocument/2006/relationships" id="264" r:id="R3b4646e8d9e44cfb"/>
    <p:sldId xmlns:r="http://schemas.openxmlformats.org/officeDocument/2006/relationships" id="265" r:id="R63670a490a5546fb"/>
    <p:sldId xmlns:r="http://schemas.openxmlformats.org/officeDocument/2006/relationships" id="266" r:id="R6f7b358fa65f415a"/>
    <p:sldId xmlns:r="http://schemas.openxmlformats.org/officeDocument/2006/relationships" id="267" r:id="R470a9ac0fe0343b0"/>
    <p:sldId xmlns:r="http://schemas.openxmlformats.org/officeDocument/2006/relationships" id="268" r:id="Rf51c2ac5a5f6428d"/>
    <p:sldId xmlns:r="http://schemas.openxmlformats.org/officeDocument/2006/relationships" id="269" r:id="R31e3ec36d66542f0"/>
    <p:sldId xmlns:r="http://schemas.openxmlformats.org/officeDocument/2006/relationships" id="270" r:id="Rfbb761fd62e1467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6a0bc933294faa" /><Relationship Type="http://schemas.openxmlformats.org/officeDocument/2006/relationships/theme" Target="/ppt/theme/theme1.xml" Id="Rb8cc976a646649b3" /><Relationship Type="http://schemas.openxmlformats.org/officeDocument/2006/relationships/notesMaster" Target="/ppt/notesMasters/notesMaster1.xml" Id="R7fadac3e2ea34299" /><Relationship Type="http://schemas.openxmlformats.org/officeDocument/2006/relationships/presProps" Target="/ppt/presProps.xml" Id="R32ac21ad7bed47d3" /><Relationship Type="http://schemas.openxmlformats.org/officeDocument/2006/relationships/viewProps" Target="/ppt/viewProps.xml" Id="R9c589a2a223e4dbc" /><Relationship Type="http://schemas.openxmlformats.org/officeDocument/2006/relationships/tableStyles" Target="/ppt/tableStyles.xml" Id="R47957f56b01d4df5" /><Relationship Type="http://schemas.openxmlformats.org/officeDocument/2006/relationships/slide" Target="/ppt/slides/slide1.xml" Id="R077292e2b01e43b4" /><Relationship Type="http://schemas.openxmlformats.org/officeDocument/2006/relationships/slide" Target="/ppt/slides/slide2.xml" Id="R2510e50a367b4a1f" /><Relationship Type="http://schemas.openxmlformats.org/officeDocument/2006/relationships/slide" Target="/ppt/slides/slide3.xml" Id="R5db2978386ca45e5" /><Relationship Type="http://schemas.openxmlformats.org/officeDocument/2006/relationships/slide" Target="/ppt/slides/slide4.xml" Id="Rda7c4744d3c6468c" /><Relationship Type="http://schemas.openxmlformats.org/officeDocument/2006/relationships/slide" Target="/ppt/slides/slide5.xml" Id="Rffc7beb6bd514f79" /><Relationship Type="http://schemas.openxmlformats.org/officeDocument/2006/relationships/slide" Target="/ppt/slides/slide6.xml" Id="Re8e643546557432e" /><Relationship Type="http://schemas.openxmlformats.org/officeDocument/2006/relationships/slide" Target="/ppt/slides/slide7.xml" Id="Re7b14f7998fd4b3a" /><Relationship Type="http://schemas.openxmlformats.org/officeDocument/2006/relationships/slide" Target="/ppt/slides/slide8.xml" Id="R3837d3bbb9f14d65" /><Relationship Type="http://schemas.openxmlformats.org/officeDocument/2006/relationships/slide" Target="/ppt/slides/slide9.xml" Id="R3b4646e8d9e44cfb" /><Relationship Type="http://schemas.openxmlformats.org/officeDocument/2006/relationships/slide" Target="/ppt/slides/slide10.xml" Id="R63670a490a5546fb" /><Relationship Type="http://schemas.openxmlformats.org/officeDocument/2006/relationships/slide" Target="/ppt/slides/slide11.xml" Id="R6f7b358fa65f415a" /><Relationship Type="http://schemas.openxmlformats.org/officeDocument/2006/relationships/slide" Target="/ppt/slides/slide12.xml" Id="R470a9ac0fe0343b0" /><Relationship Type="http://schemas.openxmlformats.org/officeDocument/2006/relationships/slide" Target="/ppt/slides/slide13.xml" Id="Rf51c2ac5a5f6428d" /><Relationship Type="http://schemas.openxmlformats.org/officeDocument/2006/relationships/slide" Target="/ppt/slides/slide14.xml" Id="R31e3ec36d66542f0" /><Relationship Type="http://schemas.openxmlformats.org/officeDocument/2006/relationships/slide" Target="/ppt/slides/slide15.xml" Id="Rfbb761fd62e146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1c451c3f3ae40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7c3275a070c43b0" /><Relationship Type="http://schemas.openxmlformats.org/officeDocument/2006/relationships/notesMaster" Target="/ppt/notesMasters/notesMaster1.xml" Id="R493a4728a064475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4d5ed749ebd43cd" /><Relationship Type="http://schemas.openxmlformats.org/officeDocument/2006/relationships/notesMaster" Target="/ppt/notesMasters/notesMaster1.xml" Id="Rbc21ebb91dae4e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2a743a9ee54b33" /><Relationship Type="http://schemas.openxmlformats.org/officeDocument/2006/relationships/notesMaster" Target="/ppt/notesMasters/notesMaster1.xml" Id="Rbd0a8b536c88499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acc559e2714468" /><Relationship Type="http://schemas.openxmlformats.org/officeDocument/2006/relationships/notesMaster" Target="/ppt/notesMasters/notesMaster1.xml" Id="R32d39912631148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b9a90ed3954250" /><Relationship Type="http://schemas.openxmlformats.org/officeDocument/2006/relationships/notesMaster" Target="/ppt/notesMasters/notesMaster1.xml" Id="R3ec97d5de55a49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883af1a0cd74b5e" /><Relationship Type="http://schemas.openxmlformats.org/officeDocument/2006/relationships/notesMaster" Target="/ppt/notesMasters/notesMaster1.xml" Id="Rb59ec0dc613c4c8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1523fb718ca4600" /><Relationship Type="http://schemas.openxmlformats.org/officeDocument/2006/relationships/notesMaster" Target="/ppt/notesMasters/notesMaster1.xml" Id="Rca3dc35b93034f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141e80ba5c9413f" /><Relationship Type="http://schemas.openxmlformats.org/officeDocument/2006/relationships/notesMaster" Target="/ppt/notesMasters/notesMaster1.xml" Id="Rf8b62f7d86e341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f82e7b3dce749f9" /><Relationship Type="http://schemas.openxmlformats.org/officeDocument/2006/relationships/notesMaster" Target="/ppt/notesMasters/notesMaster1.xml" Id="Rb7f9e23b525a40e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3f112bfd3304781" /><Relationship Type="http://schemas.openxmlformats.org/officeDocument/2006/relationships/notesMaster" Target="/ppt/notesMasters/notesMaster1.xml" Id="R3ed89ace7f654b8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7b09209c40f4a9c" /><Relationship Type="http://schemas.openxmlformats.org/officeDocument/2006/relationships/notesMaster" Target="/ppt/notesMasters/notesMaster1.xml" Id="Rc9cbc356720644d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720a1d7636e4e1c" /><Relationship Type="http://schemas.openxmlformats.org/officeDocument/2006/relationships/notesMaster" Target="/ppt/notesMasters/notesMaster1.xml" Id="Rd0d0f93d3c83486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699dc5484334425" /><Relationship Type="http://schemas.openxmlformats.org/officeDocument/2006/relationships/notesMaster" Target="/ppt/notesMasters/notesMaster1.xml" Id="R317e8a1a8d6d4b7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3ad519988584d9c" /><Relationship Type="http://schemas.openxmlformats.org/officeDocument/2006/relationships/notesMaster" Target="/ppt/notesMasters/notesMaster1.xml" Id="R87d0521eb27a4d7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d377aac6b274d6a" /><Relationship Type="http://schemas.openxmlformats.org/officeDocument/2006/relationships/notesMaster" Target="/ppt/notesMasters/notesMaster1.xml" Id="Re7f582e2496a48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0b286053834be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950e0b4901e84c4d" /><Relationship Type="http://schemas.openxmlformats.org/officeDocument/2006/relationships/slideLayout" Target="/ppt/slideLayouts/slideLayout2.xml" Id="R554a34d3f6a1448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4a34d3f6a144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c9cecd7cdd493d" /><Relationship Type="http://schemas.openxmlformats.org/officeDocument/2006/relationships/image" Target="/ppt/media/image.png" Id="R9d62238660e646ca" /><Relationship Type="http://schemas.openxmlformats.org/officeDocument/2006/relationships/image" Target="/ppt/media/image2.png" Id="R1c70f745c1cc4f4a" /><Relationship Type="http://schemas.openxmlformats.org/officeDocument/2006/relationships/notesSlide" Target="/ppt/notesSlides/notesSlide1.xml" Id="R7a2836627dbb42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bf082db6d54024" /><Relationship Type="http://schemas.openxmlformats.org/officeDocument/2006/relationships/image" Target="/ppt/media/image3.png" Id="R52ca78412de942d0" /><Relationship Type="http://schemas.openxmlformats.org/officeDocument/2006/relationships/notesSlide" Target="/ppt/notesSlides/notesSlide2.xml" Id="R8eb210af03be42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7fa58090c74000" /><Relationship Type="http://schemas.openxmlformats.org/officeDocument/2006/relationships/image" Target="/ppt/media/image4.png" Id="R00f3eb8e547b4cb0" /><Relationship Type="http://schemas.openxmlformats.org/officeDocument/2006/relationships/image" Target="/ppt/media/image5.png" Id="Rc205125152f04285" /><Relationship Type="http://schemas.openxmlformats.org/officeDocument/2006/relationships/notesSlide" Target="/ppt/notesSlides/notesSlide3.xml" Id="R6ac050bc1fe345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ba8be293f04652" /><Relationship Type="http://schemas.openxmlformats.org/officeDocument/2006/relationships/image" Target="/ppt/media/image6.png" Id="Rdd5e04fea87b4b99" /><Relationship Type="http://schemas.openxmlformats.org/officeDocument/2006/relationships/notesSlide" Target="/ppt/notesSlides/notesSlide4.xml" Id="R423b93022fc542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029cdb1ae84562" /><Relationship Type="http://schemas.openxmlformats.org/officeDocument/2006/relationships/image" Target="/ppt/media/image7.png" Id="Rb17072beb72b42f6" /><Relationship Type="http://schemas.openxmlformats.org/officeDocument/2006/relationships/image" Target="/ppt/media/image8.png" Id="R6c8aeadcc7594dd9" /><Relationship Type="http://schemas.openxmlformats.org/officeDocument/2006/relationships/notesSlide" Target="/ppt/notesSlides/notesSlide5.xml" Id="R7d0677f529a64e0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4bdde8685943c9" /><Relationship Type="http://schemas.openxmlformats.org/officeDocument/2006/relationships/image" Target="/ppt/media/image9.png" Id="Re93006f9195040bc" /><Relationship Type="http://schemas.openxmlformats.org/officeDocument/2006/relationships/notesSlide" Target="/ppt/notesSlides/notesSlide6.xml" Id="R5e9487def95c42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d6ab14bf824fcb" /><Relationship Type="http://schemas.openxmlformats.org/officeDocument/2006/relationships/image" Target="/ppt/media/image10.png" Id="R608ab08f9aca41ca" /><Relationship Type="http://schemas.openxmlformats.org/officeDocument/2006/relationships/image" Target="/ppt/media/image11.png" Id="Rfcd535adc6d841bd" /><Relationship Type="http://schemas.openxmlformats.org/officeDocument/2006/relationships/notesSlide" Target="/ppt/notesSlides/notesSlide7.xml" Id="Rd18aff7c51c642b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c1182f398f4e1e" /><Relationship Type="http://schemas.openxmlformats.org/officeDocument/2006/relationships/image" Target="/ppt/media/image12.png" Id="R240a8306887b49a2" /><Relationship Type="http://schemas.openxmlformats.org/officeDocument/2006/relationships/notesSlide" Target="/ppt/notesSlides/notesSlide8.xml" Id="R39631b05111c4a1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e710e0be0246f5" /><Relationship Type="http://schemas.openxmlformats.org/officeDocument/2006/relationships/image" Target="/ppt/media/image13.png" Id="R65a681d905164913" /><Relationship Type="http://schemas.openxmlformats.org/officeDocument/2006/relationships/notesSlide" Target="/ppt/notesSlides/notesSlide9.xml" Id="R2a02cd34ef32421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f7242acc8b44b5" /><Relationship Type="http://schemas.openxmlformats.org/officeDocument/2006/relationships/image" Target="/ppt/media/image14.png" Id="R34603ec3817a44b1" /><Relationship Type="http://schemas.openxmlformats.org/officeDocument/2006/relationships/notesSlide" Target="/ppt/notesSlides/notesSlide10.xml" Id="Red6f8f6095f94bc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891375e3a14a12" /><Relationship Type="http://schemas.openxmlformats.org/officeDocument/2006/relationships/image" Target="/ppt/media/image15.png" Id="Rb73235f382b346bb" /><Relationship Type="http://schemas.openxmlformats.org/officeDocument/2006/relationships/image" Target="/ppt/media/image16.png" Id="Rc291830ef6354328" /><Relationship Type="http://schemas.openxmlformats.org/officeDocument/2006/relationships/notesSlide" Target="/ppt/notesSlides/notesSlide11.xml" Id="Rfaa557732551438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07eb327f494e4c" /><Relationship Type="http://schemas.openxmlformats.org/officeDocument/2006/relationships/image" Target="/ppt/media/image17.png" Id="R293277e24deb4bf3" /><Relationship Type="http://schemas.openxmlformats.org/officeDocument/2006/relationships/notesSlide" Target="/ppt/notesSlides/notesSlide12.xml" Id="Raece604b809f40d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3a7016fc804c69" /><Relationship Type="http://schemas.openxmlformats.org/officeDocument/2006/relationships/image" Target="/ppt/media/image18.png" Id="R574752cb01aa4f99" /><Relationship Type="http://schemas.openxmlformats.org/officeDocument/2006/relationships/notesSlide" Target="/ppt/notesSlides/notesSlide13.xml" Id="Rcda4438cbcc94a6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4839611acf4764" /><Relationship Type="http://schemas.openxmlformats.org/officeDocument/2006/relationships/image" Target="/ppt/media/image19.png" Id="Rf5a7e4532cb6492a" /><Relationship Type="http://schemas.openxmlformats.org/officeDocument/2006/relationships/notesSlide" Target="/ppt/notesSlides/notesSlide14.xml" Id="Ra7d40a27b4cb41e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7e3d6b45f74eaa" /><Relationship Type="http://schemas.openxmlformats.org/officeDocument/2006/relationships/image" Target="/ppt/media/image20.png" Id="R121a369958ac4f94" /><Relationship Type="http://schemas.openxmlformats.org/officeDocument/2006/relationships/image" Target="/ppt/media/image21.png" Id="Rc694557064064a4a" /><Relationship Type="http://schemas.openxmlformats.org/officeDocument/2006/relationships/notesSlide" Target="/ppt/notesSlides/notesSlide15.xml" Id="R13db7c1e6f5b443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F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0DD41C-89CA-4869-9A9B-311E2B02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F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62238660e646ca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9272F1-0318-4157-B1B4-BA26F02E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800020-ADA1-4E24-B20E-DAD8935D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B26FE2-72DB-48D6-8C60-CC6B158A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70f745c1cc4f4a"/>
          <a:stretch xmlns:a="http://schemas.openxmlformats.org/drawingml/2006/main"/>
        </p:blipFill>
        <p:spPr>
          <a:xfrm xmlns:a="http://schemas.openxmlformats.org/drawingml/2006/main">
            <a:off x="7683178" y="3638550"/>
            <a:ext cx="4502794" cy="32194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7A1B53-A7D8-407C-8F14-EE58E551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TRILHA DE ENGENHARIA DE DADOS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15B673-0488-4EB4-A41E-05A503B34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FFFFFF"/>
                </a:solidFill>
              </a:defRPr>
            </a:pPr>
            <a:r>
              <a:rPr sz="4500" b="0">
                <a:solidFill>
                  <a:srgbClr val="FFFFFF"/>
                </a:solidFill>
              </a:rPr>
              <a:t>Lógica de ETL/ELT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69C92B-860A-4034-9A71-DCF898A4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10000"/>
            <a:ext cx="666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Módulo 5  •  Sessão ao Vivo  •  2 horas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6F445C-1B65-40A8-907F-EBDA78D8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81AC5-58EB-401A-B198-E4B44E37A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52950"/>
            <a:ext cx="571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Pipeline que falha silenciosamente é o pior pipeline.</a:t>
            </a:r>
          </a:p>
        </p:txBody>
      </p:sp>
    </p:spTree>
    <p:extLst>
      <p:ext uri="{BB962C8B-B14F-4D97-AF65-F5344CB8AC3E}">
        <p14:creationId xmlns:p14="http://schemas.microsoft.com/office/powerpoint/2010/main" val="36017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F8144C-CDF2-406E-8921-655D190C0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ca78412de942d0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5B1881-3ABD-43D3-A031-1F2F8F77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70F26"/>
                </a:solidFill>
              </a:defRPr>
            </a:pPr>
            <a:r>
              <a:rPr sz="82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76211C-08BF-4AC4-87A1-3CC54DA3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858175-1C21-4579-A42C-5D2F07C5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8C8AB5-CAC4-4A79-AFD7-16FA2750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70F26"/>
                </a:solidFill>
              </a:defRPr>
            </a:pPr>
            <a:r>
              <a:rPr sz="67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B9C6DF-F5E4-4295-BF49-D7C7D758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AGENDA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37880B-C602-44DE-A86E-6926FCA3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70F26"/>
                </a:solidFill>
              </a:defRPr>
            </a:pPr>
            <a:r>
              <a:rPr sz="2400" b="0">
                <a:solidFill>
                  <a:srgbClr val="070F26"/>
                </a:solidFill>
              </a:rPr>
              <a:t>Da teoria ao pipeline robusto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D6DC8B-BB69-4BA6-B10F-722B4A15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Construir ao vivo o Ex 5.4 simulando uma falha para sentir a diferença que logging faz.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299F47-9EDC-4F2A-8784-DB16B95E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1F03E3-A5A7-42D3-8E53-43F0D649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F7DD49-D950-40B2-B660-32B50434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Abertura — 10 min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B4B44E-AF42-4F28-AE05-95322A1F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Pergunta-chave: pipeline que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quebra às 3h. O que precisa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estar no código?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7EC0F1-8B11-4479-91D2-AFD16E7E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F7EC50-0734-4E57-9C7D-D20FE6618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94F15C-6823-4029-B905-F6645884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Vocabulário — 15 min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06D659-B038-4D9E-89FD-CD866C51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ETL vs ELT, extração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incremental, idempotência,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logging útil.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DFB7C9-6D92-4566-BCDC-6A1AFE6C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24D61B-C566-4C33-B2E0-3B77721B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2D915D-3A78-4A4A-A0D3-726FAFC7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Exercício — 70 min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8E93DD-41A7-4AD5-B511-5EFEE9BC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Construir Ex 5.4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progressivamente. Simular falha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 ver a diferença.</a:t>
            </a:r>
          </a:p>
        </p:txBody>
      </p:sp>
    </p:spTree>
    <p:extLst>
      <p:ext uri="{BB962C8B-B14F-4D97-AF65-F5344CB8AC3E}">
        <p14:creationId xmlns:p14="http://schemas.microsoft.com/office/powerpoint/2010/main" val="333027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F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F1D4BD-3FA5-469D-B7BC-B67A57C5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F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f3eb8e547b4cb0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BEFEA9-2B37-41E8-9A69-611493A0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516491-05E1-4C20-957C-76B6FC97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22FE43-7BEE-4AE0-84E9-99ED4E0C0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16A576-903F-4E99-8CAE-66075EFA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05125152f04285"/>
          <a:stretch xmlns:a="http://schemas.openxmlformats.org/drawingml/2006/main"/>
        </p:blipFill>
        <p:spPr>
          <a:xfrm xmlns:a="http://schemas.openxmlformats.org/drawingml/2006/main">
            <a:off x="0" y="1746250"/>
            <a:ext cx="2667000" cy="3556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42A02F-0376-4F21-942B-5D1B57CD8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BA81F2-8EC0-4393-A048-E788602F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Abertura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8F9BAF-487F-4813-A08D-6B108BC95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Pipeline quebra às 3h. Alguém precisa reprocessar tudo. O que precisa estar pronto?</a:t>
            </a:r>
          </a:p>
        </p:txBody>
      </p:sp>
    </p:spTree>
    <p:extLst>
      <p:ext uri="{BB962C8B-B14F-4D97-AF65-F5344CB8AC3E}">
        <p14:creationId xmlns:p14="http://schemas.microsoft.com/office/powerpoint/2010/main" val="13655156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5DF5CF-7E18-4652-93B5-3B9E79FF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5e04fea87b4b99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10C8F7-8C49-4FDB-8F88-C5255FFB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70F26"/>
                </a:solidFill>
              </a:defRPr>
            </a:pPr>
            <a:r>
              <a:rPr sz="82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C7541E-4042-4829-B3C9-35351E0C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3123B7-1688-4AA0-B557-052579E4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FD64EC-FF56-4555-8F53-8DEDA03B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70F26"/>
                </a:solidFill>
              </a:defRPr>
            </a:pPr>
            <a:r>
              <a:rPr sz="67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4D8457-8C26-49D8-B582-8B854C8D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AGENDA DETALHADA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7C7468-70D6-4918-A534-57FDE28F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70F26"/>
                </a:solidFill>
              </a:defRPr>
            </a:pPr>
            <a:r>
              <a:rPr sz="2400" b="0">
                <a:solidFill>
                  <a:srgbClr val="070F26"/>
                </a:solidFill>
              </a:rPr>
              <a:t>Cinco perguntas que guiam o módulo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8E2737-43A0-4D69-A400-C136B9DE2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Não há conceito abstrato hoje — formalizamos o que vocês já fizeram no Módulo 4.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96E731-00D3-4D6B-B912-0541ADA9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AD945-8782-4DE9-B57D-E35982E4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93822F-4FAE-40A6-8F0F-78B17480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1. Vocabulário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001A99-DF4A-45B3-A5DF-24FD5EF51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ETL vs ELT (rápido — vocês já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fizeram isso). Extração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incremental vs full load.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16251C-D6AC-490F-B77B-63A9F875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28FDDE-483E-482E-ADD4-924BD480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F55CF7-3DF7-4E3E-8D1E-7104461D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2. Idempotência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1E6606-A628-4443-B111-44D74AB0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O que é e por que salva vidas.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Rodar 3 vezes = mesmo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resultado.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1CCC9A-36A6-4666-A18E-FA7D64B2F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80DC7F-AF7B-4DF0-BDEC-249A4D230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F6B35C-9500-40B0-89FE-A191046C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3. Logging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063578-13F6-431C-AE4B-E77BC456E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O que ajuda vs o que atrapalha.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Pipeline que falha em silêncio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é pior que pipeline que quebra.</a:t>
            </a:r>
          </a:p>
        </p:txBody>
      </p:sp>
    </p:spTree>
    <p:extLst>
      <p:ext uri="{BB962C8B-B14F-4D97-AF65-F5344CB8AC3E}">
        <p14:creationId xmlns:p14="http://schemas.microsoft.com/office/powerpoint/2010/main" val="16382582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0F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0B81C8-14F3-4165-99A7-B90DC20B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F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7072beb72b42f6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E0F33C-5223-4335-96E3-0523156BF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B605A5-98C2-412E-AE82-334396CA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DFA399-A2E4-4EAB-A675-1741AA17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81E131-2D6E-4AFE-B419-06DF2056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8aeadcc7594dd9"/>
          <a:stretch xmlns:a="http://schemas.openxmlformats.org/drawingml/2006/main"/>
        </p:blipFill>
        <p:spPr>
          <a:xfrm xmlns:a="http://schemas.openxmlformats.org/drawingml/2006/main">
            <a:off x="0" y="1746250"/>
            <a:ext cx="2667000" cy="3556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20F55E-3A92-4C8B-9D19-B2414909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D6813C-7555-4802-B2E0-432956CF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Vocês já fizeram ETL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BCD55B-0324-4C65-9A93-EBC6E5943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Vamos nomear as decisões que vocês tomaram — e as que ainda não sabiam que precisavam tomar.</a:t>
            </a:r>
          </a:p>
        </p:txBody>
      </p:sp>
    </p:spTree>
    <p:extLst>
      <p:ext uri="{BB962C8B-B14F-4D97-AF65-F5344CB8AC3E}">
        <p14:creationId xmlns:p14="http://schemas.microsoft.com/office/powerpoint/2010/main" val="7932344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E50080-DDDB-4E7C-BF36-9E009F0C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3006f9195040bc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D85B15-25F8-405A-ADBC-FC874800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70F26"/>
                </a:solidFill>
              </a:defRPr>
            </a:pPr>
            <a:r>
              <a:rPr sz="82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686967-EADC-4DD7-A77A-D88946D3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B4C573-F12B-4463-8237-D7951F23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9866FF-8A32-4683-BC30-3D6EE556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70F26"/>
                </a:solidFill>
              </a:defRPr>
            </a:pPr>
            <a:r>
              <a:rPr sz="67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0FBDD3-B541-42C3-B5FE-6901CB8D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TRÊS PERGUNTAS PARA REFLEXÃO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0ADF69-A0A3-4852-916E-38A6A268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70F26"/>
                </a:solidFill>
              </a:defRPr>
            </a:pPr>
            <a:r>
              <a:rPr sz="2400" b="0">
                <a:solidFill>
                  <a:srgbClr val="070F26"/>
                </a:solidFill>
              </a:rPr>
              <a:t>Provocações antes do exercício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DA923C-328E-49CA-A578-EA7E6E8D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Deixe o grupo responder. Conecte com as seções do conteúdo após cada uma.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285567-196C-4EBE-8335-5FAE06BE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356DB7-E097-4930-89E8-09486A9B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5A43FB-D439-4F3C-8254-BF32AF4C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Extração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E854E8-E797-42CD-B7A5-A3EB5520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 rodar amanhã, pega dados novos ou reprocessa tudo? Como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sabe o que já processou?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9E0AF5-D4DE-436E-B7C1-9613C6A8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07240F-AF2B-4FB4-9E22-53EC422F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8220F5-0B80-43B6-9DB9-A2C85DF19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Carga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F19F81-1A70-41BF-8201-CFDEFA59D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 rodar duas vezes seguidas, o arquivo terá o dobro de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linhas ou as mesmas linhas?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51E56D-B290-43B3-9082-E667F2AF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9807A7-C841-4695-9FFB-15D49CD3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B82355-22B7-432D-B937-74DA6C23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Erros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E63F8D-CDF4-49FC-931A-62C78E6F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 o banco estiver fora, sabe o que aconteceu? Como você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descobriria?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F3A7CA-B2FE-455E-A2D7-BE99F10F6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BCCB0D-3FC4-45DA-BE65-A5D8FC4E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7734C0-653F-4A80-912C-7EDE4727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ELT na nuvem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410BB1-02AE-466D-B59E-1447F739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Tudo aqui é ETL puro (Python+SQLite). Os princípios se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aplicam direto a BigQuery/Snowflake.</a:t>
            </a:r>
          </a:p>
        </p:txBody>
      </p:sp>
    </p:spTree>
    <p:extLst>
      <p:ext uri="{BB962C8B-B14F-4D97-AF65-F5344CB8AC3E}">
        <p14:creationId xmlns:p14="http://schemas.microsoft.com/office/powerpoint/2010/main" val="60358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0F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1369CA-3CBC-4DBB-9030-9B493491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F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ab08f9aca41ca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FD92A3-6788-435D-8C7A-D254DF69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98F163-7777-4261-8B3B-C99E39B76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B857D4-AA79-4D5C-AB4F-4EB577579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9BFE16-4D38-49BB-937D-F53B5B7E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d535adc6d841bd"/>
          <a:stretch xmlns:a="http://schemas.openxmlformats.org/drawingml/2006/main"/>
        </p:blipFill>
        <p:spPr>
          <a:xfrm xmlns:a="http://schemas.openxmlformats.org/drawingml/2006/main">
            <a:off x="0" y="1746250"/>
            <a:ext cx="2667000" cy="3556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AFA77A-572F-470F-ADC3-2F30E5F1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090909-915B-4B1F-81FC-2CB2E9AC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Construir o Ex 5.4 ao Vivo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5471DC-6AE2-4825-88B4-7EFAAC43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Pipeline básico → adicionar logging → simular falha. Em grupos de 3-4 pessoas.</a:t>
            </a:r>
          </a:p>
        </p:txBody>
      </p:sp>
    </p:spTree>
    <p:extLst>
      <p:ext uri="{BB962C8B-B14F-4D97-AF65-F5344CB8AC3E}">
        <p14:creationId xmlns:p14="http://schemas.microsoft.com/office/powerpoint/2010/main" val="13246673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F6DF0E-1A61-47BC-8D66-71B371B9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0a8306887b49a2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94A4C5-4854-4440-84DC-9A7F787BD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70F26"/>
                </a:solidFill>
              </a:defRPr>
            </a:pPr>
            <a:r>
              <a:rPr sz="82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29CFE4-8943-42AF-BB7B-C889F106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FB690B-FABE-4DE5-A820-3C53B40F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45FF43-BD0F-4CFA-A7A6-57B35EB3F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70F26"/>
                </a:solidFill>
              </a:defRPr>
            </a:pPr>
            <a:r>
              <a:rPr sz="67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6CC8D5-5A59-4C0C-BF4D-4AC5014D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ESTRUTURA DO EXERCÍCIO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9759D-9081-4CCA-B4E6-EEA47B15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70F26"/>
                </a:solidFill>
              </a:defRPr>
            </a:pPr>
            <a:r>
              <a:rPr sz="2400" b="0">
                <a:solidFill>
                  <a:srgbClr val="070F26"/>
                </a:solidFill>
              </a:rPr>
              <a:t>Três partes progressivas em grupos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090BFA-AAA3-413A-AFEC-02F048460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Cada parte tem ponto de parada para discussão coletiva antes da próxima.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287FF5-CAEC-490A-9316-B1AE4BFD2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3274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1061E3-35B5-41D3-A2D3-27B67CBD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327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FB5237-4737-4A31-95F7-1A218973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2D221F-1687-4324-81D9-8FC3FA5D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14750"/>
            <a:ext cx="2946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0F26"/>
                </a:solidFill>
              </a:defRPr>
            </a:pPr>
            <a:r>
              <a:rPr sz="1050" b="1">
                <a:solidFill>
                  <a:srgbClr val="070F26"/>
                </a:solidFill>
              </a:rPr>
              <a:t>3A — Básico (20 min)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F74F04-BDF0-4C78-98EB-DEE70B2A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95750"/>
            <a:ext cx="294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Ex 5.3 sem logging. Foco na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estrutura ETL e cálculo de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valor_unitario.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CA0FC7-B871-433D-B327-317FCB9C9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7550" y="2857500"/>
            <a:ext cx="33274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8C3185-0AC3-4F05-BA31-729CD2312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7550" y="2857500"/>
            <a:ext cx="3327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B071AF-0F01-44D0-990A-DE667089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05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435E35-BFE4-4D18-9F22-21BC1F61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050" y="3714750"/>
            <a:ext cx="2946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0F26"/>
                </a:solidFill>
              </a:defRPr>
            </a:pPr>
            <a:r>
              <a:rPr sz="1050" b="1">
                <a:solidFill>
                  <a:srgbClr val="070F26"/>
                </a:solidFill>
              </a:rPr>
              <a:t>3B — Logging (20 min)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D36E89-98C0-4620-BB8D-047A2AB9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050" y="4095750"/>
            <a:ext cx="294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Cada etapa loga início, fim,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volume. Saída no terminal +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arquivo.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DBCB8A-09F8-4AA6-BC79-7085E6BE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7350" y="2857500"/>
            <a:ext cx="33274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EEBC1D-E356-4DA7-A1F7-3137557C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7350" y="2857500"/>
            <a:ext cx="3327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C09C0B-FC1D-4A13-BC3E-83555431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785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84B521-6824-4C56-B956-1BCBE9DC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7850" y="3714750"/>
            <a:ext cx="2946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0F26"/>
                </a:solidFill>
              </a:defRPr>
            </a:pPr>
            <a:r>
              <a:rPr sz="1050" b="1">
                <a:solidFill>
                  <a:srgbClr val="070F26"/>
                </a:solidFill>
              </a:rPr>
              <a:t>3C — Falha (30 min)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B44AB6-583F-45A8-8407-2D374D1E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7850" y="4095750"/>
            <a:ext cx="294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Alterar CAMINHO_DB para path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inválido. Comparar com e sem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try/except.</a:t>
            </a:r>
          </a:p>
        </p:txBody>
      </p:sp>
    </p:spTree>
    <p:extLst>
      <p:ext uri="{BB962C8B-B14F-4D97-AF65-F5344CB8AC3E}">
        <p14:creationId xmlns:p14="http://schemas.microsoft.com/office/powerpoint/2010/main" val="14841129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9B0702-60A6-431D-A365-1F499143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a681d905164913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ABEC77-1649-463D-AAE8-F1361506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70F26"/>
                </a:solidFill>
              </a:defRPr>
            </a:pPr>
            <a:r>
              <a:rPr sz="82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FDC25A-F769-4B10-A213-01E775BF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BF826D-A5D6-4694-911B-82F1DB5DB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75BE51-5C57-4EC7-96CC-65B41F8C6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70F26"/>
                </a:solidFill>
              </a:defRPr>
            </a:pPr>
            <a:r>
              <a:rPr sz="67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19F364-B202-4A2B-BD9C-5D103151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ANTI-PADRÃO PERIGOSO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E44242-D763-4A35-B531-C962C0A8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70F26"/>
                </a:solidFill>
              </a:defRPr>
            </a:pPr>
            <a:r>
              <a:rPr sz="2400" b="0">
                <a:solidFill>
                  <a:srgbClr val="070F26"/>
                </a:solidFill>
              </a:rPr>
              <a:t>Falha silenciosa é pior que falha com erro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7D7B8B-A75F-404F-A12A-668D9792E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Discuta este código antes de seguir. Onde você já viu algo parecido em produção?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7286F9-3110-4523-A0D3-BD33436B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635652-FEB6-4BAD-946C-C4A691CE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7B24E-17D4-4183-AC3C-BAE612320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❌ ANTI-PADRÃO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05C1B3-2869-4E12-9709-980C01FA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# NUNCA faça isso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try: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df = extrair(caminho_db)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except: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pass  # silencia o erro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# ninguém sabe que falhou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# arquivo de saida pode estar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# vazio ou desatualizado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# alguém só descobre quando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# o cliente reclama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189CA1-A04B-40B5-A606-E43A7C78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2C3C11-BD10-4B6E-9665-AF3F392C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735B32-0F08-4F34-A5B1-9622920B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✅ PADRÃO CORRETO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157D9B-384E-45A0-8FA7-AC0186F9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try: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df = extrair(caminho_db)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except FileNotFoundError as e: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logger.error(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    f"Banco inacessível: {e}"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)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raise  # propaga o erro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# alerta toca, time recebe,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# investigação começa imediatamente</a:t>
            </a:r>
          </a:p>
        </p:txBody>
      </p:sp>
    </p:spTree>
    <p:extLst>
      <p:ext uri="{BB962C8B-B14F-4D97-AF65-F5344CB8AC3E}">
        <p14:creationId xmlns:p14="http://schemas.microsoft.com/office/powerpoint/2010/main" val="20583180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E6FA2E-43B7-43C8-9C66-B860CB76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603ec3817a44b1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FF8500-E138-4ABD-B19D-3FFB77F2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70F26"/>
                </a:solidFill>
              </a:defRPr>
            </a:pPr>
            <a:r>
              <a:rPr sz="82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038878-D445-42EF-AE3E-3184D80A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7D0FE6-061C-4BCA-B72F-67F591E8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EBBEA8-933B-4399-8314-B131EC0F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70F26"/>
                </a:solidFill>
              </a:defRPr>
            </a:pPr>
            <a:r>
              <a:rPr sz="67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D4A5A3-A7EA-4924-B5A8-D36E220C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EXERCÍCIO FINAL DO BLOCO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5C10D1-CD78-430E-934C-14B9675B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70F26"/>
                </a:solidFill>
              </a:defRPr>
            </a:pPr>
            <a:r>
              <a:rPr sz="2400" b="0">
                <a:solidFill>
                  <a:srgbClr val="070F26"/>
                </a:solidFill>
              </a:rPr>
              <a:t>Alerta de qualidade — Ex 5.4 final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BDE82E-0AF3-4CAA-B4B7-DEC28593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Mostrar como simular: alterar a query para retornar apenas metade dos dados.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EF2FE9-1B95-4443-AFF4-4F578835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6976C9-B298-41F8-AC96-D55F96F8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36271E-F3E7-4E5B-8701-E23D95427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O alerta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8B8F2A-A43E-43CF-A004-6DFD9802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 &gt; 5% das linhas forem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descartadas na validação,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logger.warning. Algo está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errado na fonte.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85E4F2-4FAD-4C47-9BDB-586854792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84FB47-C371-4E22-8557-E461BA99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F737AB-82A7-4F1B-917B-A15A8689D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Como testar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5467AF-066C-477F-ACE9-53809B0A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Alterar temporariamente a query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 extração para retornar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metade dos dados.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04B334-D35A-4357-8ECC-019B9253B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DF8E14-E463-4967-AA59-6A2862A9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2A1DFF-CECD-4D0C-8FF3-9852AA99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Por que importa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AF2330-B26D-4B82-AA36-69E183D4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Detecta degradação silenciosa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da qualidade da fonte antes que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vire incidente.</a:t>
            </a:r>
          </a:p>
        </p:txBody>
      </p:sp>
    </p:spTree>
    <p:extLst>
      <p:ext uri="{BB962C8B-B14F-4D97-AF65-F5344CB8AC3E}">
        <p14:creationId xmlns:p14="http://schemas.microsoft.com/office/powerpoint/2010/main" val="942446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0F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6537E4-DE15-4D3E-8615-015A65AC8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F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3235f382b346bb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54EB8D-F429-47C2-9A57-783800FA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74D60A-2CAF-4C8B-8399-0D4B5009B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273623-C2FE-4B0B-A119-2D1E5D0A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24335-EA68-4284-8EEA-5AE9AC84A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91830ef6354328"/>
          <a:stretch xmlns:a="http://schemas.openxmlformats.org/drawingml/2006/main"/>
        </p:blipFill>
        <p:spPr>
          <a:xfrm xmlns:a="http://schemas.openxmlformats.org/drawingml/2006/main">
            <a:off x="0" y="1746250"/>
            <a:ext cx="2667000" cy="3556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1DE10D-DECF-4FCD-8B37-5C35460A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3E9ECD-39D6-4FBE-A34A-CC73CCCC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Prove a Idempotência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43A449-6BC9-49CD-9568-AB3FB9FFC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Critério de aceite de produção: provar que rodar 3 vezes produz o mesmo resultado.</a:t>
            </a:r>
          </a:p>
        </p:txBody>
      </p:sp>
    </p:spTree>
    <p:extLst>
      <p:ext uri="{BB962C8B-B14F-4D97-AF65-F5344CB8AC3E}">
        <p14:creationId xmlns:p14="http://schemas.microsoft.com/office/powerpoint/2010/main" val="9740796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7D9C06-193B-4A99-9B9A-068B7E48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3277e24deb4bf3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D82379-26A0-4524-A381-F7F6FC17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70F26"/>
                </a:solidFill>
              </a:defRPr>
            </a:pPr>
            <a:r>
              <a:rPr sz="82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09B0D0-ECB6-48F5-9308-319DCD22F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FBC5D6-1F5C-423A-8AD7-EDE90080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E4EE97-A85F-4145-9F51-7C9ACE03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70F26"/>
                </a:solidFill>
              </a:defRPr>
            </a:pPr>
            <a:r>
              <a:rPr sz="67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AABA0A-5F18-4441-BED5-086270C1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DEMONSTRAÇÃO AO VIVO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97DC85-4FC7-4DBA-9925-D69BF442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70F26"/>
                </a:solidFill>
              </a:defRPr>
            </a:pPr>
            <a:r>
              <a:rPr sz="2400" b="0">
                <a:solidFill>
                  <a:srgbClr val="070F26"/>
                </a:solidFill>
              </a:rPr>
              <a:t>Execute 3 vezes seguidas — verifique invariância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350904-22A0-4DD4-AA9B-E2C1C07D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Mostre o número de linhas no resumo e o tamanho do arquivo após cada execução.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18A927-24F4-40C9-A4F3-B9CC5A8FC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64DEFE-6D78-46C2-9EA0-C2ED13F3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BBD78D-673F-4A60-B3E4-87F6E9EA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COMANDOS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221AA-E425-4436-882A-89B65FF8E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$ python exercicios/etl_idempotente.py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$ python exercicios/etl_idempotente.py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$ python exercicios/etl_idempotente.py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# Verificar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import pandas as pd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df = pd.read_parquet(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'saida/vendas_processadas.parquet'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print(f'Linhas: {len(df)}')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# Deve ser sempre o mesmo número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9460A1-1043-4F47-89D0-FCB4D835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D546EA-29F8-4CBA-B266-54A86E16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D02BBB-55BE-491F-88FC-AEF7B242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DEBATE FINAL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3460B7-6986-44DE-BA08-62C18676B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1. Se o destino fosse SQLite,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como garantir idempotência?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→ upsert com INSERT OR REPLACE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2. Para converter em ELT,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o que mudaria?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→ Extração mais simples,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transformação em SQL/dbt.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3. Que mais loggar?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→ Usuário, versão do código,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hash do arquivo, tempo por etapa.</a:t>
            </a:r>
          </a:p>
        </p:txBody>
      </p:sp>
    </p:spTree>
    <p:extLst>
      <p:ext uri="{BB962C8B-B14F-4D97-AF65-F5344CB8AC3E}">
        <p14:creationId xmlns:p14="http://schemas.microsoft.com/office/powerpoint/2010/main" val="7228093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666025-64E4-4EA2-ABF0-AC4FB7B6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4752cb01aa4f99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B07E8E-909E-4DE4-B962-E91B0431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70F26"/>
                </a:solidFill>
              </a:defRPr>
            </a:pPr>
            <a:r>
              <a:rPr sz="82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7AC357-88F1-4AF2-AD41-309FCCA5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79BB99-2CFA-4CBD-A03E-9DCB0BA5C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3470F5-840B-4F39-95A8-A3979921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70F26"/>
                </a:solidFill>
              </a:defRPr>
            </a:pPr>
            <a:r>
              <a:rPr sz="67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30838B-DA3A-4CC9-AD88-FE894ACF3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OBJETIVOS DO MÓDULO 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EBF2DB-5DD6-4E08-B0D3-0410C496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70F26"/>
                </a:solidFill>
              </a:defRPr>
            </a:pPr>
            <a:r>
              <a:rPr sz="2400" b="0">
                <a:solidFill>
                  <a:srgbClr val="070F26"/>
                </a:solidFill>
              </a:rPr>
              <a:t>O que cobrimos hoje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D3AEA-7041-4B03-A266-46E75BEFD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Os princípios de pipeline de produção — independente de ferramenta ou cloud.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C84976-BB1F-4FF9-A392-4406A7AEF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4C3AD8-6DDA-4319-92DB-0176CE31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BB038A-3874-4BF0-AE2B-798587D4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ETL vs ELT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1EAD0C-5277-4AEB-8E29-8B91AC0C1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Decisão de onde transformar. Princípios iguais —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implementação diferente.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73FE3D-77D1-4BDE-A0D8-DF5AEC9A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07053D-2EF2-4270-887A-7C1B3CCC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1A1DF5-1B8A-4E9F-82BB-80441891A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Extração incremental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9E3430-3973-4243-B7E3-F18F2F84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Coluna de controle, ponto de checkpoint, reprocessamento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seguro.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AAE407-9FB3-4E62-8126-D19D0D97B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0B34AA-B61B-498D-B719-9CA7FC42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348AFE-27D1-481D-B3A6-04FD2E8C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Idempotência + Carga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A69D15-C4D0-4604-AF2F-B1B85949C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Append vs replace vs upsert. Provar com 3 execuções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consecutivas.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5AE43C-E7C8-4DB1-94D0-9E4EC640D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51DF06-736C-428C-B09A-AAB572074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918A8D-9C0B-4EC1-B3A3-DFF27AA9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Logging + Tratamento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C5DE34-6561-427F-B1C8-E1C5286E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O que loggar para investigar às 3h. raise &gt; pass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silencioso.</a:t>
            </a:r>
          </a:p>
        </p:txBody>
      </p:sp>
    </p:spTree>
    <p:extLst>
      <p:ext uri="{BB962C8B-B14F-4D97-AF65-F5344CB8AC3E}">
        <p14:creationId xmlns:p14="http://schemas.microsoft.com/office/powerpoint/2010/main" val="173460324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D29304-8980-4661-BE41-6BD090E5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a7e4532cb6492a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04F471-411E-462C-B7B6-D52ABA27F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70F26"/>
                </a:solidFill>
              </a:defRPr>
            </a:pPr>
            <a:r>
              <a:rPr sz="82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6C1F2E-6D98-4571-AC4E-E303B559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BE7E21-50D8-4F0F-8953-A8945EA6B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776B34-D302-4A1B-9171-C84AD99B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70F26"/>
                </a:solidFill>
              </a:defRPr>
            </a:pPr>
            <a:r>
              <a:rPr sz="67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C58304-42C1-4D7E-A7F3-AA0D00188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PRÓXIMO MÓDULO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44990C-4894-4281-ABC5-11A5EBC7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70F26"/>
                </a:solidFill>
              </a:defRPr>
            </a:pPr>
            <a:r>
              <a:rPr sz="2400" b="0">
                <a:solidFill>
                  <a:srgbClr val="070F26"/>
                </a:solidFill>
              </a:rPr>
              <a:t>Módulo 6 — Engenharia de Pipelines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F5EB38-49F1-4332-8103-043FE47A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Hoje o pipeline roda manualmente. No Módulo 6 ele roda sozinho.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F1DC42-8389-4D7E-A68E-E204ACD8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C18383-A057-43F3-B4D0-D48017651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0FB513-DDA4-4DA9-9F13-A8263247D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Orquestração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08D113-C612-4872-8FD6-96C76E2FE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Agendamento, dependências,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retries. Airflow como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referência de aprendizado.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559F68-DBA5-48E2-B007-2EB363BB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F33A6C-E571-4BE2-AC71-46BD89968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2F4CD2-E52C-476F-B1C7-4CEF3336F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DAGs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11CAB6-A55E-4422-9999-ECDA45CF4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Modelar dependências entre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tarefas. Paralelo vs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sequencial. Fan-out/fan-in.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520537-F12D-4A5E-A8A2-15FA307F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4C4F64-A55A-455A-AD6A-8DA44313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22DDFE-528D-47AE-BE90-FA986947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Git para pipelines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F257CD-9F35-4C3E-8231-AA5396D5D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Branch, commit, PR. O mesmo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rigor de uma API aplicado ao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seu DAG.</a:t>
            </a:r>
          </a:p>
        </p:txBody>
      </p:sp>
    </p:spTree>
    <p:extLst>
      <p:ext uri="{BB962C8B-B14F-4D97-AF65-F5344CB8AC3E}">
        <p14:creationId xmlns:p14="http://schemas.microsoft.com/office/powerpoint/2010/main" val="98974410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0F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CD1A71-F844-41D6-8E5D-BAC2B6DB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F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1a369958ac4f94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7EB7D3-E1F3-4C49-BD70-12815DEEC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B7484F-9C26-423D-BFF5-637548FD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DAAC22-4676-46C0-9D28-812434D3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15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94557064064a4a"/>
          <a:stretch xmlns:a="http://schemas.openxmlformats.org/drawingml/2006/main"/>
        </p:blipFill>
        <p:spPr>
          <a:xfrm xmlns:a="http://schemas.openxmlformats.org/drawingml/2006/main">
            <a:off x="7683178" y="3638550"/>
            <a:ext cx="4502794" cy="32194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4770DD-DBDC-4001-A1B7-126B7E78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0"/>
            <a:ext cx="12192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43F671-09D1-4183-80F1-F8A4B0FC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2425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4ADBE"/>
                </a:solidFill>
              </a:defRPr>
            </a:pPr>
            <a:r>
              <a:rPr sz="1200" b="0">
                <a:solidFill>
                  <a:srgbClr val="A4ADBE"/>
                </a:solidFill>
              </a:rPr>
              <a:t>Trilha de Engenharia de Dados  •  Módulo 5: Lógica de ETL/ELT</a:t>
            </a:r>
          </a:p>
        </p:txBody>
      </p:sp>
    </p:spTree>
    <p:extLst>
      <p:ext uri="{BB962C8B-B14F-4D97-AF65-F5344CB8AC3E}">
        <p14:creationId xmlns:p14="http://schemas.microsoft.com/office/powerpoint/2010/main" val="13495127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2026-05-12T16:43:19.4420000Z</dcterms:created>
  <dcterms:modified xsi:type="dcterms:W3CDTF">2026-05-12T16:43:19.4420000Z</dcterms:modified>
</coreProperties>
</file>