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7d5d17d6f74759" /><Relationship Type="http://schemas.openxmlformats.org/officeDocument/2006/relationships/extended-properties" Target="/docProps/app.xml" Id="Ra3592ec8d36f4e8c" /><Relationship Type="http://schemas.openxmlformats.org/officeDocument/2006/relationships/officeDocument" Target="/ppt/presentation.xml" Id="Rb0c7e354018a4c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bbcb785a28426f"/>
  </p:sldMasterIdLst>
  <p:notesMasterIdLst>
    <p:notesMasterId xmlns:r="http://schemas.openxmlformats.org/officeDocument/2006/relationships" r:id="R7b9769350ffc4746"/>
  </p:notesMasterIdLst>
  <p:sldIdLst>
    <p:sldId xmlns:r="http://schemas.openxmlformats.org/officeDocument/2006/relationships" id="256" r:id="Rc01fd234541b4df5"/>
    <p:sldId xmlns:r="http://schemas.openxmlformats.org/officeDocument/2006/relationships" id="257" r:id="R54edcb1b6fc5445f"/>
    <p:sldId xmlns:r="http://schemas.openxmlformats.org/officeDocument/2006/relationships" id="258" r:id="Rbab5e53b7a644170"/>
    <p:sldId xmlns:r="http://schemas.openxmlformats.org/officeDocument/2006/relationships" id="259" r:id="Racae16b7a2224536"/>
    <p:sldId xmlns:r="http://schemas.openxmlformats.org/officeDocument/2006/relationships" id="260" r:id="R685498eb01944bca"/>
    <p:sldId xmlns:r="http://schemas.openxmlformats.org/officeDocument/2006/relationships" id="261" r:id="R1a349eabb31f4df7"/>
    <p:sldId xmlns:r="http://schemas.openxmlformats.org/officeDocument/2006/relationships" id="262" r:id="R90eb01e358d84166"/>
    <p:sldId xmlns:r="http://schemas.openxmlformats.org/officeDocument/2006/relationships" id="263" r:id="Rc82d89b384c24901"/>
    <p:sldId xmlns:r="http://schemas.openxmlformats.org/officeDocument/2006/relationships" id="264" r:id="Rd8afad7064dc4305"/>
    <p:sldId xmlns:r="http://schemas.openxmlformats.org/officeDocument/2006/relationships" id="265" r:id="Re3f0ad53205d4430"/>
    <p:sldId xmlns:r="http://schemas.openxmlformats.org/officeDocument/2006/relationships" id="266" r:id="Ra66dfa0bfd62405a"/>
    <p:sldId xmlns:r="http://schemas.openxmlformats.org/officeDocument/2006/relationships" id="267" r:id="R0006f749d4b2410f"/>
    <p:sldId xmlns:r="http://schemas.openxmlformats.org/officeDocument/2006/relationships" id="268" r:id="R618464bd590243e1"/>
    <p:sldId xmlns:r="http://schemas.openxmlformats.org/officeDocument/2006/relationships" id="269" r:id="Ra6fd9df5eb9a4c70"/>
    <p:sldId xmlns:r="http://schemas.openxmlformats.org/officeDocument/2006/relationships" id="270" r:id="R9616385c9d4e4a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bcb785a28426f" /><Relationship Type="http://schemas.openxmlformats.org/officeDocument/2006/relationships/theme" Target="/ppt/theme/theme1.xml" Id="R259a4373d5b84ec8" /><Relationship Type="http://schemas.openxmlformats.org/officeDocument/2006/relationships/notesMaster" Target="/ppt/notesMasters/notesMaster1.xml" Id="R7b9769350ffc4746" /><Relationship Type="http://schemas.openxmlformats.org/officeDocument/2006/relationships/presProps" Target="/ppt/presProps.xml" Id="Rb1fba87e2a4e4519" /><Relationship Type="http://schemas.openxmlformats.org/officeDocument/2006/relationships/viewProps" Target="/ppt/viewProps.xml" Id="R83fb51a4b8004f05" /><Relationship Type="http://schemas.openxmlformats.org/officeDocument/2006/relationships/tableStyles" Target="/ppt/tableStyles.xml" Id="R6d8b089af6804f22" /><Relationship Type="http://schemas.openxmlformats.org/officeDocument/2006/relationships/slide" Target="/ppt/slides/slide1.xml" Id="Rc01fd234541b4df5" /><Relationship Type="http://schemas.openxmlformats.org/officeDocument/2006/relationships/slide" Target="/ppt/slides/slide2.xml" Id="R54edcb1b6fc5445f" /><Relationship Type="http://schemas.openxmlformats.org/officeDocument/2006/relationships/slide" Target="/ppt/slides/slide3.xml" Id="Rbab5e53b7a644170" /><Relationship Type="http://schemas.openxmlformats.org/officeDocument/2006/relationships/slide" Target="/ppt/slides/slide4.xml" Id="Racae16b7a2224536" /><Relationship Type="http://schemas.openxmlformats.org/officeDocument/2006/relationships/slide" Target="/ppt/slides/slide5.xml" Id="R685498eb01944bca" /><Relationship Type="http://schemas.openxmlformats.org/officeDocument/2006/relationships/slide" Target="/ppt/slides/slide6.xml" Id="R1a349eabb31f4df7" /><Relationship Type="http://schemas.openxmlformats.org/officeDocument/2006/relationships/slide" Target="/ppt/slides/slide7.xml" Id="R90eb01e358d84166" /><Relationship Type="http://schemas.openxmlformats.org/officeDocument/2006/relationships/slide" Target="/ppt/slides/slide8.xml" Id="Rc82d89b384c24901" /><Relationship Type="http://schemas.openxmlformats.org/officeDocument/2006/relationships/slide" Target="/ppt/slides/slide9.xml" Id="Rd8afad7064dc4305" /><Relationship Type="http://schemas.openxmlformats.org/officeDocument/2006/relationships/slide" Target="/ppt/slides/slide10.xml" Id="Re3f0ad53205d4430" /><Relationship Type="http://schemas.openxmlformats.org/officeDocument/2006/relationships/slide" Target="/ppt/slides/slide11.xml" Id="Ra66dfa0bfd62405a" /><Relationship Type="http://schemas.openxmlformats.org/officeDocument/2006/relationships/slide" Target="/ppt/slides/slide12.xml" Id="R0006f749d4b2410f" /><Relationship Type="http://schemas.openxmlformats.org/officeDocument/2006/relationships/slide" Target="/ppt/slides/slide13.xml" Id="R618464bd590243e1" /><Relationship Type="http://schemas.openxmlformats.org/officeDocument/2006/relationships/slide" Target="/ppt/slides/slide14.xml" Id="Ra6fd9df5eb9a4c70" /><Relationship Type="http://schemas.openxmlformats.org/officeDocument/2006/relationships/slide" Target="/ppt/slides/slide15.xml" Id="R9616385c9d4e4a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b07b2f072d441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9c899afbd4460e" /><Relationship Type="http://schemas.openxmlformats.org/officeDocument/2006/relationships/notesMaster" Target="/ppt/notesMasters/notesMaster1.xml" Id="R1eb5a864fba54a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3b8b181cd24d6c" /><Relationship Type="http://schemas.openxmlformats.org/officeDocument/2006/relationships/notesMaster" Target="/ppt/notesMasters/notesMaster1.xml" Id="R8884faf8f3bf4a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907c9971454d4a" /><Relationship Type="http://schemas.openxmlformats.org/officeDocument/2006/relationships/notesMaster" Target="/ppt/notesMasters/notesMaster1.xml" Id="R81a50d14885848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7cb21f37cd449a" /><Relationship Type="http://schemas.openxmlformats.org/officeDocument/2006/relationships/notesMaster" Target="/ppt/notesMasters/notesMaster1.xml" Id="Rb3c2459961a14f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570e7b1edb4ff4" /><Relationship Type="http://schemas.openxmlformats.org/officeDocument/2006/relationships/notesMaster" Target="/ppt/notesMasters/notesMaster1.xml" Id="R06a686bb7c8148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89549a361b4fbb" /><Relationship Type="http://schemas.openxmlformats.org/officeDocument/2006/relationships/notesMaster" Target="/ppt/notesMasters/notesMaster1.xml" Id="Rca9f0a823cb24f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c451ad387a4bf0" /><Relationship Type="http://schemas.openxmlformats.org/officeDocument/2006/relationships/notesMaster" Target="/ppt/notesMasters/notesMaster1.xml" Id="R00d0858b918442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9ad8c7858142c1" /><Relationship Type="http://schemas.openxmlformats.org/officeDocument/2006/relationships/notesMaster" Target="/ppt/notesMasters/notesMaster1.xml" Id="R37e5f0cf963a4e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a9339785ff449f" /><Relationship Type="http://schemas.openxmlformats.org/officeDocument/2006/relationships/notesMaster" Target="/ppt/notesMasters/notesMaster1.xml" Id="Rd9116974183a43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8ba6f801d14670" /><Relationship Type="http://schemas.openxmlformats.org/officeDocument/2006/relationships/notesMaster" Target="/ppt/notesMasters/notesMaster1.xml" Id="Rf78477acd9364c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79aa16cd3c4681" /><Relationship Type="http://schemas.openxmlformats.org/officeDocument/2006/relationships/notesMaster" Target="/ppt/notesMasters/notesMaster1.xml" Id="Rf617ea7a22df47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1a7a4d1adc43f9" /><Relationship Type="http://schemas.openxmlformats.org/officeDocument/2006/relationships/notesMaster" Target="/ppt/notesMasters/notesMaster1.xml" Id="R3955b3dbed2b40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365cb9aa594486" /><Relationship Type="http://schemas.openxmlformats.org/officeDocument/2006/relationships/notesMaster" Target="/ppt/notesMasters/notesMaster1.xml" Id="R531ce12cfd984a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30441f0931844ff" /><Relationship Type="http://schemas.openxmlformats.org/officeDocument/2006/relationships/notesMaster" Target="/ppt/notesMasters/notesMaster1.xml" Id="R22b0dd42fa674dc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74a78dd2fd44be8" /><Relationship Type="http://schemas.openxmlformats.org/officeDocument/2006/relationships/notesMaster" Target="/ppt/notesMasters/notesMaster1.xml" Id="R83dd953dd6424b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0a90aa69f440b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f49617568e544d4" /><Relationship Type="http://schemas.openxmlformats.org/officeDocument/2006/relationships/slideLayout" Target="/ppt/slideLayouts/slideLayout2.xml" Id="R1d786098bba24e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786098bba24e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be1a4627e84c67" /><Relationship Type="http://schemas.openxmlformats.org/officeDocument/2006/relationships/image" Target="/ppt/media/image.png" Id="Rd44a21deeb32448c" /><Relationship Type="http://schemas.openxmlformats.org/officeDocument/2006/relationships/image" Target="/ppt/media/image2.png" Id="R4a363c9796fb41d2" /><Relationship Type="http://schemas.openxmlformats.org/officeDocument/2006/relationships/notesSlide" Target="/ppt/notesSlides/notesSlide1.xml" Id="R07451705c7744e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195cd1cb854960" /><Relationship Type="http://schemas.openxmlformats.org/officeDocument/2006/relationships/image" Target="/ppt/media/image3.png" Id="R71df320468184536" /><Relationship Type="http://schemas.openxmlformats.org/officeDocument/2006/relationships/notesSlide" Target="/ppt/notesSlides/notesSlide2.xml" Id="R6d1aef57066045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a108c2e9744de9" /><Relationship Type="http://schemas.openxmlformats.org/officeDocument/2006/relationships/image" Target="/ppt/media/image4.png" Id="R3a78ea8a67424fad" /><Relationship Type="http://schemas.openxmlformats.org/officeDocument/2006/relationships/image" Target="/ppt/media/image5.png" Id="R41f484ad239a4d29" /><Relationship Type="http://schemas.openxmlformats.org/officeDocument/2006/relationships/notesSlide" Target="/ppt/notesSlides/notesSlide3.xml" Id="Re6564e542f1e4a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86b88a69c347a5" /><Relationship Type="http://schemas.openxmlformats.org/officeDocument/2006/relationships/image" Target="/ppt/media/image6.png" Id="R2f061bbd1a664968" /><Relationship Type="http://schemas.openxmlformats.org/officeDocument/2006/relationships/notesSlide" Target="/ppt/notesSlides/notesSlide4.xml" Id="Rcdab8e5df27942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e65f3a35e64aa0" /><Relationship Type="http://schemas.openxmlformats.org/officeDocument/2006/relationships/image" Target="/ppt/media/image7.png" Id="R2b547708035c4601" /><Relationship Type="http://schemas.openxmlformats.org/officeDocument/2006/relationships/image" Target="/ppt/media/image8.png" Id="Ra29ed06531564265" /><Relationship Type="http://schemas.openxmlformats.org/officeDocument/2006/relationships/notesSlide" Target="/ppt/notesSlides/notesSlide5.xml" Id="Rbaa74465dda74e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d60be3c2a24099" /><Relationship Type="http://schemas.openxmlformats.org/officeDocument/2006/relationships/image" Target="/ppt/media/image9.png" Id="R55915a57262448b3" /><Relationship Type="http://schemas.openxmlformats.org/officeDocument/2006/relationships/notesSlide" Target="/ppt/notesSlides/notesSlide6.xml" Id="R1055b6f397c34b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be60f9be0f4d3b" /><Relationship Type="http://schemas.openxmlformats.org/officeDocument/2006/relationships/image" Target="/ppt/media/image10.png" Id="R24be675a3878410c" /><Relationship Type="http://schemas.openxmlformats.org/officeDocument/2006/relationships/image" Target="/ppt/media/image11.png" Id="Rfd88a3e601fb4b95" /><Relationship Type="http://schemas.openxmlformats.org/officeDocument/2006/relationships/notesSlide" Target="/ppt/notesSlides/notesSlide7.xml" Id="R856ec93d6b3a4b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520afffb884ece" /><Relationship Type="http://schemas.openxmlformats.org/officeDocument/2006/relationships/image" Target="/ppt/media/image12.png" Id="R6569915a84da4d1d" /><Relationship Type="http://schemas.openxmlformats.org/officeDocument/2006/relationships/notesSlide" Target="/ppt/notesSlides/notesSlide8.xml" Id="R541c7499d5344e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3b74fdc5cc4125" /><Relationship Type="http://schemas.openxmlformats.org/officeDocument/2006/relationships/image" Target="/ppt/media/image13.png" Id="Rddbe57145e084686" /><Relationship Type="http://schemas.openxmlformats.org/officeDocument/2006/relationships/notesSlide" Target="/ppt/notesSlides/notesSlide9.xml" Id="R41f072ceb0c343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2353eb8a4149fe" /><Relationship Type="http://schemas.openxmlformats.org/officeDocument/2006/relationships/image" Target="/ppt/media/image14.png" Id="Rd368d9ce473540b2" /><Relationship Type="http://schemas.openxmlformats.org/officeDocument/2006/relationships/notesSlide" Target="/ppt/notesSlides/notesSlide10.xml" Id="R2c9fefdb41254d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574c351926453b" /><Relationship Type="http://schemas.openxmlformats.org/officeDocument/2006/relationships/image" Target="/ppt/media/image15.png" Id="Rcb8e5dc274d14d98" /><Relationship Type="http://schemas.openxmlformats.org/officeDocument/2006/relationships/image" Target="/ppt/media/image16.png" Id="R6aac110a5c024651" /><Relationship Type="http://schemas.openxmlformats.org/officeDocument/2006/relationships/notesSlide" Target="/ppt/notesSlides/notesSlide11.xml" Id="R5b029933c5544b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87373dc2db4536" /><Relationship Type="http://schemas.openxmlformats.org/officeDocument/2006/relationships/image" Target="/ppt/media/image17.png" Id="Rf15fdd940a9e41f7" /><Relationship Type="http://schemas.openxmlformats.org/officeDocument/2006/relationships/notesSlide" Target="/ppt/notesSlides/notesSlide12.xml" Id="R06f4f1cf219842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387e8adbc74a69" /><Relationship Type="http://schemas.openxmlformats.org/officeDocument/2006/relationships/image" Target="/ppt/media/image18.png" Id="Rbce5b74cf22d4147" /><Relationship Type="http://schemas.openxmlformats.org/officeDocument/2006/relationships/notesSlide" Target="/ppt/notesSlides/notesSlide13.xml" Id="R59f4727d711643e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00712c6c594d73" /><Relationship Type="http://schemas.openxmlformats.org/officeDocument/2006/relationships/image" Target="/ppt/media/image19.png" Id="R68e2a7bc93474ced" /><Relationship Type="http://schemas.openxmlformats.org/officeDocument/2006/relationships/notesSlide" Target="/ppt/notesSlides/notesSlide14.xml" Id="R1992a6a55f9a407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8ee6fc45024931" /><Relationship Type="http://schemas.openxmlformats.org/officeDocument/2006/relationships/image" Target="/ppt/media/image20.png" Id="Rcd577e3a91e043f6" /><Relationship Type="http://schemas.openxmlformats.org/officeDocument/2006/relationships/image" Target="/ppt/media/image21.png" Id="R2018677637784661" /><Relationship Type="http://schemas.openxmlformats.org/officeDocument/2006/relationships/notesSlide" Target="/ppt/notesSlides/notesSlide15.xml" Id="Ra6a71533bc9e4d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B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01DF5D-DF44-4CD0-938F-0ACE2FFB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a21deeb32448c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7D5F3-9EAE-4430-A3F2-BF78387A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A4B17-0936-4B06-A581-3BA77511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943A5-A528-4ECB-A241-DEA65CD3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63c9796fb41d2"/>
          <a:stretch xmlns:a="http://schemas.openxmlformats.org/drawingml/2006/main"/>
        </p:blipFill>
        <p:spPr>
          <a:xfrm xmlns:a="http://schemas.openxmlformats.org/drawingml/2006/main">
            <a:off x="7683178" y="3638550"/>
            <a:ext cx="4502794" cy="3219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D3F79-E81E-4546-911D-C9140692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TRILHA DE ENGENHARIA DE DADOS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464D4-563B-4F3C-8CAA-177EA78D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857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0">
                <a:solidFill>
                  <a:srgbClr val="FFFFFF"/>
                </a:solidFill>
              </a:defRPr>
            </a:pPr>
            <a:r>
              <a:rPr sz="4500" b="0">
                <a:solidFill>
                  <a:srgbClr val="FFFFFF"/>
                </a:solidFill>
              </a:rPr>
              <a:t>Lógica de ETL/ELT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2FC6B-A0A8-42D2-B054-DCFDC834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666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Módulo 5  •  Sessão ao Vivo  •  2 horas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D3DED-34C8-47A9-9AB2-6BEA9C46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3999AD-069E-499F-8B4E-318B2F20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571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Pipeline que falha silenciosamente é o pior pipeline.</a:t>
            </a:r>
          </a:p>
        </p:txBody>
      </p:sp>
    </p:spTree>
    <p:extLst>
      <p:ext uri="{BB962C8B-B14F-4D97-AF65-F5344CB8AC3E}">
        <p14:creationId xmlns:p14="http://schemas.microsoft.com/office/powerpoint/2010/main" val="798153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40B5A4-E74E-49BE-9295-0F7C9594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f320468184536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44D39-D38A-4A09-A876-255BCBD2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E1B3E"/>
                </a:solidFill>
              </a:defRPr>
            </a:pPr>
            <a:r>
              <a:rPr sz="82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D1F0E-8B3F-4101-B3B2-18B0B253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C2B4B-D41B-4ED9-9CCB-D0DF031D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6F760-4C27-4AC8-AEA8-53B70878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E1B3E"/>
                </a:solidFill>
              </a:defRPr>
            </a:pPr>
            <a:r>
              <a:rPr sz="67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D2861-4526-45B2-8FD8-BC00E687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AGENDA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B39E9-F162-40F8-8A3F-D8C9ED40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E1B3E"/>
                </a:solidFill>
              </a:defRPr>
            </a:pPr>
            <a:r>
              <a:rPr sz="2400" b="0">
                <a:solidFill>
                  <a:srgbClr val="0E1B3E"/>
                </a:solidFill>
              </a:rPr>
              <a:t>Da teoria ao pipeline robusto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D457E-0D1B-459D-AC60-4F8DD5DE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Construir ao vivo o Ex 5.4 simulando uma falha para sentir a diferença que logging faz.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0E628-2788-4FAD-8927-B88AD98A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7AA96F-9846-4116-8C23-C4E1830A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69221-6D21-498D-B283-992D50AB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Abertura — 10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7782B-A22E-4F50-87F0-5C4A0A24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Pergunta-chave: pipeline que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quebra às 3h. O que precisa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estar no código?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D790B-2E05-445D-830A-283626A4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2E0D9B-77A7-407B-933B-EA3EBFCB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31C16D-5CA6-44B9-A0B6-5ABD317A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Vocabulário — 15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88870A-45F1-45BA-9E9F-9E78E952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ETL vs ELT, extração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incremental, idempotência,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logging útil.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4F2A35-7A95-4399-8FFD-159D0682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5D2259-CACB-424F-9773-8DD3B41A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0D16CE-0E0D-4761-BBDD-3B053C1A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Exercício — 70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448615-6787-44D9-A8F7-B78E837C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Construir Ex 5.4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progressivamente. Simular falha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 ver a diferença.</a:t>
            </a:r>
          </a:p>
        </p:txBody>
      </p:sp>
    </p:spTree>
    <p:extLst>
      <p:ext uri="{BB962C8B-B14F-4D97-AF65-F5344CB8AC3E}">
        <p14:creationId xmlns:p14="http://schemas.microsoft.com/office/powerpoint/2010/main" val="10245207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B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E32C2C-C053-41BA-BFCA-CFC352D4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8ea8a67424fad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4A356-3019-4F75-9939-8B8FC2A4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A437A-FC9D-4568-A4F1-192234BA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ECCB6-E251-45F7-A77D-FE31AA15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B8877-6FDE-45E8-BF24-865B8811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484ad239a4d29"/>
          <a:stretch xmlns:a="http://schemas.openxmlformats.org/drawingml/2006/main"/>
        </p:blipFill>
        <p:spPr>
          <a:xfrm xmlns:a="http://schemas.openxmlformats.org/drawingml/2006/main">
            <a:off x="476250" y="1257300"/>
            <a:ext cx="2667000" cy="4533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A153B-F530-4426-A735-A47D747C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98DA3-08F8-4D24-8D49-EAA29491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Abertura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77030-F123-48FB-B76C-245B891C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Pipeline quebra às 3h. Alguém precisa reprocessar tudo. O que precisa estar pronto?</a:t>
            </a:r>
          </a:p>
        </p:txBody>
      </p:sp>
    </p:spTree>
    <p:extLst>
      <p:ext uri="{BB962C8B-B14F-4D97-AF65-F5344CB8AC3E}">
        <p14:creationId xmlns:p14="http://schemas.microsoft.com/office/powerpoint/2010/main" val="13173954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5FDFE6-1E6B-40C5-B801-9942A622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61bbd1a664968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16487-F2E0-405B-9346-7A31695C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E1B3E"/>
                </a:solidFill>
              </a:defRPr>
            </a:pPr>
            <a:r>
              <a:rPr sz="82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E053B-91E8-462F-9EC9-2208B899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1B338-BD8F-4A8C-B74E-924F26AE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9930B-3C5F-405F-A193-59694785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E1B3E"/>
                </a:solidFill>
              </a:defRPr>
            </a:pPr>
            <a:r>
              <a:rPr sz="67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EBF28-E7EF-4346-94E1-9C592ADD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AGENDA DETALHADA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0E2E4-9830-4342-987C-9BF160B1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E1B3E"/>
                </a:solidFill>
              </a:defRPr>
            </a:pPr>
            <a:r>
              <a:rPr sz="2400" b="0">
                <a:solidFill>
                  <a:srgbClr val="0E1B3E"/>
                </a:solidFill>
              </a:rPr>
              <a:t>Cinco perguntas que guiam o módulo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B45BA-A227-4704-AACF-3279F4FD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Não há conceito abstrato hoje — formalizamos o que vocês já fizeram no Módulo 4.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03C15-84D0-4A47-80FD-26AEF347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10F27-221A-488C-BA0D-C3AE47BA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84ECE-B223-4C01-A539-6CC71B6F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1. Vocabulário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FF3982-4573-4245-A635-98E0EF7F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ETL vs ELT (rápido — vocês já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fizeram isso). Extração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incremental vs full load.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63F746-C161-4731-8734-AD63D7F8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81197-DB79-4180-8A8D-424BFDD5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2725A-DE00-4045-AC81-8EAC9EB7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2. Idempotência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02DB2B-7F26-4A5C-AF80-D19E7BBC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O que é e por que salva vidas.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Rodar 3 vezes = mesmo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resultado.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2C4E42-632B-4F70-AC42-87D11065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85F28D-4337-42C3-9AD4-1026BFC3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3DA587-874E-4E3F-8E53-87F86792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3. Logging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DD6FEB-C810-4E6A-A5A4-A739AA1C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O que ajuda vs o que atrapalha.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Pipeline que falha em silêncio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é pior que pipeline que quebra.</a:t>
            </a:r>
          </a:p>
        </p:txBody>
      </p:sp>
    </p:spTree>
    <p:extLst>
      <p:ext uri="{BB962C8B-B14F-4D97-AF65-F5344CB8AC3E}">
        <p14:creationId xmlns:p14="http://schemas.microsoft.com/office/powerpoint/2010/main" val="21176238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B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BB4058-4034-4A30-831A-39A47D30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47708035c4601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887A7-CB87-4F89-88F1-4CED1851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7D9D8-8797-446F-91F2-59AFE6C3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88932-3236-458E-B1DF-30B5981A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111D0-A3F1-424B-A4A9-BAB4FD11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ed06531564265"/>
          <a:stretch xmlns:a="http://schemas.openxmlformats.org/drawingml/2006/main"/>
        </p:blipFill>
        <p:spPr>
          <a:xfrm xmlns:a="http://schemas.openxmlformats.org/drawingml/2006/main">
            <a:off x="476250" y="1257300"/>
            <a:ext cx="2667000" cy="4533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3F101-96CA-4FDF-9781-12FE693A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CE533-2578-4D8E-8631-D6DAC82F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Vocês já fizeram ETL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D9B43-B5B7-403B-BE53-009E02E7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Vamos nomear as decisões que vocês tomaram — e as que ainda não sabiam que precisavam tomar.</a:t>
            </a:r>
          </a:p>
        </p:txBody>
      </p:sp>
    </p:spTree>
    <p:extLst>
      <p:ext uri="{BB962C8B-B14F-4D97-AF65-F5344CB8AC3E}">
        <p14:creationId xmlns:p14="http://schemas.microsoft.com/office/powerpoint/2010/main" val="6629716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18F0DF-32F8-47DC-9105-FD268493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15a57262448b3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2B9ED-032A-408F-A686-515D310B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E1B3E"/>
                </a:solidFill>
              </a:defRPr>
            </a:pPr>
            <a:r>
              <a:rPr sz="82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F329E-0780-4BCF-A67C-B430D663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CCF80-C7A6-4990-AA4E-716FD140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FA03F-B79A-41A4-9713-0B2B4609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E1B3E"/>
                </a:solidFill>
              </a:defRPr>
            </a:pPr>
            <a:r>
              <a:rPr sz="67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97818-BC5D-4893-959F-1B2334E5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TRÊS PERGUNTAS PARA REFLEXÃO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D784D-82C3-4F9C-ADE7-B410383B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E1B3E"/>
                </a:solidFill>
              </a:defRPr>
            </a:pPr>
            <a:r>
              <a:rPr sz="2400" b="0">
                <a:solidFill>
                  <a:srgbClr val="0E1B3E"/>
                </a:solidFill>
              </a:rPr>
              <a:t>Provocações antes do exercício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CF110-DCDD-4787-A47C-A632724E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Deixe o grupo responder. Conecte com as seções do conteúdo após cada uma.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D549E-C7AF-4793-80C2-658712DB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D9CB3-90BD-4244-B39D-CB74D1C7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3F9B97-DD97-4EC8-A233-B6A4AE59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Extração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960F2-ABB8-41FD-89C3-FE93DE0F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 rodar amanhã, pega dados novos ou reprocessa tudo? Como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sabe o que já processou?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4BCFA6-B457-4AC8-8ED6-7810D10C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25994-61DB-4CE5-811A-DACE21D0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531A82-65CE-48AE-93A3-AE02DC7F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Carga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8D5757-ED36-4C11-BB2D-DE555F80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 rodar duas vezes seguidas, o arquivo terá o dobro de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linhas ou as mesmas linhas?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CCA0F2-6EA2-424B-9982-1BDF2115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C95F3B-009B-439C-B6C7-49F02836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5109B4-198C-4265-B7C1-07D0113B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Erros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29B839-A04E-48D5-A6C2-4E48A089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 o banco estiver fora, sabe o que aconteceu? Como você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descobriria?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E490C7-E1D1-498A-AED1-69847FCA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4D658E-C5B6-4B87-BAED-1ED08198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39ADAE-30FC-4005-8874-D8C99083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ELT na nuvem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AB2937-903B-408E-B396-722FCE33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Tudo aqui é ETL puro (Python+SQLite). Os princípios se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aplicam direto a BigQuery/Snowflake.</a:t>
            </a:r>
          </a:p>
        </p:txBody>
      </p:sp>
    </p:spTree>
    <p:extLst>
      <p:ext uri="{BB962C8B-B14F-4D97-AF65-F5344CB8AC3E}">
        <p14:creationId xmlns:p14="http://schemas.microsoft.com/office/powerpoint/2010/main" val="16394986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B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879008-80CB-4461-B7E1-AD5410FB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e675a3878410c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EE2BA-EB84-4CA7-BDB2-638CB078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733C1-C42D-481E-BB62-B9DC67FD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BF5EB-B6C4-4656-8E32-683624B5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009FC-ED37-4475-B743-B1BA2FD8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8a3e601fb4b95"/>
          <a:stretch xmlns:a="http://schemas.openxmlformats.org/drawingml/2006/main"/>
        </p:blipFill>
        <p:spPr>
          <a:xfrm xmlns:a="http://schemas.openxmlformats.org/drawingml/2006/main">
            <a:off x="476250" y="1257300"/>
            <a:ext cx="2667000" cy="4533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BB3F9-C823-4BBC-84F3-3892D0BA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ED6AA-92F9-4199-A431-3A01D5B7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Construir o Ex 5.4 ao Vivo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6FBCA-E91B-4652-90D2-77FD5A21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Pipeline básico → adicionar logging → simular falha. Em grupos de 3-4 pessoas.</a:t>
            </a:r>
          </a:p>
        </p:txBody>
      </p:sp>
    </p:spTree>
    <p:extLst>
      <p:ext uri="{BB962C8B-B14F-4D97-AF65-F5344CB8AC3E}">
        <p14:creationId xmlns:p14="http://schemas.microsoft.com/office/powerpoint/2010/main" val="14729070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3974BB-6841-4675-BA27-ACC30490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9915a84da4d1d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518E0-15F1-4E0F-B8C0-A231AD37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E1B3E"/>
                </a:solidFill>
              </a:defRPr>
            </a:pPr>
            <a:r>
              <a:rPr sz="82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6B248-3CE7-4D3B-AF96-907FB9DB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5701E-75A5-4085-8A1C-C104595D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6B547-9804-47BC-95C3-EDC34654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E1B3E"/>
                </a:solidFill>
              </a:defRPr>
            </a:pPr>
            <a:r>
              <a:rPr sz="67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F8F76-E718-4152-B31D-96E859D9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ESTRUTURA DO EXERCÍCIO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DC698-D46F-459F-81DF-C42B84E8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E1B3E"/>
                </a:solidFill>
              </a:defRPr>
            </a:pPr>
            <a:r>
              <a:rPr sz="2400" b="0">
                <a:solidFill>
                  <a:srgbClr val="0E1B3E"/>
                </a:solidFill>
              </a:rPr>
              <a:t>Três partes progressivas em grupos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F258F-B004-448F-96A2-B5562CEC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Cada parte tem ponto de parada para discussão coletiva antes da próxima.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E535A-BD1D-474B-A5E0-FE076518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327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32A85-F8BB-490B-B43E-76459896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327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B54D7-9D4B-43F7-BADF-213710C4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9899EE-9771-487D-BC00-723D5283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94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1B3E"/>
                </a:solidFill>
              </a:defRPr>
            </a:pPr>
            <a:r>
              <a:rPr sz="1050" b="1">
                <a:solidFill>
                  <a:srgbClr val="0E1B3E"/>
                </a:solidFill>
              </a:rPr>
              <a:t>3A — Básico (20 min)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DAD55-DCBC-4656-80E0-79976CC0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294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Ex 5.3 sem logging. Foco na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estrutura ETL e cálculo de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valor_unitario.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A2C25-5132-4334-874E-CB395A7B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857500"/>
            <a:ext cx="3327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60D032-BA69-41B3-9180-4D51DCAC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857500"/>
            <a:ext cx="3327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6D0A8-AF72-4510-888B-49DA0440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5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579327-40D6-4CEF-BDC2-FB92B72D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50" y="3714750"/>
            <a:ext cx="294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1B3E"/>
                </a:solidFill>
              </a:defRPr>
            </a:pPr>
            <a:r>
              <a:rPr sz="1050" b="1">
                <a:solidFill>
                  <a:srgbClr val="0E1B3E"/>
                </a:solidFill>
              </a:rPr>
              <a:t>3B — Logging (20 min)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E1E8D-0D49-4EA5-82FE-B7C43EF9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50" y="4095750"/>
            <a:ext cx="294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Cada etapa loga início, fim,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volume. Saída no terminal +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arquivo.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75946C-667E-4419-B676-B27B7BB8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857500"/>
            <a:ext cx="3327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F9F9BF-7814-45A2-842A-68AE7498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857500"/>
            <a:ext cx="3327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089BFF-D1C4-46E3-B53C-1C2CCDF3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CC087E-5C6F-40C7-B5A5-B30CF272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3714750"/>
            <a:ext cx="294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1B3E"/>
                </a:solidFill>
              </a:defRPr>
            </a:pPr>
            <a:r>
              <a:rPr sz="1050" b="1">
                <a:solidFill>
                  <a:srgbClr val="0E1B3E"/>
                </a:solidFill>
              </a:rPr>
              <a:t>3C — Falha (30 min)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18BC15-B92E-4B97-87AF-2249C9A4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4095750"/>
            <a:ext cx="294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Alterar CAMINHO_DB para path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inválido. Comparar com e sem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try/except.</a:t>
            </a:r>
          </a:p>
        </p:txBody>
      </p:sp>
    </p:spTree>
    <p:extLst>
      <p:ext uri="{BB962C8B-B14F-4D97-AF65-F5344CB8AC3E}">
        <p14:creationId xmlns:p14="http://schemas.microsoft.com/office/powerpoint/2010/main" val="18201192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E70986-4D47-48B5-A01A-C98371F6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e57145e084686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ED0D8-0F9B-4EF0-9155-EBBE0E5D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E1B3E"/>
                </a:solidFill>
              </a:defRPr>
            </a:pPr>
            <a:r>
              <a:rPr sz="82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E27F3-37FA-406B-B810-94D7D9E8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9EC68-24FA-4D7E-87E0-47F94839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5B0D3-C145-4B67-AB5C-EEA452D0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E1B3E"/>
                </a:solidFill>
              </a:defRPr>
            </a:pPr>
            <a:r>
              <a:rPr sz="67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D0EF2-09F0-4E2E-8899-0C362E5D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ANTI-PADRÃO PERIGOSO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93747-7A28-45EE-8234-38EB5617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E1B3E"/>
                </a:solidFill>
              </a:defRPr>
            </a:pPr>
            <a:r>
              <a:rPr sz="2400" b="0">
                <a:solidFill>
                  <a:srgbClr val="0E1B3E"/>
                </a:solidFill>
              </a:rPr>
              <a:t>Falha silenciosa é pior que falha com erro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4B121-77B4-4365-9D87-5D570643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Discuta este código antes de seguir. Onde você já viu algo parecido em produção?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8AAEA-5CFE-4552-B820-BBE20B1E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98E1B-F12A-41E1-B891-6367DCD7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FC3509-40C5-4EB4-A816-580C346C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❌ ANTI-PADRÃO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35AFE-7305-490D-90EC-AAC3DCBC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45148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# NUNCA faça isso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try: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df = extrair(caminho_db)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except: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pass  # silencia o erro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# ninguém sabe que falhou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# arquivo de saida pode estar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# vazio ou desatualizado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# alguém só descobre quando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# o cliente reclama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2974EC-9F71-4CF5-AF99-3460A1F1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8"/>
          </a:solidFill>
          <a:ln xmlns:a="http://schemas.openxmlformats.org/drawingml/2006/main" w="9525">
            <a:solidFill>
              <a:srgbClr val="2A36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BCE47-42D3-4051-BC33-D9D99635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63427-5708-4702-93F9-4782AB25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✅ PADRÃO CORRETO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61ACD4-91CE-4479-934C-33A06B9A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5148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try: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df = extrair(caminho_db)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except FileNotFoundError as e: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logger.error(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    f"Banco inacessível: {e}"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raise  # propaga o erro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# alerta toca, time recebe,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# investigação começa imediatamente</a:t>
            </a:r>
          </a:p>
        </p:txBody>
      </p:sp>
    </p:spTree>
    <p:extLst>
      <p:ext uri="{BB962C8B-B14F-4D97-AF65-F5344CB8AC3E}">
        <p14:creationId xmlns:p14="http://schemas.microsoft.com/office/powerpoint/2010/main" val="10441871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A7975F-F6EC-4FC4-9327-562A3C42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68d9ce473540b2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7EB4B-135E-4B29-910C-39B4E0CE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E1B3E"/>
                </a:solidFill>
              </a:defRPr>
            </a:pPr>
            <a:r>
              <a:rPr sz="82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1691A-0364-40A7-8BAC-B9CE06D1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9C0C0-578C-4989-A71E-2F378919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F8A80-E2D3-411B-A5DE-B85BEA3B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E1B3E"/>
                </a:solidFill>
              </a:defRPr>
            </a:pPr>
            <a:r>
              <a:rPr sz="67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C4AF9-60D7-4578-A9D5-1C805248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EXERCÍCIO FINAL DO BLOCO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5272D-5BDA-4453-871F-023EF437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E1B3E"/>
                </a:solidFill>
              </a:defRPr>
            </a:pPr>
            <a:r>
              <a:rPr sz="2400" b="0">
                <a:solidFill>
                  <a:srgbClr val="0E1B3E"/>
                </a:solidFill>
              </a:rPr>
              <a:t>Alerta de qualidade — Ex 5.4 final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8A9D8-BB13-4874-8E16-A0AC0007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Mostrar como simular: alterar a query para retornar apenas metade dos dados.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AB5D0-59ED-4476-A58A-91FE8C8F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89DDC-9C38-45A8-891A-67B488D4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EACC2-CF9E-4112-99E2-4E3E37C1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O alerta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B6AF5-8C95-4BA6-97C2-FC73552E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 &gt; 5% das linhas forem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descartadas na validação,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logger.warning. Algo está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errado na fonte.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6814D9-8122-4F40-BAA6-E036DB01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9CFB61-5818-4C52-B6A3-32278EA9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48227-9177-4ECC-AC3A-50D50D95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Como testar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9FD63-DAFF-4B1C-9698-315D2DF8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Alterar temporariamente a query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de extração para retornar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metade dos dados.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DBE03-0D8B-43D9-8B27-44BEB496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A9DB2-01B0-478F-B9F1-881A312C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DCE0B-E259-4A61-BDBC-BE7E8775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Por que importa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CF30E1-300A-49A4-8DB7-D82451D0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Detecta degradação silenciosa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da qualidade da fonte antes que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vire incidente.</a:t>
            </a:r>
          </a:p>
        </p:txBody>
      </p:sp>
    </p:spTree>
    <p:extLst>
      <p:ext uri="{BB962C8B-B14F-4D97-AF65-F5344CB8AC3E}">
        <p14:creationId xmlns:p14="http://schemas.microsoft.com/office/powerpoint/2010/main" val="15886318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B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139258-5BE1-433D-943E-4205A5B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e5dc274d14d98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81CC7-4020-49D3-96F4-51E3D42A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8C977-6C07-4096-BD54-CE6EB3F6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F80BF-92DE-4CF4-BD95-3FCC4FB0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34012-537E-4A6D-BF89-CAB07C4F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c110a5c024651"/>
          <a:stretch xmlns:a="http://schemas.openxmlformats.org/drawingml/2006/main"/>
        </p:blipFill>
        <p:spPr>
          <a:xfrm xmlns:a="http://schemas.openxmlformats.org/drawingml/2006/main">
            <a:off x="476250" y="1257300"/>
            <a:ext cx="2667000" cy="4533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D164A-0F36-42C5-8228-5176BF9E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01DA6-67A8-4C78-B24E-2B41932E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Prove a Idempotência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AEA96-F463-42D5-A2DF-4565D007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Critério de aceite de produção: provar que rodar 3 vezes produz o mesmo resultado.</a:t>
            </a:r>
          </a:p>
        </p:txBody>
      </p:sp>
    </p:spTree>
    <p:extLst>
      <p:ext uri="{BB962C8B-B14F-4D97-AF65-F5344CB8AC3E}">
        <p14:creationId xmlns:p14="http://schemas.microsoft.com/office/powerpoint/2010/main" val="12653876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A12037-8C41-4408-B01D-C2CBD981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fdd940a9e41f7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3F3B2-073D-4DC4-900A-6350902E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E1B3E"/>
                </a:solidFill>
              </a:defRPr>
            </a:pPr>
            <a:r>
              <a:rPr sz="82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DF868-3496-470D-9CE7-F5B502A7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95887-DC62-4144-978C-FD8DD8F4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A1F34-D8FD-42EB-B16B-09A3EE4E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E1B3E"/>
                </a:solidFill>
              </a:defRPr>
            </a:pPr>
            <a:r>
              <a:rPr sz="67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50578-CC7C-4C10-918E-04F4328B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DEMONSTRAÇÃO AO VIVO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85DEB-FF51-4A97-9A7B-1099300F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E1B3E"/>
                </a:solidFill>
              </a:defRPr>
            </a:pPr>
            <a:r>
              <a:rPr sz="2400" b="0">
                <a:solidFill>
                  <a:srgbClr val="0E1B3E"/>
                </a:solidFill>
              </a:rPr>
              <a:t>Execute 3 vezes seguidas — verifique invariância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E4950-BDEE-41AC-80AE-3E962AD1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Mostre o número de linhas no resumo e o tamanho do arquivo após cada execução.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0E76C-1C70-4735-8A0F-7BF77109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772D8-083D-414C-94AC-31529E5C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E922C-27F3-4782-930F-12D6B238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COMANDOS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4115C-02BF-483F-97F5-CE694999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45148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$ python exercicios/etl_idempotente.py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$ python exercicios/etl_idempotente.py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$ python exercicios/etl_idempotente.py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# Verificar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import pandas as pd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df = pd.read_parquet(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'saida/vendas_processadas.parquet'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print(f'Linhas: {len(df)}')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# Deve ser sempre o mesmo número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7CCE4-DC02-424B-A281-45907AD4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8"/>
          </a:solidFill>
          <a:ln xmlns:a="http://schemas.openxmlformats.org/drawingml/2006/main" w="9525">
            <a:solidFill>
              <a:srgbClr val="2A36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300A0F-5304-478D-A0E7-FF2B7240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F57A9-7CC3-49BD-9189-D568507D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DEBATE 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BE0C4-EF93-423F-A0E2-5F1CDDBB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5148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1. Se o destino fosse SQLite,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como garantir idempotência?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→ upsert com INSERT OR REPLACE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2. Para converter em ELT,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o que mudaria?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→ Extração mais simples,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transformação em SQL/dbt.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3. Que mais loggar?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→ Usuário, versão do código,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hash do arquivo, tempo por etapa.</a:t>
            </a:r>
          </a:p>
        </p:txBody>
      </p:sp>
    </p:spTree>
    <p:extLst>
      <p:ext uri="{BB962C8B-B14F-4D97-AF65-F5344CB8AC3E}">
        <p14:creationId xmlns:p14="http://schemas.microsoft.com/office/powerpoint/2010/main" val="14423653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1D8E9D-EF7B-49B7-AD32-54F8AFB8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5b74cf22d4147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4DBC2-FC3A-4BF7-B83B-FAD9C401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E1B3E"/>
                </a:solidFill>
              </a:defRPr>
            </a:pPr>
            <a:r>
              <a:rPr sz="82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FF8D7-76D4-47C7-923E-2209BD82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78069-4426-4FF7-9179-4439D960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E8A8A-90EE-4627-BCAB-79BC8FFF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E1B3E"/>
                </a:solidFill>
              </a:defRPr>
            </a:pPr>
            <a:r>
              <a:rPr sz="67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8CBDB-E0DC-4AD5-84EE-A5E85F8A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OBJETIVOS DO MÓDULO 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50176-AA53-4450-B230-A22D7C08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E1B3E"/>
                </a:solidFill>
              </a:defRPr>
            </a:pPr>
            <a:r>
              <a:rPr sz="2400" b="0">
                <a:solidFill>
                  <a:srgbClr val="0E1B3E"/>
                </a:solidFill>
              </a:rPr>
              <a:t>O que cobrimos hoje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B7817-B7B7-4748-A20C-31843698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Os princípios de pipeline de produção — independente de ferramenta ou cloud.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A4C1E-A6BA-4ABC-87C7-93101206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D74D6-386B-4FA7-A0BF-CEB1C538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73185-22BE-489D-9264-9FBE99DA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ETL vs ELT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A72E1-C9AE-4E13-B9C2-DF3A2D18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Decisão de onde transformar. Princípios iguais —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implementação diferente.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7C893-8334-4DD8-AAD2-5E3C8CF1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807CC-82EF-4179-8FA2-39317A27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CA50B-1CED-4A4A-90EC-320D1FDC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Extração incremental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2684BD-98B8-4526-BD6D-4E68B190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Coluna de controle, ponto de checkpoint, reprocessamento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seguro.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F9E989-D6EF-472F-A822-029F7D4B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EAE859-DBAD-4138-B301-94088E10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535A81-C18F-4C76-AB8C-56FA635D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Idempotência + Carga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F3B7D-9ACA-4769-AA58-4CE733FC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Append vs replace vs upsert. Provar com 3 execuções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consecutivas.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B48D8A-D757-43DD-B8A2-806AF1FA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02D2FE-B89D-4F83-94AA-E43B130E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E8DE07-CCBA-4BEC-BF69-88AF373D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Logging + Tratamento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65BCB2-4C2C-49A9-AAF9-9400A1C4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O que loggar para investigar às 3h. raise &gt; pass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silencioso.</a:t>
            </a:r>
          </a:p>
        </p:txBody>
      </p:sp>
    </p:spTree>
    <p:extLst>
      <p:ext uri="{BB962C8B-B14F-4D97-AF65-F5344CB8AC3E}">
        <p14:creationId xmlns:p14="http://schemas.microsoft.com/office/powerpoint/2010/main" val="5484463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7DAF1B-9E2C-4825-8FB2-1CD2CCAF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2a7bc93474ced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EBDEC-6572-4255-B315-A298CEFB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E1B3E"/>
                </a:solidFill>
              </a:defRPr>
            </a:pPr>
            <a:r>
              <a:rPr sz="82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EEA03-E388-4C6B-B4BD-73520AF4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D0408-CD96-4586-A1A7-749A7B1D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0794F-7E27-42D1-8182-F5C8DC30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E1B3E"/>
                </a:solidFill>
              </a:defRPr>
            </a:pPr>
            <a:r>
              <a:rPr sz="675" b="1">
                <a:solidFill>
                  <a:srgbClr val="0E1B3E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20DA1-6BC9-46D6-B6D7-35B8A527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PRÓXIMO MÓDULO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BD566-1762-4EBA-AA4F-673DC30D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E1B3E"/>
                </a:solidFill>
              </a:defRPr>
            </a:pPr>
            <a:r>
              <a:rPr sz="2400" b="0">
                <a:solidFill>
                  <a:srgbClr val="0E1B3E"/>
                </a:solidFill>
              </a:rPr>
              <a:t>Módulo 6 — Engenharia de Pipelines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55913-E2CE-4741-A163-37CEA387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Hoje o pipeline roda manualmente. No Módulo 6 ele roda sozinho.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5E97A-7DE1-44B6-B645-54B09A62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41C6A-21CE-421D-AA64-FD8A2891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76BED-8A90-45BE-AC5E-0746ADF0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Orquestração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28C04-C438-4A47-ABC1-1066ACA5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Agendamento, dependências,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retries. Airflow como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referência de aprendizado.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36556-6D0D-47AB-BE00-570502A6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5524D-FC87-4D82-86C3-9EECCFF1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58CBB6-CD49-4832-B2CE-7F8EF883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DAGs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5D4EDA-C9F3-4498-AB47-613F3A5A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Modelar dependências entre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tarefas. Paralelo vs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sequencial. Fan-out/fan-in.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8FD388-2794-4262-9B6C-F4E1F226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F212CB-F510-41CA-B360-6438ABE5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D6972B-01B0-4071-981C-0926EB4C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Git para pipelines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AC4CE2-E515-446D-97AB-20050627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Branch, commit, PR. O mesmo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rigor de uma API aplicado ao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seu DAG.</a:t>
            </a:r>
          </a:p>
        </p:txBody>
      </p:sp>
    </p:spTree>
    <p:extLst>
      <p:ext uri="{BB962C8B-B14F-4D97-AF65-F5344CB8AC3E}">
        <p14:creationId xmlns:p14="http://schemas.microsoft.com/office/powerpoint/2010/main" val="10446176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E1B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30D040-4160-4A21-94FC-BCE22D77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77e3a91e043f6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9FD01-C87E-4281-8373-D323CCA3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B0056-B740-46E2-A940-C980DD56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281BC-47D9-42E0-B5A7-50BBEDED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15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8677637784661"/>
          <a:stretch xmlns:a="http://schemas.openxmlformats.org/drawingml/2006/main"/>
        </p:blipFill>
        <p:spPr>
          <a:xfrm xmlns:a="http://schemas.openxmlformats.org/drawingml/2006/main">
            <a:off x="7683178" y="3638550"/>
            <a:ext cx="4502794" cy="3219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BFEDB-A9A5-4FA4-8826-2D78E3C4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80097-AA6E-47A0-A548-547180DD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24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4ADBE"/>
                </a:solidFill>
              </a:defRPr>
            </a:pPr>
            <a:r>
              <a:rPr sz="1200" b="0">
                <a:solidFill>
                  <a:srgbClr val="A4ADBE"/>
                </a:solidFill>
              </a:rPr>
              <a:t>Trilha de Engenharia de Dados  •  Módulo 5: Lógica de ETL/ELT</a:t>
            </a:r>
          </a:p>
        </p:txBody>
      </p:sp>
    </p:spTree>
    <p:extLst>
      <p:ext uri="{BB962C8B-B14F-4D97-AF65-F5344CB8AC3E}">
        <p14:creationId xmlns:p14="http://schemas.microsoft.com/office/powerpoint/2010/main" val="1514161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2026-05-11T15:39:46.4370000Z</dcterms:created>
  <dcterms:modified xsi:type="dcterms:W3CDTF">2026-05-11T15:39:46.4370000Z</dcterms:modified>
</coreProperties>
</file>