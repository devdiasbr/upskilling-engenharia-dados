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5d1ebcfbca4ce8" /><Relationship Type="http://schemas.openxmlformats.org/officeDocument/2006/relationships/extended-properties" Target="/docProps/app.xml" Id="Ree634c6214854ee2" /><Relationship Type="http://schemas.openxmlformats.org/officeDocument/2006/relationships/officeDocument" Target="/ppt/presentation.xml" Id="Rac627e0ca0d147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accaab55a3431f"/>
  </p:sldMasterIdLst>
  <p:notesMasterIdLst>
    <p:notesMasterId xmlns:r="http://schemas.openxmlformats.org/officeDocument/2006/relationships" r:id="R7b0b5e4979894ec2"/>
  </p:notesMasterIdLst>
  <p:sldIdLst>
    <p:sldId xmlns:r="http://schemas.openxmlformats.org/officeDocument/2006/relationships" id="256" r:id="Re1866105339b410f"/>
    <p:sldId xmlns:r="http://schemas.openxmlformats.org/officeDocument/2006/relationships" id="257" r:id="R8d627b90ed2e4f98"/>
    <p:sldId xmlns:r="http://schemas.openxmlformats.org/officeDocument/2006/relationships" id="258" r:id="Ra2750347fc5e448f"/>
    <p:sldId xmlns:r="http://schemas.openxmlformats.org/officeDocument/2006/relationships" id="259" r:id="R2f57e47aa81e424d"/>
    <p:sldId xmlns:r="http://schemas.openxmlformats.org/officeDocument/2006/relationships" id="260" r:id="R48c41ce254894f6a"/>
    <p:sldId xmlns:r="http://schemas.openxmlformats.org/officeDocument/2006/relationships" id="261" r:id="R2ed7c474e6e94f45"/>
    <p:sldId xmlns:r="http://schemas.openxmlformats.org/officeDocument/2006/relationships" id="262" r:id="R5472f24d40b5431e"/>
    <p:sldId xmlns:r="http://schemas.openxmlformats.org/officeDocument/2006/relationships" id="263" r:id="R38cf1754153c4ec4"/>
    <p:sldId xmlns:r="http://schemas.openxmlformats.org/officeDocument/2006/relationships" id="264" r:id="R552124190b324f06"/>
    <p:sldId xmlns:r="http://schemas.openxmlformats.org/officeDocument/2006/relationships" id="265" r:id="Rc9db147f68464b31"/>
    <p:sldId xmlns:r="http://schemas.openxmlformats.org/officeDocument/2006/relationships" id="266" r:id="R60feb62bc9b44af2"/>
    <p:sldId xmlns:r="http://schemas.openxmlformats.org/officeDocument/2006/relationships" id="267" r:id="R54fab09e248d47de"/>
    <p:sldId xmlns:r="http://schemas.openxmlformats.org/officeDocument/2006/relationships" id="268" r:id="R2ed0d4b3553d42a8"/>
    <p:sldId xmlns:r="http://schemas.openxmlformats.org/officeDocument/2006/relationships" id="269" r:id="R1c55e4b814d641c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accaab55a3431f" /><Relationship Type="http://schemas.openxmlformats.org/officeDocument/2006/relationships/theme" Target="/ppt/theme/theme1.xml" Id="Rd9c3c61f355d4fa8" /><Relationship Type="http://schemas.openxmlformats.org/officeDocument/2006/relationships/notesMaster" Target="/ppt/notesMasters/notesMaster1.xml" Id="R7b0b5e4979894ec2" /><Relationship Type="http://schemas.openxmlformats.org/officeDocument/2006/relationships/presProps" Target="/ppt/presProps.xml" Id="R8968e81d60814d5c" /><Relationship Type="http://schemas.openxmlformats.org/officeDocument/2006/relationships/viewProps" Target="/ppt/viewProps.xml" Id="R3c8be12543a3405c" /><Relationship Type="http://schemas.openxmlformats.org/officeDocument/2006/relationships/tableStyles" Target="/ppt/tableStyles.xml" Id="Re728cb1496d9414f" /><Relationship Type="http://schemas.openxmlformats.org/officeDocument/2006/relationships/slide" Target="/ppt/slides/slide1.xml" Id="Re1866105339b410f" /><Relationship Type="http://schemas.openxmlformats.org/officeDocument/2006/relationships/slide" Target="/ppt/slides/slide2.xml" Id="R8d627b90ed2e4f98" /><Relationship Type="http://schemas.openxmlformats.org/officeDocument/2006/relationships/slide" Target="/ppt/slides/slide3.xml" Id="Ra2750347fc5e448f" /><Relationship Type="http://schemas.openxmlformats.org/officeDocument/2006/relationships/slide" Target="/ppt/slides/slide4.xml" Id="R2f57e47aa81e424d" /><Relationship Type="http://schemas.openxmlformats.org/officeDocument/2006/relationships/slide" Target="/ppt/slides/slide5.xml" Id="R48c41ce254894f6a" /><Relationship Type="http://schemas.openxmlformats.org/officeDocument/2006/relationships/slide" Target="/ppt/slides/slide6.xml" Id="R2ed7c474e6e94f45" /><Relationship Type="http://schemas.openxmlformats.org/officeDocument/2006/relationships/slide" Target="/ppt/slides/slide7.xml" Id="R5472f24d40b5431e" /><Relationship Type="http://schemas.openxmlformats.org/officeDocument/2006/relationships/slide" Target="/ppt/slides/slide8.xml" Id="R38cf1754153c4ec4" /><Relationship Type="http://schemas.openxmlformats.org/officeDocument/2006/relationships/slide" Target="/ppt/slides/slide9.xml" Id="R552124190b324f06" /><Relationship Type="http://schemas.openxmlformats.org/officeDocument/2006/relationships/slide" Target="/ppt/slides/slide10.xml" Id="Rc9db147f68464b31" /><Relationship Type="http://schemas.openxmlformats.org/officeDocument/2006/relationships/slide" Target="/ppt/slides/slide11.xml" Id="R60feb62bc9b44af2" /><Relationship Type="http://schemas.openxmlformats.org/officeDocument/2006/relationships/slide" Target="/ppt/slides/slide12.xml" Id="R54fab09e248d47de" /><Relationship Type="http://schemas.openxmlformats.org/officeDocument/2006/relationships/slide" Target="/ppt/slides/slide13.xml" Id="R2ed0d4b3553d42a8" /><Relationship Type="http://schemas.openxmlformats.org/officeDocument/2006/relationships/slide" Target="/ppt/slides/slide14.xml" Id="R1c55e4b814d641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fb1c07e10764f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ce19799dbc4c41" /><Relationship Type="http://schemas.openxmlformats.org/officeDocument/2006/relationships/notesMaster" Target="/ppt/notesMasters/notesMaster1.xml" Id="R87f3ea1f8c9a44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f7a4e8591c42ae" /><Relationship Type="http://schemas.openxmlformats.org/officeDocument/2006/relationships/notesMaster" Target="/ppt/notesMasters/notesMaster1.xml" Id="R68a49c33426549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5e4284ec394ff3" /><Relationship Type="http://schemas.openxmlformats.org/officeDocument/2006/relationships/notesMaster" Target="/ppt/notesMasters/notesMaster1.xml" Id="R9616627a404c4a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72cd69540546dd" /><Relationship Type="http://schemas.openxmlformats.org/officeDocument/2006/relationships/notesMaster" Target="/ppt/notesMasters/notesMaster1.xml" Id="R6cee0c5ccd674d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39d6a1ba114795" /><Relationship Type="http://schemas.openxmlformats.org/officeDocument/2006/relationships/notesMaster" Target="/ppt/notesMasters/notesMaster1.xml" Id="Rc1f8874b5aaf4e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21c25a5f254df3" /><Relationship Type="http://schemas.openxmlformats.org/officeDocument/2006/relationships/notesMaster" Target="/ppt/notesMasters/notesMaster1.xml" Id="Rec9c5fb3353849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91f1f7642e4c79" /><Relationship Type="http://schemas.openxmlformats.org/officeDocument/2006/relationships/notesMaster" Target="/ppt/notesMasters/notesMaster1.xml" Id="R9f2370d13be345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0c167b86104578" /><Relationship Type="http://schemas.openxmlformats.org/officeDocument/2006/relationships/notesMaster" Target="/ppt/notesMasters/notesMaster1.xml" Id="R3b0e7f4e28304b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9376c60f47b4ee2" /><Relationship Type="http://schemas.openxmlformats.org/officeDocument/2006/relationships/notesMaster" Target="/ppt/notesMasters/notesMaster1.xml" Id="R19ff465129d34b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bba382a85f4cdd" /><Relationship Type="http://schemas.openxmlformats.org/officeDocument/2006/relationships/notesMaster" Target="/ppt/notesMasters/notesMaster1.xml" Id="R7964b66d6f344e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3589e48ec5648c3" /><Relationship Type="http://schemas.openxmlformats.org/officeDocument/2006/relationships/notesMaster" Target="/ppt/notesMasters/notesMaster1.xml" Id="R78a7e886072f47f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c12f4525ac401f" /><Relationship Type="http://schemas.openxmlformats.org/officeDocument/2006/relationships/notesMaster" Target="/ppt/notesMasters/notesMaster1.xml" Id="R8a2f9954f97445a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e9f995036f04a48" /><Relationship Type="http://schemas.openxmlformats.org/officeDocument/2006/relationships/notesMaster" Target="/ppt/notesMasters/notesMaster1.xml" Id="R3466fb004b12464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a984e706b9a4d14" /><Relationship Type="http://schemas.openxmlformats.org/officeDocument/2006/relationships/notesMaster" Target="/ppt/notesMasters/notesMaster1.xml" Id="R1afdca03af94411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2f4a9bc81c432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5efa74bc6864500" /><Relationship Type="http://schemas.openxmlformats.org/officeDocument/2006/relationships/slideLayout" Target="/ppt/slideLayouts/slideLayout2.xml" Id="Rd3b19fae8d0c4f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b19fae8d0c4f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a778f9c3ad4be5" /><Relationship Type="http://schemas.openxmlformats.org/officeDocument/2006/relationships/image" Target="/ppt/media/image.png" Id="Rfc9fcd6dfade4b62" /><Relationship Type="http://schemas.openxmlformats.org/officeDocument/2006/relationships/image" Target="/ppt/media/image2.png" Id="Rdb2eb5bf52fc4a78" /><Relationship Type="http://schemas.openxmlformats.org/officeDocument/2006/relationships/notesSlide" Target="/ppt/notesSlides/notesSlide1.xml" Id="R8137c79a7ef643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2f2d25f2914590" /><Relationship Type="http://schemas.openxmlformats.org/officeDocument/2006/relationships/image" Target="/ppt/media/image3.png" Id="R4ca2f642a1e0489f" /><Relationship Type="http://schemas.openxmlformats.org/officeDocument/2006/relationships/notesSlide" Target="/ppt/notesSlides/notesSlide2.xml" Id="R03c9531d8c4b4b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03f85eb3184255" /><Relationship Type="http://schemas.openxmlformats.org/officeDocument/2006/relationships/image" Target="/ppt/media/image4.png" Id="R42e3ce6d8b724141" /><Relationship Type="http://schemas.openxmlformats.org/officeDocument/2006/relationships/image" Target="/ppt/media/image5.png" Id="R96bfeb8baa424392" /><Relationship Type="http://schemas.openxmlformats.org/officeDocument/2006/relationships/notesSlide" Target="/ppt/notesSlides/notesSlide3.xml" Id="Rb5f11f811a8146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1418ad6c474c8d" /><Relationship Type="http://schemas.openxmlformats.org/officeDocument/2006/relationships/image" Target="/ppt/media/image6.png" Id="R97f8b434b9b04c8d" /><Relationship Type="http://schemas.openxmlformats.org/officeDocument/2006/relationships/notesSlide" Target="/ppt/notesSlides/notesSlide4.xml" Id="Rc2a9c21a880243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a37abe098840a7" /><Relationship Type="http://schemas.openxmlformats.org/officeDocument/2006/relationships/image" Target="/ppt/media/image7.png" Id="R8942e2e8131841fe" /><Relationship Type="http://schemas.openxmlformats.org/officeDocument/2006/relationships/image" Target="/ppt/media/image8.png" Id="Rccd44621fd754dd2" /><Relationship Type="http://schemas.openxmlformats.org/officeDocument/2006/relationships/notesSlide" Target="/ppt/notesSlides/notesSlide5.xml" Id="R5742c7c225524b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ff1efa0c154aa8" /><Relationship Type="http://schemas.openxmlformats.org/officeDocument/2006/relationships/image" Target="/ppt/media/image9.png" Id="Rb2f7606572804d52" /><Relationship Type="http://schemas.openxmlformats.org/officeDocument/2006/relationships/notesSlide" Target="/ppt/notesSlides/notesSlide6.xml" Id="Rc35f9187351b4c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769313a52f40c1" /><Relationship Type="http://schemas.openxmlformats.org/officeDocument/2006/relationships/image" Target="/ppt/media/image10.png" Id="R780ec8b32d5d4e09" /><Relationship Type="http://schemas.openxmlformats.org/officeDocument/2006/relationships/image" Target="/ppt/media/image11.png" Id="R3ab200886b734904" /><Relationship Type="http://schemas.openxmlformats.org/officeDocument/2006/relationships/notesSlide" Target="/ppt/notesSlides/notesSlide7.xml" Id="Rd1df76ef63d040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1910d4ed1e4b78" /><Relationship Type="http://schemas.openxmlformats.org/officeDocument/2006/relationships/image" Target="/ppt/media/image12.png" Id="Rbc220efedb9a4ac2" /><Relationship Type="http://schemas.openxmlformats.org/officeDocument/2006/relationships/notesSlide" Target="/ppt/notesSlides/notesSlide8.xml" Id="Rd11bd7b8122d4d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63ef0ef3d24dc8" /><Relationship Type="http://schemas.openxmlformats.org/officeDocument/2006/relationships/image" Target="/ppt/media/image13.png" Id="Rd8bc2a8365b1498d" /><Relationship Type="http://schemas.openxmlformats.org/officeDocument/2006/relationships/notesSlide" Target="/ppt/notesSlides/notesSlide9.xml" Id="R53d79c4eaef84fe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9a25daca104a5c" /><Relationship Type="http://schemas.openxmlformats.org/officeDocument/2006/relationships/image" Target="/ppt/media/image14.png" Id="R286ac35f06854adc" /><Relationship Type="http://schemas.openxmlformats.org/officeDocument/2006/relationships/notesSlide" Target="/ppt/notesSlides/notesSlide10.xml" Id="Rebf6309a88e146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76b5e2f76c4b1c" /><Relationship Type="http://schemas.openxmlformats.org/officeDocument/2006/relationships/image" Target="/ppt/media/image15.png" Id="R13dbdce810764806" /><Relationship Type="http://schemas.openxmlformats.org/officeDocument/2006/relationships/image" Target="/ppt/media/image16.png" Id="R4059f1f4a5b8472b" /><Relationship Type="http://schemas.openxmlformats.org/officeDocument/2006/relationships/notesSlide" Target="/ppt/notesSlides/notesSlide11.xml" Id="Rd6560fa9855849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cc8d8962de48e7" /><Relationship Type="http://schemas.openxmlformats.org/officeDocument/2006/relationships/image" Target="/ppt/media/image17.png" Id="Reab55e6fc0fe42f3" /><Relationship Type="http://schemas.openxmlformats.org/officeDocument/2006/relationships/notesSlide" Target="/ppt/notesSlides/notesSlide12.xml" Id="Ra17ea913a6ea41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02bd75bc5e4e6d" /><Relationship Type="http://schemas.openxmlformats.org/officeDocument/2006/relationships/image" Target="/ppt/media/image18.png" Id="Rd9c4988212cf4d14" /><Relationship Type="http://schemas.openxmlformats.org/officeDocument/2006/relationships/notesSlide" Target="/ppt/notesSlides/notesSlide13.xml" Id="Ra31e2984e8db4bd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9c87b25b66455c" /><Relationship Type="http://schemas.openxmlformats.org/officeDocument/2006/relationships/image" Target="/ppt/media/image19.png" Id="Rbc9e396fb06a4cff" /><Relationship Type="http://schemas.openxmlformats.org/officeDocument/2006/relationships/image" Target="/ppt/media/image20.png" Id="Rd0a76c8bd7f84d6c" /><Relationship Type="http://schemas.openxmlformats.org/officeDocument/2006/relationships/notesSlide" Target="/ppt/notesSlides/notesSlide14.xml" Id="R6d481dcba1d246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CD5FDE-1E7C-4E6A-B331-88B02802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fcd6dfade4b6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B7CC7-2209-4317-A944-041B6B12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7B25D-363C-443B-A954-C617AB05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F9975-4BCC-4ADC-880A-3704CBE3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eb5bf52fc4a78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F2C81-FE95-4B37-8CCA-6C42A084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TRILHA DE ENGENHARIA DE DADOS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3E1DE-52D3-4136-86E7-EBFC9FD8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FFFFFF"/>
                </a:solidFill>
              </a:defRPr>
            </a:pPr>
            <a:r>
              <a:rPr sz="4500" b="0">
                <a:solidFill>
                  <a:srgbClr val="FFFFFF"/>
                </a:solidFill>
              </a:rPr>
              <a:t>Python para Dados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D80D3-5116-4C0B-8238-FFF4C3B0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Módulo 4  •  Sessão ao Vivo  •  2 horas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4ADAB-07F1-4D18-8B8E-27892C29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8C8E3F-420F-4567-8887-FD3BDE55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52950"/>
            <a:ext cx="571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Pipeline simples é a base do pipeline em produção.</a:t>
            </a:r>
          </a:p>
        </p:txBody>
      </p:sp>
    </p:spTree>
    <p:extLst>
      <p:ext uri="{BB962C8B-B14F-4D97-AF65-F5344CB8AC3E}">
        <p14:creationId xmlns:p14="http://schemas.microsoft.com/office/powerpoint/2010/main" val="17145768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DE361B-F330-4E41-8032-2E3FDAC7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a2f642a1e0489f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639541-D4B8-4088-8430-4EDC511D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F44F8-9F62-420B-A6AE-F4001CB8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16E9F-B221-4F33-A338-BC97EEAB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C6A44B-3872-42E7-B385-705C794E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6061F3-3D36-49B8-BCA8-F2702D4F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125E5-41EE-444B-ADB1-CA240B11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vamos fazer hoje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58CA39-DBDE-4993-8B49-3A816952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Apresentação dos pipelines do Ex 4.3 e a ponte para o Módulo 5.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091BA7-0E33-4803-BF16-4A46F934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9EC93-F1E0-490A-A3B9-A71FF2DF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D7281-FC08-4002-B4C1-9FB47ADD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Abertura — 10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E7FDC-CEA3-406E-AFC2-29607234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Dúvidas do conteúdo: read_sql,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groupby + agg, reset_index.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95BA7F-DD34-4A3B-A649-41BDBAD8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06DA9A-CDAB-48DC-8810-2A8D84AD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3148DB-B860-40BE-A351-DED7A6F0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Conceitual — 15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6D83E-3F65-4428-B421-B6E8F826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Reconhecer que o Ex 4.3 já é um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ETL. Vocabulário formal.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AC0900-32FF-4170-926E-F93D3183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7000AA-DDD8-4DFC-AC64-A99F0624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050362-4832-41F4-B0DA-AC2E4866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Exercício — 75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6F2B76-6496-4DA6-9DAE-22895F86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Apresentação dos pipelines em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duplas. Discussão de estrutura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 robustez.</a:t>
            </a:r>
          </a:p>
        </p:txBody>
      </p:sp>
    </p:spTree>
    <p:extLst>
      <p:ext uri="{BB962C8B-B14F-4D97-AF65-F5344CB8AC3E}">
        <p14:creationId xmlns:p14="http://schemas.microsoft.com/office/powerpoint/2010/main" val="11060121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001CA1-10D1-4D68-94B0-C449C5F2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3ce6d8b724141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06F0E-9843-43F9-A362-C8056D9C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3FB58C-7235-487F-9A75-B4C5433F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707C3-6949-43A1-AC08-C3550268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C33723-5C47-4054-A4C8-07B5A78C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feb8baa424392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55E9AA-07B4-4313-AC64-1868FD85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5E5676-8B52-45F6-BD1F-326D1A51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Abertura e Dúvidas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3F720-0C1F-4B03-A2AF-98AAED5F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Identificar o que ficou menos claro no conteúdo assíncrono antes de avançar.</a:t>
            </a:r>
          </a:p>
        </p:txBody>
      </p:sp>
    </p:spTree>
    <p:extLst>
      <p:ext uri="{BB962C8B-B14F-4D97-AF65-F5344CB8AC3E}">
        <p14:creationId xmlns:p14="http://schemas.microsoft.com/office/powerpoint/2010/main" val="11593852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D46867-8EF7-4EB1-AE88-E9384F6C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8b434b9b04c8d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2ADC5-B599-42AB-8BEB-7C30BEAC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E0B97-AAB8-4F45-9A34-FBD7EF9B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106E0-C7F7-4E39-9629-D7E6810A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0557D-A7E9-426C-9C13-B57984A3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A2A19-A55D-499B-9E92-808CD97A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DÚVIDAS COMUNS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F35303-4050-4278-80EF-ED34F5E6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Pontos que costumam gerar dúvida no conteúdo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97FE03-13DB-4B1D-8A72-55506EA6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Use estas perguntas para abrir a discussão se o grupo estiver tímido.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12062F-4B87-44A8-BCCA-75D055B4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6A11BC-0CD4-45B8-8953-0AE90360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D094F0-B672-413F-ABF5-9C8BD09D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pd.read_sql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D0D989-8B6E-4D27-8DD2-9F8306CC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Quando preferir read_sql vs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sqlite3 puro? Quando você quer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DataFrame direto, read_sql.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Quando precisa de controle fino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do cursor, sqlite3.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D6FFDB-0BB6-4540-BA64-FAF49DDB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6FA87-DB5F-4247-877A-1BAA0645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10AA2-BC33-4CC6-9A12-AE87186A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groupby + agg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5F3B9A-F3D5-48D3-8B28-B84BE7B5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Múltiplas funções no mesmo agg: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agg(total=('valor','sum'),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n=('id','count')). Cria colunas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nomeadas.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1569E0-6A6D-4C22-AEB4-51A73C40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D759A4-AF54-4329-9A96-D9D5E5E8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0F3C4D-F17E-4277-81CC-752C93DF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reset_index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0E03A8-64BC-4908-92FA-F50D5192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Após groupby, o índice vira 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chave de agrupamento.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reset_index() torna o resultado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uma tabela plana de novo.</a:t>
            </a:r>
          </a:p>
        </p:txBody>
      </p:sp>
    </p:spTree>
    <p:extLst>
      <p:ext uri="{BB962C8B-B14F-4D97-AF65-F5344CB8AC3E}">
        <p14:creationId xmlns:p14="http://schemas.microsoft.com/office/powerpoint/2010/main" val="19483755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2456CF-23A8-480C-A990-1B89B0FD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2e2e8131841fe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578E7-39E8-4C56-8542-712E103D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556C57-EF8E-442B-A0E0-2D9E6218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E43986-F709-4B7F-90F5-7FEDDBE9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A6155-ABAA-40B2-9694-F24CBB12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d44621fd754dd2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4BBFD-8AB7-4731-89FC-DF6D44B8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50E262-5449-4919-BACB-CF144A5F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Conceitual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11055-40BD-4DA8-B6FA-2E409B3C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A estrutura do Ex 4.3 já é um ETL — vamos nomear o que vocês fizeram.</a:t>
            </a:r>
          </a:p>
        </p:txBody>
      </p:sp>
    </p:spTree>
    <p:extLst>
      <p:ext uri="{BB962C8B-B14F-4D97-AF65-F5344CB8AC3E}">
        <p14:creationId xmlns:p14="http://schemas.microsoft.com/office/powerpoint/2010/main" val="9000033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14E4E2-3ED0-47E3-BC67-A1E54064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7606572804d5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586D6-5794-4C20-A1D1-6080F2B2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2B2476-343B-47D3-909B-A6EE5C2B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4BAEA-09F7-40AF-A77E-652D01F1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45B80-F4AA-4DE9-9309-6A422677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EE35D8-0FC0-44D5-9DBE-87F3E47D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RECONHECER O PADRÃO ETL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EEAB1-7B67-49F2-BE19-F3E3B715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Extrair → Transformar → Carregar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4BCE3C-92F5-4C68-A56E-FFAF0F87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O pipeline.py de vocês já segue este padrão. O Módulo 5 nomeia formalmente.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C29CD-E461-4EC3-AC52-B242B43D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4DD0AB-CA02-4D24-8B87-F886F410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122C6B-22BB-440F-BE9D-784E6E78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ESTRUTURA UNIVERSAL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E0A6B-1EF4-4DB9-92C5-1EB732DE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EXTRAIR  →  TRANSFORMAR  →  CARREGAR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(banco)      (pandas)       (parquet)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Extrair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conector muda, estrutura permanece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banco, API, CSV, planilha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Transformar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regras de negócio vivem aqui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receita_por_categoria,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Carregar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arquivo, DW, bucket, tabela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persistir de forma confiável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737758-FBCF-46AC-95C5-D8FC33B3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A722EC-A03A-4868-8ADF-C1E0368F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47F755-8FC9-4512-A01C-76FCEAD0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PERGUNTAS PROVOCATIVAS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5DBCB4-A841-4876-8D39-0AAFE19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1. Se o banco fosse uma API REST,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o que mudaria no código?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→ Apenas extrair_vendas.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Resto: igual.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2. Para rodar todo dia às 6h,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o que precisaríamos?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→ Agendamento, monitoramento,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tratamento de erros.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= Módulo 5.</a:t>
            </a:r>
          </a:p>
        </p:txBody>
      </p:sp>
    </p:spTree>
    <p:extLst>
      <p:ext uri="{BB962C8B-B14F-4D97-AF65-F5344CB8AC3E}">
        <p14:creationId xmlns:p14="http://schemas.microsoft.com/office/powerpoint/2010/main" val="11455741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7BDCB2-5DAB-4564-B592-95DFD488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0ec8b32d5d4e0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8C1000-82FC-41B2-86EB-99A550DB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929A7-2AA9-4682-A157-2DF59970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849E1-1BAE-4D85-A891-553CB016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004CAF-BDFB-44E7-AEB4-0CC6B1A1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200886b734904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C29F51-DFFB-4083-9C8C-E7DD4172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09CC23-4CD3-4D36-8861-CFBA98BF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Apresentações em Grupo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7F62A-A942-4582-821D-E1ED8EF9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Cada dupla apresenta seu pipeline. Vamos comparar abordagens e discutir robustez.</a:t>
            </a:r>
          </a:p>
        </p:txBody>
      </p:sp>
    </p:spTree>
    <p:extLst>
      <p:ext uri="{BB962C8B-B14F-4D97-AF65-F5344CB8AC3E}">
        <p14:creationId xmlns:p14="http://schemas.microsoft.com/office/powerpoint/2010/main" val="12105311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44A85E-59DC-4894-898A-36A2C338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0efedb9a4ac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153BB-3CED-4634-AE1D-0D0BB7F1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CBEEF-9D69-41CE-8629-349199F8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5398BF-6268-4D94-876E-99B5F5A7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E50CF-9E3C-46ED-83BF-DFA19171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67602-F922-47E1-9A52-3A5F66C7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DINÂMICA DAS APRESENTAÇÕES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BE9EF8-39E2-44B2-9F1E-43F4DCCE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Cada dupla em ~7 minutos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2F3AA-E129-4198-8C94-408EA994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Mostrar, discutir, comparar. Após cada apresentação, o condutor levanta um ponto.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7E1E19-4797-4508-A14A-AFDA228C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BD2C37-8D91-4385-B353-7D2B561B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C4DDFF-9FC1-4BCD-A770-CC7A894F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B16ED-00B1-4E8D-A472-B553844D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Mostrar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83C842-E5ED-496A-8922-649E5223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Como organizou as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funções? Cada função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faz uma coisa só?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117D21-782F-4C55-9623-AB1155E9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099AA-9108-4507-833C-B4AEB5AE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2C761D-FFF1-40FB-9122-0B7E7FAA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2EE3E5-74CE-4FF8-B1C7-20D8CBB4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Rodar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A14DE2-D4D3-4D23-AFEC-183B63BF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Mostrar a saída ao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vivo. Confirmar que os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parquets foram gerados.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A283CC-7185-4D94-8ACB-13D86D8C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2E0063-0B44-4874-A5DF-F7B2C275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944F6E-A26D-4A15-A875-4AAC3845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150D6-732D-4447-A9CE-22AC589B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Discutir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7B2630-7EDB-44E7-9DFD-786B106C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Uma coisa que achou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difícil ou faria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diferente.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F7E624-8EB5-4563-B8AE-E66897B6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58F158-22B3-4E18-AA67-FB025ADE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E5BDD0-E36C-459D-A99F-B2C8C2DB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C126BC-DBB1-4932-8BB0-EAA85977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Comparar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8C837E-528F-46B1-95C1-A7013D42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Como esta abordagem se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diferencia das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anteriores?</a:t>
            </a:r>
          </a:p>
        </p:txBody>
      </p:sp>
    </p:spTree>
    <p:extLst>
      <p:ext uri="{BB962C8B-B14F-4D97-AF65-F5344CB8AC3E}">
        <p14:creationId xmlns:p14="http://schemas.microsoft.com/office/powerpoint/2010/main" val="4493732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227F5F-A8D5-432E-939E-F4DCEC4E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bc2a8365b1498d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F63061-4413-4DC0-989C-ABD049B1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8C69F2-0C28-4939-B3F5-753C5D05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AE9221-460B-400D-8EFD-7AC5F19C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52E81-0A18-4E52-9ECD-DBF96B8C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16EAB1-7B93-4144-BEB7-4BE86BA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PONTOS DE DISCUSSÃO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1E4E6F-7757-411E-A866-E843E274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levantar após cada apresentação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16760A-8361-48D4-B7E3-089B7817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Foque em estrutura, robustez e nomes. Estes três pilares sustentam um pipeline em produção.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6715E4-8332-42CE-8D91-4F5981D3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04DBEF-9F7D-4F28-A5FD-9C28BCEC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63FA4-CD10-4A5F-B73F-36FDC07D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Estrutura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FCB18C-78DA-4CB9-A138-2958FD71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Funções com responsabilidade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única? Nomes comunicam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intenção? E se precisar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adicionar uma 3ª agregação?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3D303-2379-4FD4-B4F2-CF971AB0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C1F6E-FFF2-4A10-A9E3-EB4627C6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621097-D3A4-4634-A9DD-4358729A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Robustez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BA8EC-67FC-4156-9726-0D00E654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Quebra se o banco não existir?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saida/ é criado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automaticamente? Trata caminhos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inexistentes?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A463E9-96AE-48E1-83F6-CA1EAB83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E34ACF-FCCF-4C0C-A8F1-C40A27B4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969460-9E77-4029-A55E-068BD7DB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Manutenção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50FC5D-0213-4170-86C1-58083F54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Outro engenheiro entende 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pipeline lendo só o main()? Os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tipos (type hints) estão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claros?</a:t>
            </a:r>
          </a:p>
        </p:txBody>
      </p:sp>
    </p:spTree>
    <p:extLst>
      <p:ext uri="{BB962C8B-B14F-4D97-AF65-F5344CB8AC3E}">
        <p14:creationId xmlns:p14="http://schemas.microsoft.com/office/powerpoint/2010/main" val="1166816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BFE9AD-1072-45A9-9DB2-3CB28FB4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6ac35f06854adc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6623E-5FB6-4952-8F3A-9B73D16B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937EC6-F259-4171-B296-35BA2BA5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0DB3AD-C669-4137-AF71-396F047D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7B557B-097A-4E5F-851D-4D813B2C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03CB6E-8570-4506-8C2C-AD8467AA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PERGUNTA CENTRAL DO BLOCO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195AE-E2B0-47B4-AF4B-CC31C428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acontece se valor_total vier com nulos?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A9E69-7609-4387-84FC-456B60A0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Deixe o grupo discutir por 5 min antes de mostrar a resposta. É um caso real de inconsistência silenciosa.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935BCD-06A6-42C5-B946-B95AFBAF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FACE8-B565-4F1E-8B66-B396942D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9F77F0-F950-4147-AED9-775FA879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pandas não quebra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C5026F-D4B5-4A37-9BE3-92626E7A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sum() ignora NaN por padrão. 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pipeline roda "limpo" e ninguém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percebe nada.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63A501-0855-4F2A-ADF5-305B1862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9ED43F-ACC5-49C0-8184-B1F261F8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F0B0A1-BA52-4038-B3FA-11C331DB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Inconsistência silenciosa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ED2E02-9303-4AFA-872F-5D1EAAD5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qtd_vendas conta a linha, mas 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soma ignora — o ticket médio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fica errado e ninguém sabe.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F1372B-9413-4A35-9206-715031F9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223B15-3958-4641-9248-C19A9FFC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6DBDA1-8EF5-4FEB-99CD-F023BFCF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Decisão consciente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188005-474A-40DB-9447-6AA5AECE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Descartar a linha? Preencher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 0? Depende do negócio.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Documente a decisão no código.</a:t>
            </a:r>
          </a:p>
        </p:txBody>
      </p:sp>
    </p:spTree>
    <p:extLst>
      <p:ext uri="{BB962C8B-B14F-4D97-AF65-F5344CB8AC3E}">
        <p14:creationId xmlns:p14="http://schemas.microsoft.com/office/powerpoint/2010/main" val="10894207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5E5BB4-AE87-4C56-BAC0-1C7D7C34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bdce810764806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0D2CD-D73C-44AB-B613-7A7055B1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2F7D6-7E78-4B02-8D0D-D5DD03B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D6118-89F0-43EC-AF87-B62FE931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9ED64-9288-4480-B755-0158AE0F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59f1f4a5b8472b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627A9-FA0E-4F69-B958-2D7B2DBF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15A3A-E915-4117-953A-24AFB89E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Fechamento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CA3402-34A1-4595-B4F3-826C7A7B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Síntese do módulo, conexão direta com o Módulo 5, próximos passos.</a:t>
            </a:r>
          </a:p>
        </p:txBody>
      </p:sp>
    </p:spTree>
    <p:extLst>
      <p:ext uri="{BB962C8B-B14F-4D97-AF65-F5344CB8AC3E}">
        <p14:creationId xmlns:p14="http://schemas.microsoft.com/office/powerpoint/2010/main" val="12736896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E46048-6B43-49A8-9D91-12C394C5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55e6fc0fe42f3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6A902D-17DA-42EC-8116-B47A0CDE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5FDC4-5B83-4D9C-A079-0C5D0755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375209-C3E7-404D-A788-66AA2C53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6A390-43C1-468B-9795-C9C75AF5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3CBA9F-92A8-420D-8FD6-E2E87455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OBJETIVOS DO MÓDULO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FE64B-F857-43ED-BB95-85BDC514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o aluno é capaz de fazer agora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8DB8B-D00C-4A5E-9F0F-3C98B9D4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Todos os objetivos foram trabalhados em conteúdo, exercícios e apresentações ao vivo.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4FF1DF-BB5B-4B6A-BB73-146298D4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2BEBC5-F456-43FE-8FAD-6A40DAA5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DE3B00-D5CA-46F7-915F-56E820A8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Estruturas Python para dados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E8857A-90A7-407F-B1FE-4BEFC5C0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Listas, dicionários, comprehensions — vocabulário básico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do dia-a-dia.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F4066-5FD2-4BA0-8AA7-5DD7F4C9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28616-F9D6-4E79-BAA4-2FF19D46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D718AB-2483-42C7-8DCD-49C84751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Ler SQLite com Python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B0875B-EF5E-4434-B98F-68E96A68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sqlite3 puro e pd.read_sql — duas formas, quando usar cada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uma.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E83F71-ECB1-43BB-8015-EA84340D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6600E-80AF-4828-BCC6-045071D4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4548F5-128B-44CD-98DF-89DEE1FC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Pandas essencial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2DC268-D49D-40D5-9D8E-DC8BE956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Filtros, merges, groupby+agg, tratamento de nulos, funções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reutilizáveis.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FD8637-221A-4A25-8880-8CCD71D8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B7D923-93CF-4ABE-A6E3-F2B1A26E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A2E079-C976-47AA-9D6C-4FD766B0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Reconhecer o padrão ETL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C2F52E-86CD-41B6-80D7-F0424AC7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Extrair → Transformar → Carregar como mental model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permanente.</a:t>
            </a:r>
          </a:p>
        </p:txBody>
      </p:sp>
    </p:spTree>
    <p:extLst>
      <p:ext uri="{BB962C8B-B14F-4D97-AF65-F5344CB8AC3E}">
        <p14:creationId xmlns:p14="http://schemas.microsoft.com/office/powerpoint/2010/main" val="5832876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24A7C4-DAD1-41B4-B574-6ED9CF0F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c4988212cf4d14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F80C2A-9D56-4397-8D7B-D5015CF4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752F8F-645A-427D-8C17-44E36BDD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A6D3F-6A2A-4CB2-8215-D9AB1673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D5C08-C999-48CC-AEA2-C9B8EAB9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7CA08-23AD-4485-B0CC-B9AA7AAF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PRÓXIMO MÓDULO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6F7BB4-203A-437F-866A-7A9FD1E4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Módulo 5 — Lógica de ETL/ELT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3118F-16D4-4764-9320-1C04044D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Vocês têm pipeline manual. O Módulo 5 transforma em pipeline de produção.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C6D793-B6F4-4221-8249-24D19356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5D87C8-FB76-4455-9D74-7232B31A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902F07-A713-429C-919D-00860EC0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ETL vs ELT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56E547-0B5D-4093-A8FE-154FC3C6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Quando transformar antes vs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depois da carga. Decisão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arquitetura.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AFD019-E09F-48FE-994E-AE96D53A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89FC5F-9D94-4F48-A9DC-B5C6BD21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40F432-83D2-4362-9B43-ADEF275A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Idempotência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35594F-A4D1-4EC6-9090-310D3A4D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Rodar 3 vezes produz o mesmo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resultado. Garantia obrigatória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em produção.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B39DE-E40B-4948-BAD8-C24E47EA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221609-B9DB-4E60-BC60-66A6BFDB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565957-CCD9-4020-9970-9BBF2FB4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Logging e erros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A99BE4-7E2B-4652-A64F-836BA0E2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 que logar para diagnosticar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uma falha às 3h da manhã.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Tratamento explícito.</a:t>
            </a:r>
          </a:p>
        </p:txBody>
      </p:sp>
    </p:spTree>
    <p:extLst>
      <p:ext uri="{BB962C8B-B14F-4D97-AF65-F5344CB8AC3E}">
        <p14:creationId xmlns:p14="http://schemas.microsoft.com/office/powerpoint/2010/main" val="21301048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AA1C0D-AC5C-4796-BC72-E7387ED5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e396fb06a4cff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04376D-0FE7-4820-86D3-1C486545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908F6-1F25-4219-97B3-8693BBBD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738EF1-DCD5-45B4-8DB2-C7777F35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14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76c8bd7f84d6c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82F55-BE92-4363-A46C-4479FFC9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"/>
            <a:ext cx="12192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8409AD-97E2-4BED-B5C0-158BDA8D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4ADBE"/>
                </a:solidFill>
              </a:defRPr>
            </a:pPr>
            <a:r>
              <a:rPr sz="1200" b="0">
                <a:solidFill>
                  <a:srgbClr val="A4ADBE"/>
                </a:solidFill>
              </a:rPr>
              <a:t>Trilha de Engenharia de Dados  •  Módulo 4: Python para Dados</a:t>
            </a:r>
          </a:p>
        </p:txBody>
      </p:sp>
    </p:spTree>
    <p:extLst>
      <p:ext uri="{BB962C8B-B14F-4D97-AF65-F5344CB8AC3E}">
        <p14:creationId xmlns:p14="http://schemas.microsoft.com/office/powerpoint/2010/main" val="14330196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2026-05-11T15:39:34.3780000Z</dcterms:created>
  <dcterms:modified xsi:type="dcterms:W3CDTF">2026-05-11T15:39:34.3780000Z</dcterms:modified>
</coreProperties>
</file>