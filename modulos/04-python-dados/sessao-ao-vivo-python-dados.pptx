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0e1749c4cc4d38" /><Relationship Type="http://schemas.openxmlformats.org/officeDocument/2006/relationships/extended-properties" Target="/docProps/app.xml" Id="R56a1a75e34554120" /><Relationship Type="http://schemas.openxmlformats.org/officeDocument/2006/relationships/officeDocument" Target="/ppt/presentation.xml" Id="R8dd604ef4f6b42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0e7ecea2ad44ee"/>
  </p:sldMasterIdLst>
  <p:notesMasterIdLst>
    <p:notesMasterId xmlns:r="http://schemas.openxmlformats.org/officeDocument/2006/relationships" r:id="R574880d822f5435b"/>
  </p:notesMasterIdLst>
  <p:sldIdLst>
    <p:sldId xmlns:r="http://schemas.openxmlformats.org/officeDocument/2006/relationships" id="256" r:id="Rcb6cc13ca8704c50"/>
    <p:sldId xmlns:r="http://schemas.openxmlformats.org/officeDocument/2006/relationships" id="257" r:id="Rbd0c2c64e6ee4263"/>
    <p:sldId xmlns:r="http://schemas.openxmlformats.org/officeDocument/2006/relationships" id="258" r:id="Ra0477d03561442e1"/>
    <p:sldId xmlns:r="http://schemas.openxmlformats.org/officeDocument/2006/relationships" id="259" r:id="Raa0c84ec4b0d43cc"/>
    <p:sldId xmlns:r="http://schemas.openxmlformats.org/officeDocument/2006/relationships" id="260" r:id="R8785e11015084979"/>
    <p:sldId xmlns:r="http://schemas.openxmlformats.org/officeDocument/2006/relationships" id="261" r:id="R5fc5f1f366bb412e"/>
    <p:sldId xmlns:r="http://schemas.openxmlformats.org/officeDocument/2006/relationships" id="262" r:id="R15ea7728d6e44b98"/>
    <p:sldId xmlns:r="http://schemas.openxmlformats.org/officeDocument/2006/relationships" id="263" r:id="R124fc3502dfe4f90"/>
    <p:sldId xmlns:r="http://schemas.openxmlformats.org/officeDocument/2006/relationships" id="264" r:id="R89217017119a4c0c"/>
    <p:sldId xmlns:r="http://schemas.openxmlformats.org/officeDocument/2006/relationships" id="265" r:id="Rba96444b43fe4ed1"/>
    <p:sldId xmlns:r="http://schemas.openxmlformats.org/officeDocument/2006/relationships" id="266" r:id="R8de53be8e3204efe"/>
    <p:sldId xmlns:r="http://schemas.openxmlformats.org/officeDocument/2006/relationships" id="267" r:id="R5a9ed252851a43e2"/>
    <p:sldId xmlns:r="http://schemas.openxmlformats.org/officeDocument/2006/relationships" id="268" r:id="R6d684e148f1649cd"/>
    <p:sldId xmlns:r="http://schemas.openxmlformats.org/officeDocument/2006/relationships" id="269" r:id="Rcd8a4caa9cb1455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0e7ecea2ad44ee" /><Relationship Type="http://schemas.openxmlformats.org/officeDocument/2006/relationships/theme" Target="/ppt/theme/theme1.xml" Id="R3b80f74d1ccb459a" /><Relationship Type="http://schemas.openxmlformats.org/officeDocument/2006/relationships/notesMaster" Target="/ppt/notesMasters/notesMaster1.xml" Id="R574880d822f5435b" /><Relationship Type="http://schemas.openxmlformats.org/officeDocument/2006/relationships/presProps" Target="/ppt/presProps.xml" Id="Raa500a4d967f4d17" /><Relationship Type="http://schemas.openxmlformats.org/officeDocument/2006/relationships/viewProps" Target="/ppt/viewProps.xml" Id="R26905224577343af" /><Relationship Type="http://schemas.openxmlformats.org/officeDocument/2006/relationships/tableStyles" Target="/ppt/tableStyles.xml" Id="R645edf51aba34062" /><Relationship Type="http://schemas.openxmlformats.org/officeDocument/2006/relationships/slide" Target="/ppt/slides/slide1.xml" Id="Rcb6cc13ca8704c50" /><Relationship Type="http://schemas.openxmlformats.org/officeDocument/2006/relationships/slide" Target="/ppt/slides/slide2.xml" Id="Rbd0c2c64e6ee4263" /><Relationship Type="http://schemas.openxmlformats.org/officeDocument/2006/relationships/slide" Target="/ppt/slides/slide3.xml" Id="Ra0477d03561442e1" /><Relationship Type="http://schemas.openxmlformats.org/officeDocument/2006/relationships/slide" Target="/ppt/slides/slide4.xml" Id="Raa0c84ec4b0d43cc" /><Relationship Type="http://schemas.openxmlformats.org/officeDocument/2006/relationships/slide" Target="/ppt/slides/slide5.xml" Id="R8785e11015084979" /><Relationship Type="http://schemas.openxmlformats.org/officeDocument/2006/relationships/slide" Target="/ppt/slides/slide6.xml" Id="R5fc5f1f366bb412e" /><Relationship Type="http://schemas.openxmlformats.org/officeDocument/2006/relationships/slide" Target="/ppt/slides/slide7.xml" Id="R15ea7728d6e44b98" /><Relationship Type="http://schemas.openxmlformats.org/officeDocument/2006/relationships/slide" Target="/ppt/slides/slide8.xml" Id="R124fc3502dfe4f90" /><Relationship Type="http://schemas.openxmlformats.org/officeDocument/2006/relationships/slide" Target="/ppt/slides/slide9.xml" Id="R89217017119a4c0c" /><Relationship Type="http://schemas.openxmlformats.org/officeDocument/2006/relationships/slide" Target="/ppt/slides/slide10.xml" Id="Rba96444b43fe4ed1" /><Relationship Type="http://schemas.openxmlformats.org/officeDocument/2006/relationships/slide" Target="/ppt/slides/slide11.xml" Id="R8de53be8e3204efe" /><Relationship Type="http://schemas.openxmlformats.org/officeDocument/2006/relationships/slide" Target="/ppt/slides/slide12.xml" Id="R5a9ed252851a43e2" /><Relationship Type="http://schemas.openxmlformats.org/officeDocument/2006/relationships/slide" Target="/ppt/slides/slide13.xml" Id="R6d684e148f1649cd" /><Relationship Type="http://schemas.openxmlformats.org/officeDocument/2006/relationships/slide" Target="/ppt/slides/slide14.xml" Id="Rcd8a4caa9cb145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15f0679d33443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fcef95c8134ccf" /><Relationship Type="http://schemas.openxmlformats.org/officeDocument/2006/relationships/notesMaster" Target="/ppt/notesMasters/notesMaster1.xml" Id="R95c07c1ba7114b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a093230b0e4e5d" /><Relationship Type="http://schemas.openxmlformats.org/officeDocument/2006/relationships/notesMaster" Target="/ppt/notesMasters/notesMaster1.xml" Id="R0c50cde538ce46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4c09fd4abb4fae" /><Relationship Type="http://schemas.openxmlformats.org/officeDocument/2006/relationships/notesMaster" Target="/ppt/notesMasters/notesMaster1.xml" Id="Rd10727b96b524a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6e9bc32667419f" /><Relationship Type="http://schemas.openxmlformats.org/officeDocument/2006/relationships/notesMaster" Target="/ppt/notesMasters/notesMaster1.xml" Id="Rbba7767d99d247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8e0ab67e6c4845" /><Relationship Type="http://schemas.openxmlformats.org/officeDocument/2006/relationships/notesMaster" Target="/ppt/notesMasters/notesMaster1.xml" Id="R6fb1e7d50dbf47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8eeb16834d485c" /><Relationship Type="http://schemas.openxmlformats.org/officeDocument/2006/relationships/notesMaster" Target="/ppt/notesMasters/notesMaster1.xml" Id="R5b9f8f524d1b43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52476ddd54445f" /><Relationship Type="http://schemas.openxmlformats.org/officeDocument/2006/relationships/notesMaster" Target="/ppt/notesMasters/notesMaster1.xml" Id="R961ac839869648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db4de54a6d47f8" /><Relationship Type="http://schemas.openxmlformats.org/officeDocument/2006/relationships/notesMaster" Target="/ppt/notesMasters/notesMaster1.xml" Id="R0912becd75284b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364b961eb64d2c" /><Relationship Type="http://schemas.openxmlformats.org/officeDocument/2006/relationships/notesMaster" Target="/ppt/notesMasters/notesMaster1.xml" Id="R6327361901bf41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5f60a29ee8433c" /><Relationship Type="http://schemas.openxmlformats.org/officeDocument/2006/relationships/notesMaster" Target="/ppt/notesMasters/notesMaster1.xml" Id="Rd6f6d369426848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9d2d00eb394fad" /><Relationship Type="http://schemas.openxmlformats.org/officeDocument/2006/relationships/notesMaster" Target="/ppt/notesMasters/notesMaster1.xml" Id="Rd6836941e9c542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97ecc463df4be1" /><Relationship Type="http://schemas.openxmlformats.org/officeDocument/2006/relationships/notesMaster" Target="/ppt/notesMasters/notesMaster1.xml" Id="R2a6902cd2df643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1c13c9c5654081" /><Relationship Type="http://schemas.openxmlformats.org/officeDocument/2006/relationships/notesMaster" Target="/ppt/notesMasters/notesMaster1.xml" Id="R2222b7a96c7046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75ade5b9934d36" /><Relationship Type="http://schemas.openxmlformats.org/officeDocument/2006/relationships/notesMaster" Target="/ppt/notesMasters/notesMaster1.xml" Id="Rea161a259b0b4f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e088c09ce4fc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099ffdadde84672" /><Relationship Type="http://schemas.openxmlformats.org/officeDocument/2006/relationships/slideLayout" Target="/ppt/slideLayouts/slideLayout2.xml" Id="R838d12f894c441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8d12f894c441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242d7fb166413c" /><Relationship Type="http://schemas.openxmlformats.org/officeDocument/2006/relationships/image" Target="/ppt/media/image.png" Id="R400ef772ae3c4b01" /><Relationship Type="http://schemas.openxmlformats.org/officeDocument/2006/relationships/image" Target="/ppt/media/image2.png" Id="R243b0bbb748f4b3e" /><Relationship Type="http://schemas.openxmlformats.org/officeDocument/2006/relationships/notesSlide" Target="/ppt/notesSlides/notesSlide1.xml" Id="R72401d49c9d343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ed34b29408441d" /><Relationship Type="http://schemas.openxmlformats.org/officeDocument/2006/relationships/image" Target="/ppt/media/image3.png" Id="Rc1d1b958e6064a32" /><Relationship Type="http://schemas.openxmlformats.org/officeDocument/2006/relationships/notesSlide" Target="/ppt/notesSlides/notesSlide2.xml" Id="R813ebdc501e84d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19120b387b4423" /><Relationship Type="http://schemas.openxmlformats.org/officeDocument/2006/relationships/image" Target="/ppt/media/image4.png" Id="R2cb7d2bdaafd42e4" /><Relationship Type="http://schemas.openxmlformats.org/officeDocument/2006/relationships/image" Target="/ppt/media/image5.png" Id="R4ffd42f163d946ce" /><Relationship Type="http://schemas.openxmlformats.org/officeDocument/2006/relationships/notesSlide" Target="/ppt/notesSlides/notesSlide3.xml" Id="Rede0c58039e948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43d142b7b84ade" /><Relationship Type="http://schemas.openxmlformats.org/officeDocument/2006/relationships/image" Target="/ppt/media/image6.png" Id="R6a74818b8e0343d3" /><Relationship Type="http://schemas.openxmlformats.org/officeDocument/2006/relationships/notesSlide" Target="/ppt/notesSlides/notesSlide4.xml" Id="Rf14e6942d32e4f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32d9f8564a48a2" /><Relationship Type="http://schemas.openxmlformats.org/officeDocument/2006/relationships/image" Target="/ppt/media/image7.png" Id="R66d2f1ea71f34816" /><Relationship Type="http://schemas.openxmlformats.org/officeDocument/2006/relationships/image" Target="/ppt/media/image8.png" Id="Rf916a3f7a9d84109" /><Relationship Type="http://schemas.openxmlformats.org/officeDocument/2006/relationships/notesSlide" Target="/ppt/notesSlides/notesSlide5.xml" Id="R2090672aca8f4b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04007e59b14fd4" /><Relationship Type="http://schemas.openxmlformats.org/officeDocument/2006/relationships/image" Target="/ppt/media/image9.png" Id="R322a12a1afb14cea" /><Relationship Type="http://schemas.openxmlformats.org/officeDocument/2006/relationships/notesSlide" Target="/ppt/notesSlides/notesSlide6.xml" Id="R7f403c0ab4ac49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4bb61ea57946c0" /><Relationship Type="http://schemas.openxmlformats.org/officeDocument/2006/relationships/image" Target="/ppt/media/image10.png" Id="R0bf8ef2548864497" /><Relationship Type="http://schemas.openxmlformats.org/officeDocument/2006/relationships/image" Target="/ppt/media/image11.png" Id="R5dd2499a983640e8" /><Relationship Type="http://schemas.openxmlformats.org/officeDocument/2006/relationships/notesSlide" Target="/ppt/notesSlides/notesSlide7.xml" Id="R516f89b330c54a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cfd723680d4545" /><Relationship Type="http://schemas.openxmlformats.org/officeDocument/2006/relationships/image" Target="/ppt/media/image12.png" Id="R783a371a6ea9479c" /><Relationship Type="http://schemas.openxmlformats.org/officeDocument/2006/relationships/notesSlide" Target="/ppt/notesSlides/notesSlide8.xml" Id="Raf2ffcababf145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e4e4adc088412d" /><Relationship Type="http://schemas.openxmlformats.org/officeDocument/2006/relationships/image" Target="/ppt/media/image13.png" Id="Ra7fe405090f04476" /><Relationship Type="http://schemas.openxmlformats.org/officeDocument/2006/relationships/notesSlide" Target="/ppt/notesSlides/notesSlide9.xml" Id="R7cea3796baca44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d9f8c1534e47c8" /><Relationship Type="http://schemas.openxmlformats.org/officeDocument/2006/relationships/image" Target="/ppt/media/image14.png" Id="Rc27fb6d0ad414aa3" /><Relationship Type="http://schemas.openxmlformats.org/officeDocument/2006/relationships/notesSlide" Target="/ppt/notesSlides/notesSlide10.xml" Id="Re762817a1a5445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c52042e0e94a6b" /><Relationship Type="http://schemas.openxmlformats.org/officeDocument/2006/relationships/image" Target="/ppt/media/image15.png" Id="R8aafd142182f4625" /><Relationship Type="http://schemas.openxmlformats.org/officeDocument/2006/relationships/image" Target="/ppt/media/image16.png" Id="R1b961c40535e4ad0" /><Relationship Type="http://schemas.openxmlformats.org/officeDocument/2006/relationships/notesSlide" Target="/ppt/notesSlides/notesSlide11.xml" Id="R75621eb5cf6942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3ca56ccc2d4807" /><Relationship Type="http://schemas.openxmlformats.org/officeDocument/2006/relationships/image" Target="/ppt/media/image17.png" Id="Ra02283f7050b4555" /><Relationship Type="http://schemas.openxmlformats.org/officeDocument/2006/relationships/notesSlide" Target="/ppt/notesSlides/notesSlide12.xml" Id="R6df84675aaaa42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fd01da2cbd4055" /><Relationship Type="http://schemas.openxmlformats.org/officeDocument/2006/relationships/image" Target="/ppt/media/image18.png" Id="R49fe11259bde4edd" /><Relationship Type="http://schemas.openxmlformats.org/officeDocument/2006/relationships/notesSlide" Target="/ppt/notesSlides/notesSlide13.xml" Id="Rca62eae710034d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401d5474a24b8f" /><Relationship Type="http://schemas.openxmlformats.org/officeDocument/2006/relationships/image" Target="/ppt/media/image19.png" Id="R7a7d2cb0780a4d91" /><Relationship Type="http://schemas.openxmlformats.org/officeDocument/2006/relationships/image" Target="/ppt/media/image20.png" Id="R4f83de86ca304e3c" /><Relationship Type="http://schemas.openxmlformats.org/officeDocument/2006/relationships/notesSlide" Target="/ppt/notesSlides/notesSlide14.xml" Id="R96af72e1386844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969881-D5F6-4744-AE88-887D883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ef772ae3c4b01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ADA57-BB86-4AAE-A396-461F139C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9CB55-FBDC-4ADD-81C6-24F17170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8123A-9D2C-4E0A-A6B9-34F5A060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b0bbb748f4b3e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34518-13C6-4502-AF00-4685EF92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TRILHA DE ENGENHARIA DE 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D24CB-23B4-4C7A-BB41-7ED0C801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857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FFFFFF"/>
                </a:solidFill>
              </a:defRPr>
            </a:pPr>
            <a:r>
              <a:rPr sz="4500" b="0">
                <a:solidFill>
                  <a:srgbClr val="FFFFFF"/>
                </a:solidFill>
              </a:rPr>
              <a:t>Python para Dados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D929C-CCDC-4C54-AA70-F123E3CB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666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Módulo 4  •  Sessão ao Vivo  •  2 horas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8C9BC-1705-45B7-B67F-4A2F8F1A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8A1D5-C8BD-4AA0-90A8-E1AF69F8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571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Pipeline simples é a base do pipeline em produção.</a:t>
            </a:r>
          </a:p>
        </p:txBody>
      </p:sp>
    </p:spTree>
    <p:extLst>
      <p:ext uri="{BB962C8B-B14F-4D97-AF65-F5344CB8AC3E}">
        <p14:creationId xmlns:p14="http://schemas.microsoft.com/office/powerpoint/2010/main" val="305345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F7A61F-CF93-4798-A25B-ED2985C9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1b958e6064a32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0CCEE-CBB7-4FB7-86A9-E3C0B797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0C913-F8DA-4DE2-A4DA-C82E7E6F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23C18-19A9-4274-A6EE-9B2D0BA6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74AAE-C89E-4675-AA2D-1578DAF7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01143-7AA9-4B15-97CE-94732471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AGENDA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AF522-FB02-4CD5-943F-82DA4D97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O que vamos fazer hoje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DD290-82F2-4D8F-A6B2-DB4D8BBF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Apresentação dos pipelines do Ex 4.3 e a ponte para o Módulo 5.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0C3DD-45B8-4C73-8977-45E28EC8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CA861-7331-44FE-BE7B-AFC0C7EC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30D77-90C3-426F-9FE6-61EE0202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Abertura — 10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C2656-5993-4963-A9C5-7F8A6C35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Dúvidas do conteúdo: read_sql,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groupby + agg, reset_index.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D46B5-C43E-49BC-B652-14FAC911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3D6C1-67FC-49B2-B8D3-4950DDDD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342D0D-6FD7-4809-A99D-063B1786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Conceitual — 15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86A49-BAD0-42F3-AEB7-C8E59693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Reconhecer que o Ex 4.3 já é um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ETL. Vocabulário formal.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AAEB08-D9AA-49CE-A8FE-4365C7C7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537249-1A16-499F-959A-FC5D3267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DD543-958B-4953-9022-E3C00ADE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Exercício — 75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52A0B-524E-4EF8-9AED-60A75BDC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Apresentação dos pipelines em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duplas. Discussão de estrutura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 robustez.</a:t>
            </a:r>
          </a:p>
        </p:txBody>
      </p:sp>
    </p:spTree>
    <p:extLst>
      <p:ext uri="{BB962C8B-B14F-4D97-AF65-F5344CB8AC3E}">
        <p14:creationId xmlns:p14="http://schemas.microsoft.com/office/powerpoint/2010/main" val="21287913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DB7CEE-EF28-4AD8-BB99-CB0EF2CA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7d2bdaafd42e4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050CA-A6C7-4DE9-BFDF-83F3D519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C72D1-E410-40BB-999D-FC6C6A68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ABAA8-174F-4DCD-99A4-CAF56721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6A906-753E-43A3-9C96-C599E4EC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d42f163d946ce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3D371-7553-4C31-86E6-DA4D3D99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5CE31-1316-4AA9-A875-EC1B1C5D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Abertura e Dúvidas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F564C-89D4-419B-8A6F-BAA76AC2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Identificar o que ficou menos claro no conteúdo assíncrono antes de avançar.</a:t>
            </a:r>
          </a:p>
        </p:txBody>
      </p:sp>
    </p:spTree>
    <p:extLst>
      <p:ext uri="{BB962C8B-B14F-4D97-AF65-F5344CB8AC3E}">
        <p14:creationId xmlns:p14="http://schemas.microsoft.com/office/powerpoint/2010/main" val="16368773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4FB966-1B80-4222-BE88-724B9B57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4818b8e0343d3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E8B93-006E-43D6-9718-EFE4DEA4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56D95-FFC1-452C-AF13-3576E82E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AA4BB-07AD-43BF-BF4B-C4CCE8D4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FC6D6-EBE7-4D3B-9C4E-8DBB5E7F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D5029-8368-4A7A-AF8D-4A284DF0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DÚVIDAS COMUNS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3FCD3-63BF-4164-B098-D86FDB18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Pontos que costumam gerar dúvida no conteúdo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CA131-B079-4164-9B96-A78E840F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Use estas perguntas para abrir a discussão se o grupo estiver tímido.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A52B6-4391-4972-85B1-9BB475BD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2B5D3-F8E9-487A-9590-2280B930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2F41F-391A-4124-81B2-1538EAE2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pd.read_sql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E262F-DDBF-4B6D-8284-30BF6E69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Quando preferir read_sql vs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sqlite3 puro? Quando você quer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DataFrame direto, read_sql.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Quando precisa de controle fino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do cursor, sqlite3.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7D0DC7-E0F2-4273-BC39-90DC0DB9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AA6CA1-4F46-43EB-ABA6-BDB47914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8D7720-5685-4F36-B735-BBA922C4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groupby + agg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EF0F2-5113-4BD2-940C-EF27D641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Múltiplas funções no mesmo agg: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agg(total=('valor','sum'),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n=('id','count')). Cria colunas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nomeadas.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55FC3-78FF-4E37-B17A-8682F7E2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7837E2-5031-4C07-BE9D-8A4C2597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001E8-2E51-4115-BE0C-45C0496C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reset_index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08E6E5-B22A-42E8-B665-5B47301E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Após groupby, o índice vira 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chave de agrupamento.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reset_index() torna o resultado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uma tabela plana de novo.</a:t>
            </a:r>
          </a:p>
        </p:txBody>
      </p:sp>
    </p:spTree>
    <p:extLst>
      <p:ext uri="{BB962C8B-B14F-4D97-AF65-F5344CB8AC3E}">
        <p14:creationId xmlns:p14="http://schemas.microsoft.com/office/powerpoint/2010/main" val="2140119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3E8AAC-0935-481E-97C0-5320C66A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2f1ea71f34816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941AA-55C5-4326-8563-4ADA3E6A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13994-2698-4F3E-A60A-8E07E08D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FB3AB-11E0-4622-8106-490201A1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E83E3-9F58-4F12-8C52-1790E3A7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6a3f7a9d84109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91649-1DEC-4C3B-B052-00CFFBD5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C91C1-830C-4B2D-9A89-E2E0328D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Conceitual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2431B-6B75-48A6-A1C7-8DC0F694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A estrutura do Ex 4.3 já é um ETL — vamos nomear o que vocês fizeram.</a:t>
            </a:r>
          </a:p>
        </p:txBody>
      </p:sp>
    </p:spTree>
    <p:extLst>
      <p:ext uri="{BB962C8B-B14F-4D97-AF65-F5344CB8AC3E}">
        <p14:creationId xmlns:p14="http://schemas.microsoft.com/office/powerpoint/2010/main" val="15514888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0294C1-A271-4560-9B29-0D5D7494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a12a1afb14cea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DE3ED-A9A7-483F-9CE5-994F5C6F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4BBCE-C70D-4362-8AAB-CCDE0557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F53C8-243D-4DCA-B45D-558F7184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D3E5C-4A13-4D10-94BE-213BB322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04513-4E8F-4F78-B4CA-D0C87EBA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RECONHECER O PADRÃO ETL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01391-EDAC-4891-AD15-868839C2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Extrair → Transformar → Carregar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7ADAE-7A9A-4EA1-ADE9-5EF4FC3E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O pipeline.py de vocês já segue este padrão. O Módulo 5 nomeia formalmente.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13DDA-7FD9-4554-8470-F75F4954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39D5F-E0A3-4416-AFF1-4D5E8E6F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EE75D-D583-4B56-B4F2-D7767C78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ESTRUTURA UNIVERSAL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BE293-5E34-40D5-9C26-EA6E8F4A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EXTRAIR  →  TRANSFORMAR  →  CARREGAR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(banco)      (pandas)       (parquet)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Extrair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 conector muda, estrutura permanece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 banco, API, CSV, planilha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Transformar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 regras de negócio vivem aqui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 receita_por_categoria,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Carregar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 arquivo, DW, bucket, tabela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 persistir de forma confiável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94598-BD8B-4B73-8662-4375BF21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20B09-F8F3-48C4-8DDE-3A8C5E50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4787E-DF5F-40F7-BECA-DBF6FDBA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PERGUNTAS PROVOCATIVAS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1197BD-7C32-4478-8BD7-ACBA9B3B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1. Se o banco fosse uma API REST,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o que mudaria no código?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→ Apenas extrair_vendas.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Resto: igual.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2. Para rodar todo dia às 6h,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o que precisaríamos?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→ Agendamento, monitoramento,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tratamento de erros.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= Módulo 5.</a:t>
            </a:r>
          </a:p>
        </p:txBody>
      </p:sp>
    </p:spTree>
    <p:extLst>
      <p:ext uri="{BB962C8B-B14F-4D97-AF65-F5344CB8AC3E}">
        <p14:creationId xmlns:p14="http://schemas.microsoft.com/office/powerpoint/2010/main" val="15248996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6779E1-A92D-4D13-B60C-F0F499D4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8ef2548864497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0C9E9-155C-42FC-9F0A-0BA26223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F9D50-4D07-457B-865D-9AD541D9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D18DB-E7AB-48E8-A9D3-7AAC4560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5851A-8913-4C83-856E-EB86477A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2499a983640e8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3BD49-9D91-46BB-8A88-45A1241D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E95EA-31B4-485A-B32D-75432B9A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Apresentações em Grupo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73D3A-01D9-4C86-A52C-48787E7F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Cada dupla apresenta seu pipeline. Vamos comparar abordagens e discutir robustez.</a:t>
            </a:r>
          </a:p>
        </p:txBody>
      </p:sp>
    </p:spTree>
    <p:extLst>
      <p:ext uri="{BB962C8B-B14F-4D97-AF65-F5344CB8AC3E}">
        <p14:creationId xmlns:p14="http://schemas.microsoft.com/office/powerpoint/2010/main" val="13844087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377669-1980-427E-8A92-1AC46892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a371a6ea9479c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6F161-4CE4-4B18-8152-A680A8DB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C061D-9FA3-44D8-BC39-25C148DC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D3F5C-3075-4559-8FA0-92E8DE94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45CDB-AC2D-47B2-8858-8E94FFC0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93E22-9DB7-4883-B224-55908CF9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DINÂMICA DAS APRESENTAÇÕES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801A5-D7AD-427D-8CD9-7A7FCCB4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Cada dupla em ~7 minutos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A41E0-1CCD-4950-ADC0-8ED14122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Mostrar, discutir, comparar. Após cada apresentação, o condutor levanta um ponto.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F2618-9F10-46D2-AE43-5B0DB35F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457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1672D-1E7A-4410-8CE3-0B7775AE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7488F-8FAC-449F-8EF1-965F3F42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AC018-7758-4E54-9318-2904B049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Mostrar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FBEAB-5548-4E37-A9A0-88CF3499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2076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Como organizou as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funções? Cada função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faz uma coisa só?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431E8-1F16-4EF2-AB19-69DB3151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2457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5048A-39A5-4EE1-8E48-085E6F20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47E71-D474-4E92-8B5A-09368896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A673B-238A-4F95-9D94-DA5BFFB7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147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Rodar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4E7DC-3B74-40C5-AEBA-E3CCF91A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95750"/>
            <a:ext cx="2076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Mostrar a saída ao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vivo. Confirmar que os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parquets foram gerados.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1776B8-699E-44B9-B9C6-DDFC926C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457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540A26-9FF8-4399-B6F5-1270267A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3C4643-287F-430E-BF28-E68AFD2F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C970AE-7B0B-495B-9855-6C0FAE5F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Discutir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79134-E094-4828-8D8B-3FBF8A30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95750"/>
            <a:ext cx="2076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Uma coisa que achou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difícil ou faria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diferente.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EF5C80-F57E-43AE-8FE3-0C92187C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457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0675E7-2144-4182-93F2-8B83EBA6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68F152-5D82-47AF-8344-CE302776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4FC375-570D-4B9B-91AA-CA09E2DD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147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Comparar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AE295F-5F22-49B6-A558-F7C0CEE4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5750"/>
            <a:ext cx="2076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Como esta abordagem se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diferencia das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anteriores?</a:t>
            </a:r>
          </a:p>
        </p:txBody>
      </p:sp>
    </p:spTree>
    <p:extLst>
      <p:ext uri="{BB962C8B-B14F-4D97-AF65-F5344CB8AC3E}">
        <p14:creationId xmlns:p14="http://schemas.microsoft.com/office/powerpoint/2010/main" val="16517803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32EFB4-3BC0-4372-A958-FDF7F95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e405090f04476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4F650-5C20-4C6D-8913-80C35FF8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B620B-2502-4379-A8C5-F7462ADA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A73AE-0B43-4867-9FF1-7E9C98A7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A5022-C04B-4D39-9CBC-55631043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C5FEC-D9A0-4F04-B35F-872D36F6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PONTOS DE DISCUSSÃO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6AA48-7A46-486C-854A-68CD862F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O que levantar após cada apresentação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58B2A-C7EC-44C2-A722-1AED03BE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Foque em estrutura, robustez e nomes. Estes três pilares sustentam um pipeline em produção.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664D9-83A2-4FC7-AEDE-734F1304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AC4E2-0F9B-4515-A9D4-68E6E49D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46F71-74B8-4C2C-B222-3C8BCB8F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Estrutura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690BE-50C1-46BA-B2A7-11D2AB64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Funções com responsabilidade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única? Nomes comunicam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intenção? E se precisar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adicionar uma 3ª agregação?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0F0DD-5BA8-4F6E-B3FC-E7169CF6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F0741-7F44-4502-B888-B91C0499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C91BD-BDC7-4613-85FF-1FBA3F00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Robustez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DE07BE-9F79-4ABA-B7CC-67CC1D81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Quebra se o banco não existir?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saida/ é criado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automaticamente? Trata caminhos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inexistentes?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1E88D-3DE2-4AB8-BCE7-8009E70C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D1B3A-1F08-4998-9B08-3CC58859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A7D2E2-730D-486F-9C36-4C5BAE95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Manutenção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6EBB6-883F-4885-8B3E-D091476A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Outro engenheiro entende 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pipeline lendo só o main()? Os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tipos (type hints) estão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claros?</a:t>
            </a:r>
          </a:p>
        </p:txBody>
      </p:sp>
    </p:spTree>
    <p:extLst>
      <p:ext uri="{BB962C8B-B14F-4D97-AF65-F5344CB8AC3E}">
        <p14:creationId xmlns:p14="http://schemas.microsoft.com/office/powerpoint/2010/main" val="16635526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2F3D5-0416-4B69-95AB-437E15AA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fb6d0ad414aa3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A0760-FFB1-49AE-B28F-2604C475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73EBE-74FF-4625-B57F-02BDC7A4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7FD3F-F722-493C-ABBA-9A5A184F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18A74-8D49-4B38-89D6-5324FFB6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898E7-CA22-463F-B62F-072C64A7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PERGUNTA CENTRAL DO BLOCO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1C32E-0712-41DC-A19D-A185B739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O que acontece se valor_total vier com nulos?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01926-A01A-486C-8924-C50692FF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Deixe o grupo discutir por 5 min antes de mostrar a resposta. É um caso real de inconsistência silenciosa.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38F85-806F-4F80-8B50-1080E531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7F257-CBA8-48EB-AC34-86A62483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18505-066B-46CE-895B-1AE7F3BC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pandas não quebra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4628E-2054-4154-B50C-743682B5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sum() ignora NaN por padrão. 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pipeline roda "limpo" e ninguém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percebe nada.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5473F-EDD8-44C1-873B-DDE5F47C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65CF8-A51D-4730-85CF-C40BE270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EB072E-C10A-479C-B235-087F3660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Inconsistência silenciosa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0F977-7003-457C-96D3-A72313C4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qtd_vendas conta a linha, mas 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soma ignora — o ticket médio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fica errado e ninguém sabe.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832E4F-26F0-48B6-8740-4C0E2E30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F4D51-FC5A-471D-8D62-D5DFB9A4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C5057F-A9F1-4FC9-ABE0-AE45DCA8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Decisão consciente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A91DFC-591E-4BFF-A018-9F4E0F83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Descartar a linha? Preencher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com 0? Depende do negócio.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Documente a decisão no código.</a:t>
            </a:r>
          </a:p>
        </p:txBody>
      </p:sp>
    </p:spTree>
    <p:extLst>
      <p:ext uri="{BB962C8B-B14F-4D97-AF65-F5344CB8AC3E}">
        <p14:creationId xmlns:p14="http://schemas.microsoft.com/office/powerpoint/2010/main" val="1054883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8B4AA2-1C02-44A5-906C-E645D84E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fd142182f4625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566DE-AD27-47D1-9E45-55085D21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B7065-CF14-4700-881C-FB1EFBEE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1B63E-EBF6-478A-B645-E5FFA933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AAB58-DEB9-4F44-9E03-2F0EA91F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61c40535e4ad0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68619-5EC7-4182-8A3A-C3803AE1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E57A1-35E1-4016-B718-29703815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Fechamento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2EAFA-8613-4534-A8C6-302F30B5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Síntese do módulo, conexão direta com o Módulo 5, próximos passos.</a:t>
            </a:r>
          </a:p>
        </p:txBody>
      </p:sp>
    </p:spTree>
    <p:extLst>
      <p:ext uri="{BB962C8B-B14F-4D97-AF65-F5344CB8AC3E}">
        <p14:creationId xmlns:p14="http://schemas.microsoft.com/office/powerpoint/2010/main" val="8892056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03E712-E408-42BC-AAEF-23E3C2BF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283f7050b4555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71B58-09B7-4C73-905B-36A75CE4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54D78-3751-4652-96F3-84038D37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484B2-EC6C-4D3A-BE60-C43F16EB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CA686-3A05-45A4-B978-6868D95F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B3C7F-EB0B-4F6E-9298-2C03808E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OBJETIVOS DO MÓDULO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11489-01DA-4B13-853D-00B4A952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O que o aluno é capaz de fazer agora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A02D0-3416-4D4B-A265-D51C9844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Todos os objetivos foram trabalhados em conteúdo, exercícios e apresentações ao vivo.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9E18B-C226-4173-8C81-60C656F5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B33DC-9986-4177-840B-9C42410D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FA53E-9E33-4F64-847B-11009601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Estruturas Python para dados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8DDC6-EF5A-495F-B8AE-6B46CE0B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Listas, dicionários, comprehensions — vocabulário básico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do dia-a-dia.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A29FA-C018-4E26-926D-38E0F703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04A3A-D080-4B62-9701-5AB7760F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CE75E-B540-4278-98E8-B3A95B6E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Ler SQLite com Python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6E232-98AE-483D-B20E-78C836C5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sqlite3 puro e pd.read_sql — duas formas, quando usar cada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uma.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6071CB-D0D8-4EE5-B3E4-D129534C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DE151-6472-4277-8683-CA8BCCDF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4F7CC-89A0-4D83-9F29-C4EC643C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Pandas essencial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FEA82D-521B-4EAF-9801-9D2CB014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Filtros, merges, groupby+agg, tratamento de nulos, funções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reutilizáveis.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93585-9E4A-4905-9AD0-3F384C0F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DEF1C0-E1BE-466B-B04C-F0302CF9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250C1D-75C6-465F-BA7B-3D5C27AC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Reconhecer o padrão ETL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E9834-1015-4CB8-9819-19EE5035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Extrair → Transformar → Carregar como mental model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permanente.</a:t>
            </a:r>
          </a:p>
        </p:txBody>
      </p:sp>
    </p:spTree>
    <p:extLst>
      <p:ext uri="{BB962C8B-B14F-4D97-AF65-F5344CB8AC3E}">
        <p14:creationId xmlns:p14="http://schemas.microsoft.com/office/powerpoint/2010/main" val="15917401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611D13-054E-42FD-8008-8D6B97E5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e11259bde4edd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C9209-5D9B-4A9C-84F8-07C4917A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A755F-A3E3-4076-839A-0415DD21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7924D-6780-4936-A942-4ECAC429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32D49-DDDD-4C41-A9B5-4B6FE3E4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23706-87AF-4388-B7A6-CB7A8079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PRÓXIMO MÓDULO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68986-D547-425B-ACA1-A7175A0E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Módulo 5 — Lógica de ETL/ELT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256E2-F31B-4F4A-86C1-DC35901B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Vocês têm pipeline manual. O Módulo 5 transforma em pipeline de produção.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08BD6-1BE6-4D88-90E3-E85E5D96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8D19B-8A98-427F-818D-BB56054A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C24FE-6EBB-43EE-8B9D-01032560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ETL vs ELT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43148-0C5B-47BA-A8B3-DC0F5BD9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Quando transformar antes vs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depois da carga. Decisão 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arquitetura.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3FB28-E1BE-4E3F-BF06-C59E55F0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58855-77ED-4711-A26D-5AF0C8AF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285F5-5034-4457-BD6D-EE26AD65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Idempotência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7B69C-3A5E-468D-9234-13BEBE2D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Rodar 3 vezes produz o mesmo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resultado. Garantia obrigatória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em produção.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59D8FC-4E21-46B5-AF42-76982083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9F2B1-4CDC-4083-9399-FB5A86CB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20B88-A3C4-4B88-8397-E978BDDA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Logging e erros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6B9E73-FD2F-4622-825B-AF65ADE0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O que logar para diagnosticar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uma falha às 3h da manhã.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Tratamento explícito.</a:t>
            </a:r>
          </a:p>
        </p:txBody>
      </p:sp>
    </p:spTree>
    <p:extLst>
      <p:ext uri="{BB962C8B-B14F-4D97-AF65-F5344CB8AC3E}">
        <p14:creationId xmlns:p14="http://schemas.microsoft.com/office/powerpoint/2010/main" val="21368274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EB412F-8C82-4218-8CB0-DC68AAB4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d2cb0780a4d91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21DD0-1A86-4523-A2F6-3CC7809C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E3AC5-E833-4E95-85D3-BFC663F4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022F4-AE55-4C9E-9B16-77FF3316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14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3de86ca304e3c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39A0E-DA45-442C-91F2-BCA0C200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0142C-34B6-49ED-943F-CCEA6AD3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4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4ADBE"/>
                </a:solidFill>
              </a:defRPr>
            </a:pPr>
            <a:r>
              <a:rPr sz="1200" b="0">
                <a:solidFill>
                  <a:srgbClr val="A4ADBE"/>
                </a:solidFill>
              </a:rPr>
              <a:t>Trilha de Engenharia de Dados  •  Módulo 4: Python para Dados</a:t>
            </a:r>
          </a:p>
        </p:txBody>
      </p:sp>
    </p:spTree>
    <p:extLst>
      <p:ext uri="{BB962C8B-B14F-4D97-AF65-F5344CB8AC3E}">
        <p14:creationId xmlns:p14="http://schemas.microsoft.com/office/powerpoint/2010/main" val="115513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2026-05-12T16:43:07.7660000Z</dcterms:created>
  <dcterms:modified xsi:type="dcterms:W3CDTF">2026-05-12T16:43:07.7660000Z</dcterms:modified>
</coreProperties>
</file>